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51f601ec1e44d98" Type="http://schemas.openxmlformats.org/package/2006/relationships/metadata/core-properties" Target="docProps/core.xml"/><Relationship Id="R56b5c14f2d084b75" Type="http://schemas.openxmlformats.org/officeDocument/2006/relationships/officeDocument" Target="ppt/presentation.xml"/><Relationship Id="R928363ae9a204703"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35db0d22386409d"/>
  </p:sldMasterIdLst>
  <p:notesMasterIdLst>
    <p:notesMasterId xmlns:r="http://schemas.openxmlformats.org/officeDocument/2006/relationships" r:id="Rf9ab59980ceb4569"/>
  </p:notesMasterIdLst>
  <p:sldIdLst>
    <p:sldId xmlns:r="http://schemas.openxmlformats.org/officeDocument/2006/relationships" id="256" r:id="Ra35b33c4dafd4abc"/>
    <p:sldId xmlns:r="http://schemas.openxmlformats.org/officeDocument/2006/relationships" id="257" r:id="Rad07964a62ea4fc0"/>
    <p:sldId xmlns:r="http://schemas.openxmlformats.org/officeDocument/2006/relationships" id="258" r:id="R598d8865e61d49ac"/>
    <p:sldId xmlns:r="http://schemas.openxmlformats.org/officeDocument/2006/relationships" id="259" r:id="R3dc5a626c00c43c5"/>
    <p:sldId xmlns:r="http://schemas.openxmlformats.org/officeDocument/2006/relationships" id="260" r:id="R2d0667cffa8944fc"/>
    <p:sldId xmlns:r="http://schemas.openxmlformats.org/officeDocument/2006/relationships" id="261" r:id="Rc7b01f04705545c8"/>
    <p:sldId xmlns:r="http://schemas.openxmlformats.org/officeDocument/2006/relationships" id="262" r:id="R484a9f7f64534a4b"/>
    <p:sldId xmlns:r="http://schemas.openxmlformats.org/officeDocument/2006/relationships" id="263" r:id="Ra00048383c1544f2"/>
    <p:sldId xmlns:r="http://schemas.openxmlformats.org/officeDocument/2006/relationships" id="264" r:id="Ra15fcace237049f3"/>
    <p:sldId xmlns:r="http://schemas.openxmlformats.org/officeDocument/2006/relationships" id="265" r:id="R385a2abad5514d2f"/>
    <p:sldId xmlns:r="http://schemas.openxmlformats.org/officeDocument/2006/relationships" id="266" r:id="R951c19ce46ef4a4f"/>
    <p:sldId xmlns:r="http://schemas.openxmlformats.org/officeDocument/2006/relationships" id="267" r:id="Ra5f000aea2534e3a"/>
    <p:sldId xmlns:r="http://schemas.openxmlformats.org/officeDocument/2006/relationships" id="268" r:id="Rb950c3ac41ae4615"/>
    <p:sldId xmlns:r="http://schemas.openxmlformats.org/officeDocument/2006/relationships" id="269" r:id="Re819076286cd4919"/>
    <p:sldId xmlns:r="http://schemas.openxmlformats.org/officeDocument/2006/relationships" id="270" r:id="Rf60d6fe5ec9f41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d0667cffa8944fc" Type="http://schemas.openxmlformats.org/officeDocument/2006/relationships/slide" Target="slides/slide5.xml"/><Relationship Id="R385a2abad5514d2f" Type="http://schemas.openxmlformats.org/officeDocument/2006/relationships/slide" Target="slides/slide10.xml"/><Relationship Id="R3dc5a626c00c43c5" Type="http://schemas.openxmlformats.org/officeDocument/2006/relationships/slide" Target="slides/slide4.xml"/><Relationship Id="R484a9f7f64534a4b" Type="http://schemas.openxmlformats.org/officeDocument/2006/relationships/slide" Target="slides/slide7.xml"/><Relationship Id="R516738f9b6694708" Type="http://schemas.openxmlformats.org/officeDocument/2006/relationships/presProps" Target="presProps.xml"/><Relationship Id="R598d8865e61d49ac" Type="http://schemas.openxmlformats.org/officeDocument/2006/relationships/slide" Target="slides/slide3.xml"/><Relationship Id="R951c19ce46ef4a4f" Type="http://schemas.openxmlformats.org/officeDocument/2006/relationships/slide" Target="slides/slide11.xml"/><Relationship Id="R9aa255d5ddb14280" Type="http://schemas.openxmlformats.org/officeDocument/2006/relationships/tableStyles" Target="tableStyles.xml"/><Relationship Id="Ra00048383c1544f2" Type="http://schemas.openxmlformats.org/officeDocument/2006/relationships/slide" Target="slides/slide8.xml"/><Relationship Id="Ra15fcace237049f3" Type="http://schemas.openxmlformats.org/officeDocument/2006/relationships/slide" Target="slides/slide9.xml"/><Relationship Id="Ra35b33c4dafd4abc" Type="http://schemas.openxmlformats.org/officeDocument/2006/relationships/slide" Target="slides/slide1.xml"/><Relationship Id="Ra5f000aea2534e3a" Type="http://schemas.openxmlformats.org/officeDocument/2006/relationships/slide" Target="slides/slide12.xml"/><Relationship Id="Rad07964a62ea4fc0" Type="http://schemas.openxmlformats.org/officeDocument/2006/relationships/slide" Target="slides/slide2.xml"/><Relationship Id="Rb950c3ac41ae4615" Type="http://schemas.openxmlformats.org/officeDocument/2006/relationships/slide" Target="slides/slide13.xml"/><Relationship Id="Rc7b01f04705545c8" Type="http://schemas.openxmlformats.org/officeDocument/2006/relationships/slide" Target="slides/slide6.xml"/><Relationship Id="Rd2f81b82f1f640aa" Type="http://schemas.openxmlformats.org/officeDocument/2006/relationships/theme" Target="theme/theme1.xml"/><Relationship Id="Rd35db0d22386409d" Type="http://schemas.openxmlformats.org/officeDocument/2006/relationships/slideMaster" Target="slideMasters/slideMaster1.xml"/><Relationship Id="Re819076286cd4919" Type="http://schemas.openxmlformats.org/officeDocument/2006/relationships/slide" Target="slides/slide14.xml"/><Relationship Id="Rf60d6fe5ec9f411b" Type="http://schemas.openxmlformats.org/officeDocument/2006/relationships/slide" Target="slides/slide15.xml"/><Relationship Id="Rf9ab59980ceb456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c522700b08cf42e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6850f57fe794922" Type="http://schemas.openxmlformats.org/officeDocument/2006/relationships/notesMaster" Target="../notesMasters/notesMaster1.xml"/><Relationship Id="R8dd83ae728cb404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e9c195fda994e7a" Type="http://schemas.openxmlformats.org/officeDocument/2006/relationships/notesMaster" Target="../notesMasters/notesMaster1.xml"/><Relationship Id="Rb7acce429f3c4a63"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4a627c856d44366" Type="http://schemas.openxmlformats.org/officeDocument/2006/relationships/slide" Target="../slides/slide3.xml"/><Relationship Id="Ra09546a32d314d6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c272af0d8d7426f" Type="http://schemas.openxmlformats.org/officeDocument/2006/relationships/notesMaster" Target="../notesMasters/notesMaster1.xml"/><Relationship Id="Rd77a8a9b5dac4eb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3152b2116b0445e" Type="http://schemas.openxmlformats.org/officeDocument/2006/relationships/slide" Target="../slides/slide5.xml"/><Relationship Id="Re8bac5af55dc459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808eab555390412f" Type="http://schemas.openxmlformats.org/officeDocument/2006/relationships/slide" Target="../slides/slide6.xml"/><Relationship Id="Re9b6109d05654fd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b9d201d11e6e41f7" Type="http://schemas.openxmlformats.org/officeDocument/2006/relationships/notesMaster" Target="../notesMasters/notesMaster1.xml"/><Relationship Id="Rd7c9de77f1ac4e9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141bd9951ee4912" Type="http://schemas.openxmlformats.org/officeDocument/2006/relationships/slide" Target="../slides/slide8.xml"/><Relationship Id="Rae7819aefbb848d0"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c4287df160ff4488" Type="http://schemas.openxmlformats.org/officeDocument/2006/relationships/notesMaster" Target="../notesMasters/notesMaster1.xml"/><Relationship Id="Re9ede9e1341f4d9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d6cc8565b9145b6" Type="http://schemas.openxmlformats.org/officeDocument/2006/relationships/slide" Target="../slides/slide10.xml"/><Relationship Id="R75104ba3ea82444d"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1802789d6404782" Type="http://schemas.openxmlformats.org/officeDocument/2006/relationships/notesMaster" Target="../notesMasters/notesMaster1.xml"/><Relationship Id="Rec959e170dc34ccb"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1f689e7801a41a9" Type="http://schemas.openxmlformats.org/officeDocument/2006/relationships/slide" Target="../slides/slide12.xml"/><Relationship Id="Re17595b7d75e475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11974049ca934af5" Type="http://schemas.openxmlformats.org/officeDocument/2006/relationships/notesMaster" Target="../notesMasters/notesMaster1.xml"/><Relationship Id="R6e5dcc4b7c6f4f2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ee4b2efd41d442cd" Type="http://schemas.openxmlformats.org/officeDocument/2006/relationships/notesMaster" Target="../notesMasters/notesMaster1.xml"/><Relationship Id="Rf64eba54dd3548ce"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ea24cc9aad24693" Type="http://schemas.openxmlformats.org/officeDocument/2006/relationships/slide" Target="../slides/slide15.xml"/><Relationship Id="R489397cd0d764b5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20s]</a:t>
            </a:r>
          </a:p>
          <a:p xmlns:a="http://schemas.openxmlformats.org/drawingml/2006/main">
            <a:r>
              <a:t>Giới thiệu đề tài, nhóm và phạm vi dữ liệu. Nhấn mạnh đây là bài toán phân loại nhãn cảm xúc suy ra từ rating.</a:t>
            </a:r>
          </a:p>
          <a:p xmlns:a="http://schemas.openxmlformats.org/drawingml/2006/main">
            <a:r>
              <a:t/>
            </a:r>
          </a:p>
          <a:p xmlns:a="http://schemas.openxmlformats.org/drawingml/2006/main">
            <a:r>
              <a:t>Nguồn nội bộ: README.md; models/artifact_manifest.json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40s]</a:t>
            </a:r>
          </a:p>
          <a:p xmlns:a="http://schemas.openxmlformats.org/drawingml/2006/main">
            <a:r>
              <a:t>Giải thích vì sao Accuracy không đủ và vì sao dự án ưu tiên Macro F1. Nhắc rõ bản chất weak label.</a:t>
            </a:r>
          </a:p>
          <a:p xmlns:a="http://schemas.openxmlformats.org/drawingml/2006/main">
            <a:r>
              <a:t/>
            </a:r>
          </a:p>
          <a:p xmlns:a="http://schemas.openxmlformats.org/drawingml/2006/main">
            <a:r>
              <a:t>Nguồn nội bộ: README.md mục 2.2; reports/eda_feature_engineering.md mục 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30s]</a:t>
            </a:r>
          </a:p>
          <a:p xmlns:a="http://schemas.openxmlformats.org/drawingml/2006/main">
            <a:r>
              <a:t>Đi nhanh qua năm bước. Tập trung vào nguyên tắc: chọn feature và model trên Development, chỉ mở Final Test một lần.</a:t>
            </a:r>
          </a:p>
          <a:p xmlns:a="http://schemas.openxmlformats.org/drawingml/2006/main">
            <a:r>
              <a:t/>
            </a:r>
          </a:p>
          <a:p xmlns:a="http://schemas.openxmlformats.org/drawingml/2006/main">
            <a:r>
              <a:t>Nguồn nội bộ: README.md mục 2.4; models/artifact_manifest.json</a:t>
            </a:r>
          </a:p>
          <a:p xmlns:a="http://schemas.openxmlformats.org/drawingml/2006/main">
            <a:r>
              <a:t>
[Sources]
reports/evaluation/retrained_v2/final_test_snapshot.json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Trình bày hai tầng tiền xử lý và đọc ví dụ. Không khẳng định mọi từ ghép đều có dấu gạch dưới vì kết quả phụ thuộc tokenizer/runtime.</a:t>
            </a:r>
          </a:p>
          <a:p xmlns:a="http://schemas.openxmlformats.org/drawingml/2006/main">
            <a:r>
              <a:t/>
            </a:r>
          </a:p>
          <a:p xmlns:a="http://schemas.openxmlformats.org/drawingml/2006/main">
            <a:r>
              <a:t>Nguồn nội bộ: src/preprocessing.py; src/tv4_analysis.py</a:t>
            </a:r>
          </a:p>
          <a:p xmlns:a="http://schemas.openxmlformats.org/drawingml/2006/main">
            <a:r>
              <a:t>
[Sources]
src/preprocessing.py; current predict_review() output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Nêu ba tương quan chính. Giải thích vì sao không đưa điểm khía cạnh vào pipeline text-only: tránh shortcut và giữ đúng bối cảnh suy luận.</a:t>
            </a:r>
          </a:p>
          <a:p xmlns:a="http://schemas.openxmlformats.org/drawingml/2006/main">
            <a:r>
              <a:t/>
            </a:r>
          </a:p>
          <a:p xmlns:a="http://schemas.openxmlformats.org/drawingml/2006/main">
            <a:r>
              <a:t>Nguồn nội bộ: reports/eda_feature_engineering.md mục 3.1.3; reports/figures/eda_aspect_correlation.png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Giải thích lợi ích của bigram và nhắc lại contract dữ liệu sau duplicate audit. Tập Final Test không tham gia chọn feature.</a:t>
            </a:r>
          </a:p>
          <a:p xmlns:a="http://schemas.openxmlformats.org/drawingml/2006/main">
            <a:r>
              <a:t/>
            </a:r>
          </a:p>
          <a:p xmlns:a="http://schemas.openxmlformats.org/drawingml/2006/main">
            <a:r>
              <a:t>Nguồn nội bộ: reports/eda_feature_engineering.md mục 3.2.3; models/artifact_manifest.json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Giới thiệu nhanh năm mô hình. Tập trung giải thích vị trí của SMOTE trong Pipeline và lý do chống data leakage.</a:t>
            </a:r>
          </a:p>
          <a:p xmlns:a="http://schemas.openxmlformats.org/drawingml/2006/main">
            <a:r>
              <a:t/>
            </a:r>
          </a:p>
          <a:p xmlns:a="http://schemas.openxmlformats.org/drawingml/2006/main">
            <a:r>
              <a:t>Nguồn nội bộ: reports/modeling_hyperparameter_tuning.md mục 4.2.1; src/models.py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45s]</a:t>
            </a:r>
          </a:p>
          <a:p xmlns:a="http://schemas.openxmlformats.org/drawingml/2006/main">
            <a:r>
              <a:t>Nêu top 2 gần như ngang nhau. Logistic Regression được chọn vì điểm CV nhỉnh hơn và trả xác suất trực tiếp, không phải vì vượt trội rõ về thống kê.</a:t>
            </a:r>
          </a:p>
          <a:p xmlns:a="http://schemas.openxmlformats.org/drawingml/2006/main">
            <a:r>
              <a:t/>
            </a:r>
          </a:p>
          <a:p xmlns:a="http://schemas.openxmlformats.org/drawingml/2006/main">
            <a:r>
              <a:t>Nguồn nội bộ: reports/evaluation/model_ranking_cv.csv; reports/modeling_hyperparameter_tuning.md mục 5.1</a:t>
            </a:r>
          </a:p>
          <a:p xmlns:a="http://schemas.openxmlformats.org/drawingml/2006/main">
            <a:r>
              <a:t>
[Sources]
reports/evaluation/model_ranking_cv.csv; models/retrained_v2/training_audit.json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60s]</a:t>
            </a:r>
          </a:p>
          <a:p xmlns:a="http://schemas.openxmlformats.org/drawingml/2006/main">
            <a:r>
              <a:t>Đọc ba chỉ số chính, sau đó chỉ vào confusion matrix. Nhấn mạnh lớp Positive mạnh, Negative yếu và Accuracy trùng mức majority baseline.</a:t>
            </a:r>
          </a:p>
          <a:p xmlns:a="http://schemas.openxmlformats.org/drawingml/2006/main">
            <a:r>
              <a:t/>
            </a:r>
          </a:p>
          <a:p xmlns:a="http://schemas.openxmlformats.org/drawingml/2006/main">
            <a:r>
              <a:t>Nguồn nội bộ: reports/evaluation/final_test_metrics.csv; reports/evaluation/confusion_matrix.csv; reports/evaluation/final_test_per_class.csv</a:t>
            </a:r>
          </a:p>
          <a:p xmlns:a="http://schemas.openxmlformats.org/drawingml/2006/main">
            <a:r>
              <a:t>
[Sources]
reports/evaluation/retrained_v2/final_test_snapshot.json; final_test_per_class.csv; confusion_matrix.csv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Giải thích ba nhóm lỗi đúng với 15 mẫu đã đọc thủ công. Không gọi review ngắn là nhóm chính vì báo cáo hiện tại không có nhóm đó.</a:t>
            </a:r>
          </a:p>
          <a:p xmlns:a="http://schemas.openxmlformats.org/drawingml/2006/main">
            <a:r>
              <a:t/>
            </a:r>
          </a:p>
          <a:p xmlns:a="http://schemas.openxmlformats.org/drawingml/2006/main">
            <a:r>
              <a:t>Nguồn nội bộ: reports/evaluation/error_analysis_15_samples.csv; reports/tv4_model_evaluation_error_analysis.md</a:t>
            </a:r>
          </a:p>
          <a:p xmlns:a="http://schemas.openxmlformats.org/drawingml/2006/main">
            <a:r>
              <a:t>
[Sources]
reports/evaluation/retrained_v2/error_examples_15.csv; all_final_test_errors.csv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Đọc biểu đồ theo hướng mô tả, không xếp hạng doanh nghiệp. Nêu salary &amp; benefits là điểm thấp nhất ở bốn công ty và VNG khác biệt ở khía cạnh quản lý.</a:t>
            </a:r>
          </a:p>
          <a:p xmlns:a="http://schemas.openxmlformats.org/drawingml/2006/main">
            <a:r>
              <a:t/>
            </a:r>
          </a:p>
          <a:p xmlns:a="http://schemas.openxmlformats.org/drawingml/2006/main">
            <a:r>
              <a:t>Nguồn nội bộ: reports/company_insights/company_sentiment_distribution.csv; reports/company_insights/company_aspect_summary.csv; reports/tv4_company_sentiment_insights.md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65s]</a:t>
            </a:r>
          </a:p>
          <a:p xmlns:a="http://schemas.openxmlformats.org/drawingml/2006/main">
            <a:r>
              <a:t>Giải thích biểu đồ token. Sửa cách gọi 'token kích hoạt quyết định': hiện app chỉ hiển thị TF-IDF, chưa nhân với hệ số theo lớp.</a:t>
            </a:r>
          </a:p>
          <a:p xmlns:a="http://schemas.openxmlformats.org/drawingml/2006/main">
            <a:r>
              <a:t/>
            </a:r>
          </a:p>
          <a:p xmlns:a="http://schemas.openxmlformats.org/drawingml/2006/main">
            <a:r>
              <a:t>Nguồn nội bộ: src/tv4_analysis.py; app_pages/predict.py</a:t>
            </a:r>
          </a:p>
          <a:p xmlns:a="http://schemas.openxmlformats.org/drawingml/2006/main">
            <a:r>
              <a:t>
[Sources]
current predict_review() output for the slide 4 example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Tóm tắt thành tựu, bài học và hạn chế. Nêu khoảng cách CV–Final Test nhỏ nhưng không biến điều đó thành khẳng định mô hình đã giải quyết tốt lớp thiểu số.</a:t>
            </a:r>
          </a:p>
          <a:p xmlns:a="http://schemas.openxmlformats.org/drawingml/2006/main">
            <a:r>
              <a:t/>
            </a:r>
          </a:p>
          <a:p xmlns:a="http://schemas.openxmlformats.org/drawingml/2006/main">
            <a:r>
              <a:t>Nguồn nội bộ: reports/tv4_model_evaluation_error_analysis.md; reports/modeling_hyperparameter_tuning.md</a:t>
            </a:r>
          </a:p>
          <a:p xmlns:a="http://schemas.openxmlformats.org/drawingml/2006/main">
            <a:r>
              <a:t>
[Sources]
models/retrained_v2/training_audit.json; reports/evaluation/retrained_v2/final_test_snapshot.json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a:t>
            </a:r>
          </a:p>
          <a:p xmlns:a="http://schemas.openxmlformats.org/drawingml/2006/main">
            <a:r>
              <a:t>Kết luận ngắn và chuyển thẳng sang live demo ở slide cuối. Phần Q&amp;A bắt đầu sau khi demo xong.</a:t>
            </a:r>
          </a:p>
          <a:p xmlns:a="http://schemas.openxmlformats.org/drawingml/2006/main">
            <a:r>
              <a:t/>
            </a:r>
          </a:p>
          <a:p xmlns:a="http://schemas.openxmlformats.org/drawingml/2006/main">
            <a:r>
              <a:t>Nguồn nội bộ: README.md; reports/final_report_outline.md</a:t>
            </a:r>
          </a:p>
          <a:p xmlns:a="http://schemas.openxmlformats.org/drawingml/2006/main">
            <a:r>
              <a:t>
[Sources]
scripts/retrain_sentiment_after_preprocessing.py; reports/retrained_v2_evaluation.md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Dẫn dắt ngắn rồi chuyển sang ứng dụng. Bạn Nguyễn Duy Khang trình bày: nhập review, đọc nhãn và xác suất, sau đó kiểm tra văn bản đã xử lý và token nổi bật. Slide không hiển thị trước kết quả demo.</a:t>
            </a:r>
          </a:p>
          <a:p xmlns:a="http://schemas.openxmlformats.org/drawingml/2006/main">
            <a:r>
              <a:t/>
            </a:r>
          </a:p>
          <a:p xmlns:a="http://schemas.openxmlformats.org/drawingml/2006/main">
            <a:r>
              <a:t>Nguồn nội bộ: app_pages/predict.py; src/tv4_analysis.py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b0fbaabac2244a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eed737cf1104d76" Type="http://schemas.openxmlformats.org/officeDocument/2006/relationships/theme" Target="theme/theme2.xml"/><Relationship Id="Rd49a1574ff894178"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9a1574ff8941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5e09cead574959" Type="http://schemas.openxmlformats.org/officeDocument/2006/relationships/image" Target="../media/image.svg"/><Relationship Id="R4611cefa7db44724" Type="http://schemas.openxmlformats.org/officeDocument/2006/relationships/image" Target="../media/image.png"/><Relationship Id="R9c056c40e9d248f5" Type="http://schemas.openxmlformats.org/officeDocument/2006/relationships/slideLayout" Target="../slideLayouts/slideLayout1.xml"/><Relationship Id="Rb0d4f0d6f135417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708a503becf43a6" Type="http://schemas.openxmlformats.org/officeDocument/2006/relationships/notesSlide" Target="../notesSlides/notesSlide2.xml"/><Relationship Id="Rd715ca4579904bc8" Type="http://schemas.openxmlformats.org/officeDocument/2006/relationships/chart" Target="charts/chart1.xml"/><Relationship Id="Rf12ec114270f4726"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0172a5518984ef8" Type="http://schemas.openxmlformats.org/officeDocument/2006/relationships/notesSlide" Target="../notesSlides/notesSlide3.xml"/><Relationship Id="Re22d749946fb4967"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a6cba0e0c0bc4882" Type="http://schemas.openxmlformats.org/officeDocument/2006/relationships/slideLayout" Target="../slideLayouts/slideLayout1.xml"/><Relationship Id="Rfad30d76c65f436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41c3b1181f94fdf" Type="http://schemas.openxmlformats.org/officeDocument/2006/relationships/notesSlide" Target="../notesSlides/notesSlide5.xml"/><Relationship Id="R77375ddf5fb14395" Type="http://schemas.openxmlformats.org/officeDocument/2006/relationships/slideLayout" Target="../slideLayouts/slideLayout1.xml"/><Relationship Id="Rf3f4e884f7034a0a" Type="http://schemas.openxmlformats.org/officeDocument/2006/relationships/image" Target="../media/image2.png"/></Relationships>
</file>

<file path=ppt/slides/_rels/slide6.xml.rels><?xml version='1.0' encoding='UTF-8' standalone='yes'?>
<Relationships xmlns="http://schemas.openxmlformats.org/package/2006/relationships"><Relationship Id="R36460a1385f14e19" Type="http://schemas.openxmlformats.org/officeDocument/2006/relationships/slideLayout" Target="../slideLayouts/slideLayout1.xml"/><Relationship Id="R514a737a3e3a4786" Type="http://schemas.openxmlformats.org/officeDocument/2006/relationships/notesSlide" Target="../notesSlides/notesSlide6.xml"/><Relationship Id="Rb17d24a0874d4fb8" Type="http://schemas.openxmlformats.org/officeDocument/2006/relationships/chart" Target="charts/chart2.xml"/></Relationships>
</file>

<file path=ppt/slides/_rels/slide7.xml.rels><?xml version='1.0' encoding='UTF-8' standalone='yes'?>
<Relationships xmlns="http://schemas.openxmlformats.org/package/2006/relationships"><Relationship Id="R7569a1f1b45e4f31" Type="http://schemas.openxmlformats.org/officeDocument/2006/relationships/slideLayout" Target="../slideLayouts/slideLayout1.xml"/><Relationship Id="R881d6274ab324a8d"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576c1883a47469d" Type="http://schemas.openxmlformats.org/officeDocument/2006/relationships/notesSlide" Target="../notesSlides/notesSlide8.xml"/><Relationship Id="Rdc45e6a17d3e4b78" Type="http://schemas.openxmlformats.org/officeDocument/2006/relationships/slideLayout" Target="../slideLayouts/slideLayout1.xml"/><Relationship Id="Re88c139d27314149" Type="http://schemas.openxmlformats.org/officeDocument/2006/relationships/chart" Target="charts/chart3.xml"/></Relationships>
</file>

<file path=ppt/slides/_rels/slide9.xml.rels><?xml version='1.0' encoding='UTF-8' standalone='yes'?>
<Relationships xmlns="http://schemas.openxmlformats.org/package/2006/relationships"><Relationship Id="R8c99ee1133864427" Type="http://schemas.openxmlformats.org/officeDocument/2006/relationships/slideLayout" Target="../slideLayouts/slideLayout1.xml"/><Relationship Id="Reb569588007e4301" Type="http://schemas.openxmlformats.org/officeDocument/2006/relationships/notesSlide" Target="../notesSlides/notesSlide9.xml"/><Relationship Id="Rfdddb44e8e944fdc" Type="http://schemas.openxmlformats.org/officeDocument/2006/relationships/chart" Target="charts/chart4.xml"/></Relationships>
</file>

<file path=ppt/slides/_rels/slide10.xml.rels><?xml version='1.0' encoding='UTF-8' standalone='yes'?>
<Relationships xmlns="http://schemas.openxmlformats.org/package/2006/relationships"><Relationship Id="R0b3c5b87d9084090" Type="http://schemas.openxmlformats.org/officeDocument/2006/relationships/notesSlide" Target="../notesSlides/notesSlide10.xml"/><Relationship Id="Rdacbcf65100146f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f0d06d4599148b7" Type="http://schemas.openxmlformats.org/officeDocument/2006/relationships/chart" Target="charts/chart5.xml"/><Relationship Id="R6bc88b3399c54f05" Type="http://schemas.openxmlformats.org/officeDocument/2006/relationships/notesSlide" Target="../notesSlides/notesSlide11.xml"/><Relationship Id="R8457b86087c94ce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c85f94e2a97d4378" Type="http://schemas.openxmlformats.org/officeDocument/2006/relationships/chart" Target="charts/chart6.xml"/><Relationship Id="Rcd7029490c744bbb" Type="http://schemas.openxmlformats.org/officeDocument/2006/relationships/slideLayout" Target="../slideLayouts/slideLayout1.xml"/><Relationship Id="Rda9ee774bd4749a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2a95e68e55ad426d" Type="http://schemas.openxmlformats.org/officeDocument/2006/relationships/slideLayout" Target="../slideLayouts/slideLayout1.xml"/><Relationship Id="Rd8e102b7341b444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6a4681176e946d7" Type="http://schemas.openxmlformats.org/officeDocument/2006/relationships/notesSlide" Target="../notesSlides/notesSlide14.xml"/><Relationship Id="Rfcd2cc285a2e496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4b83ae0a35a24309" Type="http://schemas.openxmlformats.org/officeDocument/2006/relationships/notesSlide" Target="../notesSlides/notesSlide15.xml"/><Relationship Id="R5d0772c3ca7e4abd" Type="http://schemas.openxmlformats.org/officeDocument/2006/relationships/slideLayout" Target="../slideLayouts/slideLayout1.xml"/></Relationships>
</file>

<file path=ppt/slides/charts/chart1.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1"/>
              <c:pt idx="0">
                <c:v>8.417 review</c:v>
              </c:pt>
            </c:strLit>
          </c:cat>
          <c:val>
            <c:numLit>
              <c:formatCode>0</c:formatCode>
              <c:ptCount val="1"/>
              <c:pt idx="0">
                <c:v>73.76</c:v>
              </c:pt>
            </c:numLit>
          </c:val>
        </c:ser>
        <c:ser>
          <c:idx val="1"/>
          <c:order val="1"/>
          <c:tx>
            <c:v>Neutral</c:v>
          </c:tx>
          <c:spPr>
            <a:solidFill xmlns:a="http://schemas.openxmlformats.org/drawingml/2006/main">
              <a:srgbClr val="F4D35E"/>
            </a:solidFill>
          </c:spPr>
          <c:cat>
            <c:strLit>
              <c:ptCount val="1"/>
              <c:pt idx="0">
                <c:v>8.417 review</c:v>
              </c:pt>
            </c:strLit>
          </c:cat>
          <c:val>
            <c:numLit>
              <c:formatCode>0</c:formatCode>
              <c:ptCount val="1"/>
              <c:pt idx="0">
                <c:v>19.47</c:v>
              </c:pt>
            </c:numLit>
          </c:val>
        </c:ser>
        <c:ser>
          <c:idx val="2"/>
          <c:order val="2"/>
          <c:tx>
            <c:v>Negative</c:v>
          </c:tx>
          <c:spPr>
            <a:solidFill xmlns:a="http://schemas.openxmlformats.org/drawingml/2006/main">
              <a:srgbClr val="FF667B"/>
            </a:solidFill>
          </c:spPr>
          <c:cat>
            <c:strLit>
              <c:ptCount val="1"/>
              <c:pt idx="0">
                <c:v>8.417 review</c:v>
              </c:pt>
            </c:strLit>
          </c:cat>
          <c:val>
            <c:numLit>
              <c:formatCode>0</c:formatCode>
              <c:ptCount val="1"/>
              <c:pt idx="0">
                <c:v>6.77</c:v>
              </c:pt>
            </c:numLit>
          </c:val>
        </c:ser>
        <c:dLbls>
          <c:txPr>
            <a:bodyPr xmlns:a="http://schemas.openxmlformats.org/drawingml/2006/main" anchorCtr="1"/>
            <a:lstStyle xmlns:a="http://schemas.openxmlformats.org/drawingml/2006/main"/>
            <a:p xmlns:a="http://schemas.openxmlformats.org/drawingml/2006/main">
              <a:pPr>
                <a:defRPr sz="1050"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1"/>
            <c:invertIfNegative val="0"/>
            <c:spPr>
              <a:solidFill xmlns:a="http://schemas.openxmlformats.org/drawingml/2006/main">
                <a:srgbClr val="45D9A0"/>
              </a:solidFill>
            </c:spPr>
          </c:dPt>
          <c:cat>
            <c:strLit>
              <c:ptCount val="2"/>
              <c:pt idx="0">
                <c:v>Unigram (1,1)</c:v>
              </c:pt>
              <c:pt idx="1">
                <c:v>Unigram + bigram (1,2)</c:v>
              </c:pt>
            </c:strLit>
          </c:cat>
          <c:val>
            <c:numLit>
              <c:formatCode>General</c:formatCode>
              <c:ptCount val="2"/>
              <c:pt idx="0">
                <c:v>55.69</c:v>
              </c:pt>
              <c:pt idx="1">
                <c:v>57.22</c:v>
              </c:pt>
            </c:numLit>
          </c:val>
        </c:ser>
        <c:dLbls>
          <c:txPr>
            <a:bodyPr xmlns:a="http://schemas.openxmlformats.org/drawingml/2006/main" anchorCtr="1"/>
            <a:lstStyle xmlns:a="http://schemas.openxmlformats.org/drawingml/2006/main"/>
            <a:p xmlns:a="http://schemas.openxmlformats.org/drawingml/2006/main">
              <a:pPr>
                <a:defRPr sz="120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0"/>
            <c:invertIfNegative val="0"/>
            <c:spPr>
              <a:solidFill xmlns:a="http://schemas.openxmlformats.org/drawingml/2006/main">
                <a:srgbClr val="45D9A0"/>
              </a:solidFill>
            </c:spPr>
          </c:dPt>
          <c:cat>
            <c:strLit>
              <c:ptCount val="5"/>
              <c:pt idx="0">
                <c:v>Logistic Regression</c:v>
              </c:pt>
              <c:pt idx="1">
                <c:v>Linear SVM</c:v>
              </c:pt>
              <c:pt idx="2">
                <c:v>Random Forest</c:v>
              </c:pt>
              <c:pt idx="3">
                <c:v>Stacking</c:v>
              </c:pt>
              <c:pt idx="4">
                <c:v>Naive Bayes</c:v>
              </c:pt>
            </c:strLit>
          </c:cat>
          <c:val>
            <c:numLit>
              <c:formatCode>General</c:formatCode>
              <c:ptCount val="5"/>
              <c:pt idx="0">
                <c:v>57.27</c:v>
              </c:pt>
              <c:pt idx="1">
                <c:v>57.24</c:v>
              </c:pt>
              <c:pt idx="2">
                <c:v>56.64</c:v>
              </c:pt>
              <c:pt idx="3">
                <c:v>55.6</c:v>
              </c:pt>
              <c:pt idx="4">
                <c:v>55.34</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F1 theo lớp (%)</c:v>
          </c:tx>
          <c:spPr>
            <a:solidFill xmlns:a="http://schemas.openxmlformats.org/drawingml/2006/main">
              <a:srgbClr val="FF667B"/>
            </a:solidFill>
          </c:spPr>
          <c:dPt>
            <c:idx val="1"/>
            <c:invertIfNegative val="0"/>
            <c:spPr>
              <a:solidFill xmlns:a="http://schemas.openxmlformats.org/drawingml/2006/main">
                <a:srgbClr val="F4D35E"/>
              </a:solidFill>
            </c:spPr>
          </c:dPt>
          <c:dPt>
            <c:idx val="2"/>
            <c:invertIfNegative val="0"/>
            <c:spPr>
              <a:solidFill xmlns:a="http://schemas.openxmlformats.org/drawingml/2006/main">
                <a:srgbClr val="45D9A0"/>
              </a:solidFill>
            </c:spPr>
          </c:dPt>
          <c:cat>
            <c:strLit>
              <c:ptCount val="3"/>
              <c:pt idx="0">
                <c:v>Negative</c:v>
              </c:pt>
              <c:pt idx="1">
                <c:v>Neutral</c:v>
              </c:pt>
              <c:pt idx="2">
                <c:v>Positive</c:v>
              </c:pt>
            </c:strLit>
          </c:cat>
          <c:val>
            <c:numLit>
              <c:formatCode>General</c:formatCode>
              <c:ptCount val="3"/>
              <c:pt idx="0">
                <c:v>39.1</c:v>
              </c:pt>
              <c:pt idx="1">
                <c:v>47.8</c:v>
              </c:pt>
              <c:pt idx="2">
                <c:v>86.02</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5.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5"/>
              <c:pt idx="0">
                <c:v>KMS</c:v>
              </c:pt>
              <c:pt idx="1">
                <c:v>VNG</c:v>
              </c:pt>
              <c:pt idx="2">
                <c:v>NashTech</c:v>
              </c:pt>
              <c:pt idx="3">
                <c:v>FPT</c:v>
              </c:pt>
              <c:pt idx="4">
                <c:v>Bosch</c:v>
              </c:pt>
            </c:strLit>
          </c:cat>
          <c:val>
            <c:numLit>
              <c:formatCode>0</c:formatCode>
              <c:ptCount val="5"/>
              <c:pt idx="0">
                <c:v>80.5</c:v>
              </c:pt>
              <c:pt idx="1">
                <c:v>75.7</c:v>
              </c:pt>
              <c:pt idx="2">
                <c:v>69.2</c:v>
              </c:pt>
              <c:pt idx="3">
                <c:v>57.7</c:v>
              </c:pt>
              <c:pt idx="4">
                <c:v>39.6</c:v>
              </c:pt>
            </c:numLit>
          </c:val>
        </c:ser>
        <c:ser>
          <c:idx val="1"/>
          <c:order val="1"/>
          <c:tx>
            <c:v>Neutral</c:v>
          </c:tx>
          <c:spPr>
            <a:solidFill xmlns:a="http://schemas.openxmlformats.org/drawingml/2006/main">
              <a:srgbClr val="F4D35E"/>
            </a:solidFill>
          </c:spPr>
          <c:cat>
            <c:strLit>
              <c:ptCount val="5"/>
              <c:pt idx="0">
                <c:v>KMS</c:v>
              </c:pt>
              <c:pt idx="1">
                <c:v>VNG</c:v>
              </c:pt>
              <c:pt idx="2">
                <c:v>NashTech</c:v>
              </c:pt>
              <c:pt idx="3">
                <c:v>FPT</c:v>
              </c:pt>
              <c:pt idx="4">
                <c:v>Bosch</c:v>
              </c:pt>
            </c:strLit>
          </c:cat>
          <c:val>
            <c:numLit>
              <c:formatCode>0</c:formatCode>
              <c:ptCount val="5"/>
              <c:pt idx="0">
                <c:v>14.7</c:v>
              </c:pt>
              <c:pt idx="1">
                <c:v>21.6</c:v>
              </c:pt>
              <c:pt idx="2">
                <c:v>26.3</c:v>
              </c:pt>
              <c:pt idx="3">
                <c:v>33.4</c:v>
              </c:pt>
              <c:pt idx="4">
                <c:v>45</c:v>
              </c:pt>
            </c:numLit>
          </c:val>
        </c:ser>
        <c:ser>
          <c:idx val="2"/>
          <c:order val="2"/>
          <c:tx>
            <c:v>Negative</c:v>
          </c:tx>
          <c:spPr>
            <a:solidFill xmlns:a="http://schemas.openxmlformats.org/drawingml/2006/main">
              <a:srgbClr val="FF667B"/>
            </a:solidFill>
          </c:spPr>
          <c:cat>
            <c:strLit>
              <c:ptCount val="5"/>
              <c:pt idx="0">
                <c:v>KMS</c:v>
              </c:pt>
              <c:pt idx="1">
                <c:v>VNG</c:v>
              </c:pt>
              <c:pt idx="2">
                <c:v>NashTech</c:v>
              </c:pt>
              <c:pt idx="3">
                <c:v>FPT</c:v>
              </c:pt>
              <c:pt idx="4">
                <c:v>Bosch</c:v>
              </c:pt>
            </c:strLit>
          </c:cat>
          <c:val>
            <c:numLit>
              <c:formatCode>0</c:formatCode>
              <c:ptCount val="5"/>
              <c:pt idx="0">
                <c:v>4.8</c:v>
              </c:pt>
              <c:pt idx="1">
                <c:v>2.7</c:v>
              </c:pt>
              <c:pt idx="2">
                <c:v>4.5</c:v>
              </c:pt>
              <c:pt idx="3">
                <c:v>8.9</c:v>
              </c:pt>
              <c:pt idx="4">
                <c:v>15.5</c:v>
              </c:pt>
            </c:numLit>
          </c:val>
        </c:ser>
        <c:dLbls>
          <c:txPr>
            <a:bodyPr xmlns:a="http://schemas.openxmlformats.org/drawingml/2006/main" anchorCtr="1"/>
            <a:lstStyle xmlns:a="http://schemas.openxmlformats.org/drawingml/2006/main"/>
            <a:p xmlns:a="http://schemas.openxmlformats.org/drawingml/2006/main">
              <a:pPr>
                <a:defRPr sz="975"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38"/>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6.xml><?xml version="1.0" encoding="utf-8"?>
<c:chartSpace xmlns:c="http://schemas.openxmlformats.org/drawingml/2006/chart">
  <c:lang val="en-US"/>
  <c:chart>
    <c:plotArea>
      <c:barChart>
        <c:barDir val="bar"/>
        <c:grouping val="clustered"/>
        <c:varyColors val="0"/>
        <c:ser>
          <c:idx val="0"/>
          <c:order val="0"/>
          <c:tx>
            <c:v>TF-IDF (×100)</c:v>
          </c:tx>
          <c:spPr>
            <a:solidFill xmlns:a="http://schemas.openxmlformats.org/drawingml/2006/main">
              <a:srgbClr val="FF667B"/>
            </a:solidFill>
          </c:spPr>
          <c:cat>
            <c:strLit>
              <c:ptCount val="5"/>
              <c:pt idx="0">
                <c:v>không lương</c:v>
              </c:pt>
              <c:pt idx="1">
                <c:v>thường_xuyên</c:v>
              </c:pt>
              <c:pt idx="2">
                <c:v>thiếu</c:v>
              </c:pt>
              <c:pt idx="3">
                <c:v>minh_bạch</c:v>
              </c:pt>
              <c:pt idx="4">
                <c:v>thường_xuyên ot</c:v>
              </c:pt>
            </c:strLit>
          </c:cat>
          <c:val>
            <c:numLit>
              <c:formatCode>General</c:formatCode>
              <c:ptCount val="5"/>
              <c:pt idx="0">
                <c:v>30.6</c:v>
              </c:pt>
              <c:pt idx="1">
                <c:v>31</c:v>
              </c:pt>
              <c:pt idx="2">
                <c:v>33.9</c:v>
              </c:pt>
              <c:pt idx="3">
                <c:v>37.3</c:v>
              </c:pt>
              <c:pt idx="4">
                <c:v>44.6</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slide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5BB2EF-A34F-4796-AA91-2D0F8ADBA1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5D9A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9AFCBC-3538-44C9-914A-A2CDD7996E2A}"/>
              </a:ext>
            </a:extLst>
          </p:cNvPr>
          <p:cNvSpPr>
            <a:spLocks xmlns:a="http://schemas.openxmlformats.org/drawingml/2006/main" noGrp="1"/>
          </p:cNvSpPr>
          <p:nvPr/>
        </p:nvSpPr>
        <p:spPr>
          <a:xfrm xmlns:a="http://schemas.openxmlformats.org/drawingml/2006/main">
            <a:off x="685800" y="70485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ĐỒ ÁN MÔN HỌC MÁY HỌC</a:t>
            </a:r>
          </a:p>
        </p:txBody>
      </p:sp>
      <p:sp>
        <p:nvSpPr>
          <p:cNvPr id="3" name="">
            <a:extLst xmlns:a="http://schemas.openxmlformats.org/drawingml/2006/main">
              <a:ext uri="{FF2B5EF4-FFF2-40B4-BE49-F238E27FC236}">
                <a16:creationId xmlns:a16="http://schemas.microsoft.com/office/drawing/2014/main" id="{007F7D84-52FB-4509-9927-0F0C22FA36C1}"/>
              </a:ext>
            </a:extLst>
          </p:cNvPr>
          <p:cNvSpPr>
            <a:spLocks xmlns:a="http://schemas.openxmlformats.org/drawingml/2006/main" noGrp="1"/>
          </p:cNvSpPr>
          <p:nvPr/>
        </p:nvSpPr>
        <p:spPr>
          <a:xfrm xmlns:a="http://schemas.openxmlformats.org/drawingml/2006/main">
            <a:off x="685800" y="1257300"/>
            <a:ext cx="752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PHÂN TÍCH CẢM XÚC</a:t>
            </a:r>
          </a:p>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ĐÁNH GIÁ CÔNG TY ITVIEC</a:t>
            </a:r>
          </a:p>
        </p:txBody>
      </p:sp>
      <p:sp>
        <p:nvSpPr>
          <p:cNvPr id="4" name="">
            <a:extLst xmlns:a="http://schemas.openxmlformats.org/drawingml/2006/main">
              <a:ext uri="{FF2B5EF4-FFF2-40B4-BE49-F238E27FC236}">
                <a16:creationId xmlns:a16="http://schemas.microsoft.com/office/drawing/2014/main" id="{2B840CCB-35CD-423C-B68F-69362198B394}"/>
              </a:ext>
            </a:extLst>
          </p:cNvPr>
          <p:cNvSpPr>
            <a:spLocks xmlns:a="http://schemas.openxmlformats.org/drawingml/2006/main" noGrp="1"/>
          </p:cNvSpPr>
          <p:nvPr/>
        </p:nvSpPr>
        <p:spPr>
          <a:xfrm xmlns:a="http://schemas.openxmlformats.org/drawingml/2006/main">
            <a:off x="685800" y="3143250"/>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063"/>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Phân loại ba lớp từ review tiếng Việt bằng TF-IDF và mô hình học máy</a:t>
            </a:r>
          </a:p>
        </p:txBody>
      </p:sp>
      <p:sp>
        <p:nvSpPr>
          <p:cNvPr id="5" name="">
            <a:extLst xmlns:a="http://schemas.openxmlformats.org/drawingml/2006/main">
              <a:ext uri="{FF2B5EF4-FFF2-40B4-BE49-F238E27FC236}">
                <a16:creationId xmlns:a16="http://schemas.microsoft.com/office/drawing/2014/main" id="{2420D9A8-C848-4EBC-83B9-52F26EB647CF}"/>
              </a:ext>
            </a:extLst>
          </p:cNvPr>
          <p:cNvSpPr>
            <a:spLocks xmlns:a="http://schemas.openxmlformats.org/drawingml/2006/main" noGrp="1"/>
          </p:cNvSpPr>
          <p:nvPr/>
        </p:nvSpPr>
        <p:spPr>
          <a:xfrm xmlns:a="http://schemas.openxmlformats.org/drawingml/2006/main">
            <a:off x="685800" y="4000500"/>
            <a:ext cx="6572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DC0643-2823-4012-BDBD-59C7FEC5F267}"/>
              </a:ext>
            </a:extLst>
          </p:cNvPr>
          <p:cNvSpPr>
            <a:spLocks xmlns:a="http://schemas.openxmlformats.org/drawingml/2006/main" noGrp="1"/>
          </p:cNvSpPr>
          <p:nvPr/>
        </p:nvSpPr>
        <p:spPr>
          <a:xfrm xmlns:a="http://schemas.openxmlformats.org/drawingml/2006/main">
            <a:off x="685800" y="42386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GIẢNG VIÊN HƯỚNG DẪN</a:t>
            </a:r>
          </a:p>
        </p:txBody>
      </p:sp>
      <p:sp>
        <p:nvSpPr>
          <p:cNvPr id="7" name="">
            <a:extLst xmlns:a="http://schemas.openxmlformats.org/drawingml/2006/main">
              <a:ext uri="{FF2B5EF4-FFF2-40B4-BE49-F238E27FC236}">
                <a16:creationId xmlns:a16="http://schemas.microsoft.com/office/drawing/2014/main" id="{6B361795-E170-4788-B1AC-C7125097509A}"/>
              </a:ext>
            </a:extLst>
          </p:cNvPr>
          <p:cNvSpPr>
            <a:spLocks xmlns:a="http://schemas.openxmlformats.org/drawingml/2006/main" noGrp="1"/>
          </p:cNvSpPr>
          <p:nvPr/>
        </p:nvSpPr>
        <p:spPr>
          <a:xfrm xmlns:a="http://schemas.openxmlformats.org/drawingml/2006/main">
            <a:off x="685800" y="4476750"/>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F4F7FB"/>
                </a:solidFill>
                <a:latin typeface="Helvetica Neue"/>
                <a:ea typeface="Helvetica Neue"/>
                <a:cs typeface="Helvetica Neue"/>
              </a:defRPr>
            </a:pPr>
            <a:r>
              <a:rPr sz="1950" b="1">
                <a:solidFill>
                  <a:srgbClr val="F4F7FB"/>
                </a:solidFill>
                <a:latin typeface="Helvetica Neue"/>
                <a:ea typeface="Helvetica Neue"/>
                <a:cs typeface="Helvetica Neue"/>
              </a:rPr>
              <a:t>Thầy Cáp Phạm Đình Thăng</a:t>
            </a:r>
          </a:p>
        </p:txBody>
      </p:sp>
      <p:sp>
        <p:nvSpPr>
          <p:cNvPr id="8" name="">
            <a:extLst xmlns:a="http://schemas.openxmlformats.org/drawingml/2006/main">
              <a:ext uri="{FF2B5EF4-FFF2-40B4-BE49-F238E27FC236}">
                <a16:creationId xmlns:a16="http://schemas.microsoft.com/office/drawing/2014/main" id="{76571FE6-32B1-4C54-B65D-9945BE143075}"/>
              </a:ext>
            </a:extLst>
          </p:cNvPr>
          <p:cNvSpPr>
            <a:spLocks xmlns:a="http://schemas.openxmlformats.org/drawingml/2006/main" noGrp="1"/>
          </p:cNvSpPr>
          <p:nvPr/>
        </p:nvSpPr>
        <p:spPr>
          <a:xfrm xmlns:a="http://schemas.openxmlformats.org/drawingml/2006/main">
            <a:off x="685800" y="4857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Khoa Khoa học Máy tính</a:t>
            </a:r>
          </a:p>
        </p:txBody>
      </p:sp>
      <p:sp>
        <p:nvSpPr>
          <p:cNvPr id="9" name="">
            <a:extLst xmlns:a="http://schemas.openxmlformats.org/drawingml/2006/main">
              <a:ext uri="{FF2B5EF4-FFF2-40B4-BE49-F238E27FC236}">
                <a16:creationId xmlns:a16="http://schemas.microsoft.com/office/drawing/2014/main" id="{6566BD4B-1749-4D69-B69C-4897674C4B66}"/>
              </a:ext>
            </a:extLst>
          </p:cNvPr>
          <p:cNvSpPr>
            <a:spLocks xmlns:a="http://schemas.openxmlformats.org/drawingml/2006/main" noGrp="1"/>
          </p:cNvSpPr>
          <p:nvPr/>
        </p:nvSpPr>
        <p:spPr>
          <a:xfrm xmlns:a="http://schemas.openxmlformats.org/drawingml/2006/main">
            <a:off x="685800" y="52863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SINH VIÊN THỰC HIỆN</a:t>
            </a:r>
          </a:p>
        </p:txBody>
      </p:sp>
      <p:sp>
        <p:nvSpPr>
          <p:cNvPr id="10" name="">
            <a:extLst xmlns:a="http://schemas.openxmlformats.org/drawingml/2006/main">
              <a:ext uri="{FF2B5EF4-FFF2-40B4-BE49-F238E27FC236}">
                <a16:creationId xmlns:a16="http://schemas.microsoft.com/office/drawing/2014/main" id="{AABF2EE9-47F6-491A-983B-D78AB187388A}"/>
              </a:ext>
            </a:extLst>
          </p:cNvPr>
          <p:cNvSpPr>
            <a:spLocks xmlns:a="http://schemas.openxmlformats.org/drawingml/2006/main" noGrp="1"/>
          </p:cNvSpPr>
          <p:nvPr/>
        </p:nvSpPr>
        <p:spPr>
          <a:xfrm xmlns:a="http://schemas.openxmlformats.org/drawingml/2006/main">
            <a:off x="685800" y="55245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4F7FB"/>
                </a:solidFill>
                <a:latin typeface="Helvetica Neue"/>
                <a:ea typeface="Helvetica Neue"/>
                <a:cs typeface="Helvetica Neue"/>
              </a:defRPr>
            </a:pPr>
            <a:r>
              <a:rPr sz="1275" b="1">
                <a:solidFill>
                  <a:srgbClr val="F4F7FB"/>
                </a:solidFill>
                <a:latin typeface="Helvetica Neue"/>
                <a:ea typeface="Helvetica Neue"/>
                <a:cs typeface="Helvetica Neue"/>
              </a:rPr>
              <a:t>Hoàng Hôn · Văn Duy · Duy Khang · Thành Trung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611cefa7db44724">
            <a:extLst>
              <a:ext uri="{96DAC541-7B7A-43D3-8B79-37D633B846F1}">
                <asvg:svgBlip xmlns:asvg="http://schemas.microsoft.com/office/drawing/2016/SVG/main" r:embed="R155e09cead574959"/>
              </a:ext>
            </a:extLst>
          </a:blip>
          <a:stretch xmlns:a="http://schemas.openxmlformats.org/drawingml/2006/main"/>
        </p:blipFill>
        <p:spPr>
          <a:xfrm xmlns:a="http://schemas.openxmlformats.org/drawingml/2006/main">
            <a:off x="8239125" y="1476375"/>
            <a:ext cx="3095625" cy="30956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49A222F-539C-4112-B149-0A1DCA8C989B}"/>
              </a:ext>
            </a:extLst>
          </p:cNvPr>
          <p:cNvSpPr>
            <a:spLocks xmlns:a="http://schemas.openxmlformats.org/drawingml/2006/main" noGrp="1"/>
          </p:cNvSpPr>
          <p:nvPr/>
        </p:nvSpPr>
        <p:spPr>
          <a:xfrm xmlns:a="http://schemas.openxmlformats.org/drawingml/2006/main">
            <a:off x="685800" y="6153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45D9A0"/>
                </a:solidFill>
                <a:latin typeface="Helvetica Neue"/>
                <a:ea typeface="Helvetica Neue"/>
                <a:cs typeface="Helvetica Neue"/>
              </a:defRPr>
            </a:pPr>
            <a:r>
              <a:rPr sz="1200" b="0">
                <a:solidFill>
                  <a:srgbClr val="45D9A0"/>
                </a:solidFill>
                <a:latin typeface="Helvetica Neue"/>
                <a:ea typeface="Helvetica Neue"/>
                <a:cs typeface="Helvetica Neue"/>
              </a:rPr>
              <a:t>8.417 review nguồn  |  8.414 review mô hình hóa  |  3 lớp cảm xúc</a:t>
            </a:r>
          </a:p>
        </p:txBody>
      </p:sp>
    </p:spTree>
    <p:extLst>
      <p:ext uri="{BB962C8B-B14F-4D97-AF65-F5344CB8AC3E}">
        <p14:creationId xmlns:p14="http://schemas.microsoft.com/office/powerpoint/2010/main" val="2138715498"/>
      </p:ext>
    </p:extLst>
  </p:cSld>
</p:sld>
</file>

<file path=ppt/slides/slide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EC5F624-8A58-49BC-A4F0-A3546886CF6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01 · BÀI TOÁN</a:t>
            </a:r>
          </a:p>
        </p:txBody>
      </p:sp>
      <p:sp>
        <p:nvSpPr>
          <p:cNvPr id="2" name="">
            <a:extLst xmlns:a="http://schemas.openxmlformats.org/drawingml/2006/main">
              <a:ext uri="{FF2B5EF4-FFF2-40B4-BE49-F238E27FC236}">
                <a16:creationId xmlns:a16="http://schemas.microsoft.com/office/drawing/2014/main" id="{FCD36A58-C1A7-4769-911E-81E39CDE7C7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Dữ liệu lệch mạnh và nhãn chỉ là nhãn yếu</a:t>
            </a:r>
          </a:p>
        </p:txBody>
      </p:sp>
      <p:sp>
        <p:nvSpPr>
          <p:cNvPr id="3" name="">
            <a:extLst xmlns:a="http://schemas.openxmlformats.org/drawingml/2006/main">
              <a:ext uri="{FF2B5EF4-FFF2-40B4-BE49-F238E27FC236}">
                <a16:creationId xmlns:a16="http://schemas.microsoft.com/office/drawing/2014/main" id="{0427D931-6E15-470F-9C55-AA3DC2DEE690}"/>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CD5C35-908F-4FD1-9591-7F83B4851693}"/>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02 / 15</a:t>
            </a:r>
          </a:p>
        </p:txBody>
      </p:sp>
      <p:sp>
        <p:nvSpPr>
          <p:cNvPr id="5" name="">
            <a:extLst xmlns:a="http://schemas.openxmlformats.org/drawingml/2006/main">
              <a:ext uri="{FF2B5EF4-FFF2-40B4-BE49-F238E27FC236}">
                <a16:creationId xmlns:a16="http://schemas.microsoft.com/office/drawing/2014/main" id="{A137458A-9EF1-46A8-A9D3-68951FB8B4FD}"/>
              </a:ext>
            </a:extLst>
          </p:cNvPr>
          <p:cNvSpPr>
            <a:spLocks xmlns:a="http://schemas.openxmlformats.org/drawingml/2006/main" noGrp="1"/>
          </p:cNvSpPr>
          <p:nvPr/>
        </p:nvSpPr>
        <p:spPr>
          <a:xfrm xmlns:a="http://schemas.openxmlformats.org/drawingml/2006/main">
            <a:off x="666750" y="17621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9C5A"/>
                </a:solidFill>
                <a:latin typeface="Helvetica Neue"/>
                <a:ea typeface="Helvetica Neue"/>
                <a:cs typeface="Helvetica Neue"/>
              </a:defRPr>
            </a:pPr>
            <a:r>
              <a:rPr sz="975" b="1">
                <a:solidFill>
                  <a:srgbClr val="FF9C5A"/>
                </a:solidFill>
                <a:latin typeface="Helvetica Neue"/>
                <a:ea typeface="Helvetica Neue"/>
                <a:cs typeface="Helvetica Neue"/>
              </a:rPr>
              <a:t>POSITIVE : NEGATIVE</a:t>
            </a:r>
          </a:p>
        </p:txBody>
      </p:sp>
      <p:sp>
        <p:nvSpPr>
          <p:cNvPr id="6" name="">
            <a:extLst xmlns:a="http://schemas.openxmlformats.org/drawingml/2006/main">
              <a:ext uri="{FF2B5EF4-FFF2-40B4-BE49-F238E27FC236}">
                <a16:creationId xmlns:a16="http://schemas.microsoft.com/office/drawing/2014/main" id="{685A82A1-1C27-43B5-8CBC-1A382AB7B7DF}"/>
              </a:ext>
            </a:extLst>
          </p:cNvPr>
          <p:cNvSpPr>
            <a:spLocks xmlns:a="http://schemas.openxmlformats.org/drawingml/2006/main" noGrp="1"/>
          </p:cNvSpPr>
          <p:nvPr/>
        </p:nvSpPr>
        <p:spPr>
          <a:xfrm xmlns:a="http://schemas.openxmlformats.org/drawingml/2006/main">
            <a:off x="666750" y="2028825"/>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10,9 : 1</a:t>
            </a:r>
          </a:p>
        </p:txBody>
      </p:sp>
      <p:sp>
        <p:nvSpPr>
          <p:cNvPr id="7" name="">
            <a:extLst xmlns:a="http://schemas.openxmlformats.org/drawingml/2006/main">
              <a:ext uri="{FF2B5EF4-FFF2-40B4-BE49-F238E27FC236}">
                <a16:creationId xmlns:a16="http://schemas.microsoft.com/office/drawing/2014/main" id="{F55158EB-9801-4ED4-8797-8730452F93F6}"/>
              </a:ext>
            </a:extLst>
          </p:cNvPr>
          <p:cNvSpPr>
            <a:spLocks xmlns:a="http://schemas.openxmlformats.org/drawingml/2006/main" noGrp="1"/>
          </p:cNvSpPr>
          <p:nvPr/>
        </p:nvSpPr>
        <p:spPr>
          <a:xfrm xmlns:a="http://schemas.openxmlformats.org/drawingml/2006/main">
            <a:off x="666750" y="2714625"/>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Nếu luôn đoán Positive, Accuracy đã gần 73,8%. Vì vậy, dự án chọn Macro F1 làm thước đo chính.</a:t>
            </a:r>
          </a:p>
        </p:txBody>
      </p:sp>
      <p:graphicFrame>
        <p:nvGraphicFramePr>
          <p:cNvPr id="28" name="Chart"/>
          <p:cNvGraphicFramePr/>
          <p:nvPr/>
        </p:nvGraphicFramePr>
        <p:xfrm>
          <a:off xmlns:a="http://schemas.openxmlformats.org/drawingml/2006/main" x="3857625" y="1695450"/>
          <a:ext xmlns:a="http://schemas.openxmlformats.org/drawingml/2006/main" cx="7381875" cy="1714500"/>
        </p:xfrm>
        <a:graphic xmlns:a="http://schemas.openxmlformats.org/drawingml/2006/main">
          <a:graphicData uri="http://schemas.openxmlformats.org/drawingml/2006/chart">
            <c:chart xmlns:r="http://schemas.openxmlformats.org/officeDocument/2006/relationships" xmlns:c="http://schemas.openxmlformats.org/drawingml/2006/chart" r:id="Rd715ca4579904bc8"/>
          </a:graphicData>
        </a:graphic>
      </p:graphicFrame>
      <p:sp>
        <p:nvSpPr>
          <p:cNvPr id="9" name="">
            <a:extLst xmlns:a="http://schemas.openxmlformats.org/drawingml/2006/main">
              <a:ext uri="{FF2B5EF4-FFF2-40B4-BE49-F238E27FC236}">
                <a16:creationId xmlns:a16="http://schemas.microsoft.com/office/drawing/2014/main" id="{5E7EFBDA-A88B-4E5E-A7FB-FA6B9CE41650}"/>
              </a:ext>
            </a:extLst>
          </p:cNvPr>
          <p:cNvSpPr>
            <a:spLocks xmlns:a="http://schemas.openxmlformats.org/drawingml/2006/main" noGrp="1"/>
          </p:cNvSpPr>
          <p:nvPr/>
        </p:nvSpPr>
        <p:spPr>
          <a:xfrm xmlns:a="http://schemas.openxmlformats.org/drawingml/2006/main">
            <a:off x="4000500" y="1790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TỶ LỆ (%)</a:t>
            </a:r>
          </a:p>
        </p:txBody>
      </p:sp>
      <p:sp>
        <p:nvSpPr>
          <p:cNvPr id="10" name="">
            <a:extLst xmlns:a="http://schemas.openxmlformats.org/drawingml/2006/main">
              <a:ext uri="{FF2B5EF4-FFF2-40B4-BE49-F238E27FC236}">
                <a16:creationId xmlns:a16="http://schemas.microsoft.com/office/drawing/2014/main" id="{D2321B1A-4939-4350-9700-7A39C80922F9}"/>
              </a:ext>
            </a:extLst>
          </p:cNvPr>
          <p:cNvSpPr>
            <a:spLocks xmlns:a="http://schemas.openxmlformats.org/drawingml/2006/main" noGrp="1"/>
          </p:cNvSpPr>
          <p:nvPr/>
        </p:nvSpPr>
        <p:spPr>
          <a:xfrm xmlns:a="http://schemas.openxmlformats.org/drawingml/2006/main">
            <a:off x="3857625" y="38576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8D88D1-C216-4957-9C6D-9F6ED4C284CF}"/>
              </a:ext>
            </a:extLst>
          </p:cNvPr>
          <p:cNvSpPr>
            <a:spLocks xmlns:a="http://schemas.openxmlformats.org/drawingml/2006/main" noGrp="1"/>
          </p:cNvSpPr>
          <p:nvPr/>
        </p:nvSpPr>
        <p:spPr>
          <a:xfrm xmlns:a="http://schemas.openxmlformats.org/drawingml/2006/main">
            <a:off x="4048125" y="37909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Ngôn ngữ pha trộn</a:t>
            </a:r>
          </a:p>
        </p:txBody>
      </p:sp>
      <p:sp>
        <p:nvSpPr>
          <p:cNvPr id="12" name="">
            <a:extLst xmlns:a="http://schemas.openxmlformats.org/drawingml/2006/main">
              <a:ext uri="{FF2B5EF4-FFF2-40B4-BE49-F238E27FC236}">
                <a16:creationId xmlns:a16="http://schemas.microsoft.com/office/drawing/2014/main" id="{EC2B5D0E-7D55-4034-B7B3-59AACAEEDD7C}"/>
              </a:ext>
            </a:extLst>
          </p:cNvPr>
          <p:cNvSpPr>
            <a:spLocks xmlns:a="http://schemas.openxmlformats.org/drawingml/2006/main" noGrp="1"/>
          </p:cNvSpPr>
          <p:nvPr/>
        </p:nvSpPr>
        <p:spPr>
          <a:xfrm xmlns:a="http://schemas.openxmlformats.org/drawingml/2006/main">
            <a:off x="4048125" y="40767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Review dùng tiếng Việt, thuật ngữ IT, teencode và emoji.</a:t>
            </a:r>
          </a:p>
        </p:txBody>
      </p:sp>
      <p:sp>
        <p:nvSpPr>
          <p:cNvPr id="13" name="">
            <a:extLst xmlns:a="http://schemas.openxmlformats.org/drawingml/2006/main">
              <a:ext uri="{FF2B5EF4-FFF2-40B4-BE49-F238E27FC236}">
                <a16:creationId xmlns:a16="http://schemas.microsoft.com/office/drawing/2014/main" id="{A42DB84C-FEDF-46BB-AC7A-7D539A32C88C}"/>
              </a:ext>
            </a:extLst>
          </p:cNvPr>
          <p:cNvSpPr>
            <a:spLocks xmlns:a="http://schemas.openxmlformats.org/drawingml/2006/main" noGrp="1"/>
          </p:cNvSpPr>
          <p:nvPr/>
        </p:nvSpPr>
        <p:spPr>
          <a:xfrm xmlns:a="http://schemas.openxmlformats.org/drawingml/2006/main">
            <a:off x="3857625" y="45815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09A09B-CF50-4680-B8F3-787374560FD8}"/>
              </a:ext>
            </a:extLst>
          </p:cNvPr>
          <p:cNvSpPr>
            <a:spLocks xmlns:a="http://schemas.openxmlformats.org/drawingml/2006/main" noGrp="1"/>
          </p:cNvSpPr>
          <p:nvPr/>
        </p:nvSpPr>
        <p:spPr>
          <a:xfrm xmlns:a="http://schemas.openxmlformats.org/drawingml/2006/main">
            <a:off x="4048125" y="45148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Cảm xúc lẫn lộn</a:t>
            </a:r>
          </a:p>
        </p:txBody>
      </p:sp>
      <p:sp>
        <p:nvSpPr>
          <p:cNvPr id="15" name="">
            <a:extLst xmlns:a="http://schemas.openxmlformats.org/drawingml/2006/main">
              <a:ext uri="{FF2B5EF4-FFF2-40B4-BE49-F238E27FC236}">
                <a16:creationId xmlns:a16="http://schemas.microsoft.com/office/drawing/2014/main" id="{ACEE9513-1453-48A3-8279-D4F6CCEEEB57}"/>
              </a:ext>
            </a:extLst>
          </p:cNvPr>
          <p:cNvSpPr>
            <a:spLocks xmlns:a="http://schemas.openxmlformats.org/drawingml/2006/main" noGrp="1"/>
          </p:cNvSpPr>
          <p:nvPr/>
        </p:nvSpPr>
        <p:spPr>
          <a:xfrm xmlns:a="http://schemas.openxmlformats.org/drawingml/2006/main">
            <a:off x="4048125" y="48006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Một review thường khen môi trường nhưng chê lương, OT hoặc quản lý.</a:t>
            </a:r>
          </a:p>
        </p:txBody>
      </p:sp>
      <p:sp>
        <p:nvSpPr>
          <p:cNvPr id="16" name="">
            <a:extLst xmlns:a="http://schemas.openxmlformats.org/drawingml/2006/main">
              <a:ext uri="{FF2B5EF4-FFF2-40B4-BE49-F238E27FC236}">
                <a16:creationId xmlns:a16="http://schemas.microsoft.com/office/drawing/2014/main" id="{62909BB6-754D-43DB-9C1C-3069764353D2}"/>
              </a:ext>
            </a:extLst>
          </p:cNvPr>
          <p:cNvSpPr>
            <a:spLocks xmlns:a="http://schemas.openxmlformats.org/drawingml/2006/main" noGrp="1"/>
          </p:cNvSpPr>
          <p:nvPr/>
        </p:nvSpPr>
        <p:spPr>
          <a:xfrm xmlns:a="http://schemas.openxmlformats.org/drawingml/2006/main">
            <a:off x="3857625" y="530542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8DF2DD-4C34-4FB7-812D-B6B250EAD267}"/>
              </a:ext>
            </a:extLst>
          </p:cNvPr>
          <p:cNvSpPr>
            <a:spLocks xmlns:a="http://schemas.openxmlformats.org/drawingml/2006/main" noGrp="1"/>
          </p:cNvSpPr>
          <p:nvPr/>
        </p:nvSpPr>
        <p:spPr>
          <a:xfrm xmlns:a="http://schemas.openxmlformats.org/drawingml/2006/main">
            <a:off x="4048125" y="5238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Nhãn suy ra từ rating</a:t>
            </a:r>
          </a:p>
        </p:txBody>
      </p:sp>
      <p:sp>
        <p:nvSpPr>
          <p:cNvPr id="18" name="">
            <a:extLst xmlns:a="http://schemas.openxmlformats.org/drawingml/2006/main">
              <a:ext uri="{FF2B5EF4-FFF2-40B4-BE49-F238E27FC236}">
                <a16:creationId xmlns:a16="http://schemas.microsoft.com/office/drawing/2014/main" id="{80E436AE-9E03-406B-9779-1BEA5BA32B0F}"/>
              </a:ext>
            </a:extLst>
          </p:cNvPr>
          <p:cNvSpPr>
            <a:spLocks xmlns:a="http://schemas.openxmlformats.org/drawingml/2006/main" noGrp="1"/>
          </p:cNvSpPr>
          <p:nvPr/>
        </p:nvSpPr>
        <p:spPr>
          <a:xfrm xmlns:a="http://schemas.openxmlformats.org/drawingml/2006/main">
            <a:off x="4048125" y="55245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Rating 1–5 sao tạo nhãn weak label, không phải nhãn vàng do chuyên gia gán.</a:t>
            </a:r>
          </a:p>
        </p:txBody>
      </p:sp>
    </p:spTree>
    <p:extLst>
      <p:ext uri="{BB962C8B-B14F-4D97-AF65-F5344CB8AC3E}">
        <p14:creationId xmlns:p14="http://schemas.microsoft.com/office/powerpoint/2010/main" val="787731041"/>
      </p:ext>
    </p:extLst>
  </p:cSld>
</p:sld>
</file>

<file path=ppt/slides/slide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DBBE772-9D3B-46FA-A2CB-0735D1A200B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02 · KIẾN TRÚC</a:t>
            </a:r>
          </a:p>
        </p:txBody>
      </p:sp>
      <p:sp>
        <p:nvSpPr>
          <p:cNvPr id="2" name="">
            <a:extLst xmlns:a="http://schemas.openxmlformats.org/drawingml/2006/main">
              <a:ext uri="{FF2B5EF4-FFF2-40B4-BE49-F238E27FC236}">
                <a16:creationId xmlns:a16="http://schemas.microsoft.com/office/drawing/2014/main" id="{18831197-4A6B-48D7-BC20-2560D6ED58A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Pipeline từ dữ liệu nguồn đến ứng dụng</a:t>
            </a:r>
          </a:p>
        </p:txBody>
      </p:sp>
      <p:sp>
        <p:nvSpPr>
          <p:cNvPr id="3" name="">
            <a:extLst xmlns:a="http://schemas.openxmlformats.org/drawingml/2006/main">
              <a:ext uri="{FF2B5EF4-FFF2-40B4-BE49-F238E27FC236}">
                <a16:creationId xmlns:a16="http://schemas.microsoft.com/office/drawing/2014/main" id="{67E50C9B-8442-421D-8C16-4D91222711FF}"/>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594738-FD32-428F-AA9F-7AE33AD10DF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03 / 15</a:t>
            </a:r>
          </a:p>
        </p:txBody>
      </p:sp>
      <p:sp>
        <p:nvSpPr>
          <p:cNvPr id="5" name="">
            <a:extLst xmlns:a="http://schemas.openxmlformats.org/drawingml/2006/main">
              <a:ext uri="{FF2B5EF4-FFF2-40B4-BE49-F238E27FC236}">
                <a16:creationId xmlns:a16="http://schemas.microsoft.com/office/drawing/2014/main" id="{EBC78CF2-4510-4054-B096-32C4BC792C46}"/>
              </a:ext>
            </a:extLst>
          </p:cNvPr>
          <p:cNvSpPr>
            <a:spLocks xmlns:a="http://schemas.openxmlformats.org/drawingml/2006/main" noGrp="1"/>
          </p:cNvSpPr>
          <p:nvPr/>
        </p:nvSpPr>
        <p:spPr>
          <a:xfrm xmlns:a="http://schemas.openxmlformats.org/drawingml/2006/main">
            <a:off x="6096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F1E7BF0-F0B6-4F4F-A06F-77621EE1B935}"/>
              </a:ext>
            </a:extLst>
          </p:cNvPr>
          <p:cNvSpPr>
            <a:spLocks xmlns:a="http://schemas.openxmlformats.org/drawingml/2006/main" noGrp="1"/>
          </p:cNvSpPr>
          <p:nvPr/>
        </p:nvSpPr>
        <p:spPr>
          <a:xfrm xmlns:a="http://schemas.openxmlformats.org/drawingml/2006/main">
            <a:off x="6096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Dữ liệu</a:t>
            </a:r>
          </a:p>
        </p:txBody>
      </p:sp>
      <p:sp>
        <p:nvSpPr>
          <p:cNvPr id="7" name="">
            <a:extLst xmlns:a="http://schemas.openxmlformats.org/drawingml/2006/main">
              <a:ext uri="{FF2B5EF4-FFF2-40B4-BE49-F238E27FC236}">
                <a16:creationId xmlns:a16="http://schemas.microsoft.com/office/drawing/2014/main" id="{E357D004-C4FD-4127-AFE7-0EF3B44D9292}"/>
              </a:ext>
            </a:extLst>
          </p:cNvPr>
          <p:cNvSpPr>
            <a:spLocks xmlns:a="http://schemas.openxmlformats.org/drawingml/2006/main" noGrp="1"/>
          </p:cNvSpPr>
          <p:nvPr/>
        </p:nvSpPr>
        <p:spPr>
          <a:xfrm xmlns:a="http://schemas.openxmlformats.org/drawingml/2006/main">
            <a:off x="6096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8.417 review</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Title + Liked + Improvement</a:t>
            </a:r>
          </a:p>
        </p:txBody>
      </p:sp>
      <p:sp>
        <p:nvSpPr>
          <p:cNvPr id="8" name="">
            <a:extLst xmlns:a="http://schemas.openxmlformats.org/drawingml/2006/main">
              <a:ext uri="{FF2B5EF4-FFF2-40B4-BE49-F238E27FC236}">
                <a16:creationId xmlns:a16="http://schemas.microsoft.com/office/drawing/2014/main" id="{1AB466D9-E96C-4D80-A836-CC7A7FD4A3A0}"/>
              </a:ext>
            </a:extLst>
          </p:cNvPr>
          <p:cNvSpPr>
            <a:spLocks xmlns:a="http://schemas.openxmlformats.org/drawingml/2006/main" noGrp="1"/>
          </p:cNvSpPr>
          <p:nvPr/>
        </p:nvSpPr>
        <p:spPr>
          <a:xfrm xmlns:a="http://schemas.openxmlformats.org/drawingml/2006/main">
            <a:off x="609600" y="3638550"/>
            <a:ext cx="17907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DB7113-1CC8-4FB0-8B55-D2BA2E2724B3}"/>
              </a:ext>
            </a:extLst>
          </p:cNvPr>
          <p:cNvSpPr>
            <a:spLocks xmlns:a="http://schemas.openxmlformats.org/drawingml/2006/main" noGrp="1"/>
          </p:cNvSpPr>
          <p:nvPr/>
        </p:nvSpPr>
        <p:spPr>
          <a:xfrm xmlns:a="http://schemas.openxmlformats.org/drawingml/2006/main">
            <a:off x="28765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5BA2F13-973B-469C-8222-4B53674E8DFA}"/>
              </a:ext>
            </a:extLst>
          </p:cNvPr>
          <p:cNvSpPr>
            <a:spLocks xmlns:a="http://schemas.openxmlformats.org/drawingml/2006/main" noGrp="1"/>
          </p:cNvSpPr>
          <p:nvPr/>
        </p:nvSpPr>
        <p:spPr>
          <a:xfrm xmlns:a="http://schemas.openxmlformats.org/drawingml/2006/main">
            <a:off x="28765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Tiền xử lý</a:t>
            </a:r>
          </a:p>
        </p:txBody>
      </p:sp>
      <p:sp>
        <p:nvSpPr>
          <p:cNvPr id="11" name="">
            <a:extLst xmlns:a="http://schemas.openxmlformats.org/drawingml/2006/main">
              <a:ext uri="{FF2B5EF4-FFF2-40B4-BE49-F238E27FC236}">
                <a16:creationId xmlns:a16="http://schemas.microsoft.com/office/drawing/2014/main" id="{837ED5B2-E5A3-4450-B391-2024E664CEC9}"/>
              </a:ext>
            </a:extLst>
          </p:cNvPr>
          <p:cNvSpPr>
            <a:spLocks xmlns:a="http://schemas.openxmlformats.org/drawingml/2006/main" noGrp="1"/>
          </p:cNvSpPr>
          <p:nvPr/>
        </p:nvSpPr>
        <p:spPr>
          <a:xfrm xmlns:a="http://schemas.openxmlformats.org/drawingml/2006/main">
            <a:off x="28765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Unicode, emoji, teencode</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tách từ</a:t>
            </a:r>
          </a:p>
        </p:txBody>
      </p:sp>
      <p:sp>
        <p:nvSpPr>
          <p:cNvPr id="12" name="">
            <a:extLst xmlns:a="http://schemas.openxmlformats.org/drawingml/2006/main">
              <a:ext uri="{FF2B5EF4-FFF2-40B4-BE49-F238E27FC236}">
                <a16:creationId xmlns:a16="http://schemas.microsoft.com/office/drawing/2014/main" id="{5DB85CCC-FA0A-419E-BCF8-513764F7F720}"/>
              </a:ext>
            </a:extLst>
          </p:cNvPr>
          <p:cNvSpPr>
            <a:spLocks xmlns:a="http://schemas.openxmlformats.org/drawingml/2006/main" noGrp="1"/>
          </p:cNvSpPr>
          <p:nvPr/>
        </p:nvSpPr>
        <p:spPr>
          <a:xfrm xmlns:a="http://schemas.openxmlformats.org/drawingml/2006/main">
            <a:off x="2876550" y="3638550"/>
            <a:ext cx="17907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8F8AD5-20F8-493E-93CF-9D6A65C861E3}"/>
              </a:ext>
            </a:extLst>
          </p:cNvPr>
          <p:cNvSpPr>
            <a:spLocks xmlns:a="http://schemas.openxmlformats.org/drawingml/2006/main" noGrp="1"/>
          </p:cNvSpPr>
          <p:nvPr/>
        </p:nvSpPr>
        <p:spPr>
          <a:xfrm xmlns:a="http://schemas.openxmlformats.org/drawingml/2006/main">
            <a:off x="51435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0CADA06-3EB7-4D00-A366-091FA3F8A5C1}"/>
              </a:ext>
            </a:extLst>
          </p:cNvPr>
          <p:cNvSpPr>
            <a:spLocks xmlns:a="http://schemas.openxmlformats.org/drawingml/2006/main" noGrp="1"/>
          </p:cNvSpPr>
          <p:nvPr/>
        </p:nvSpPr>
        <p:spPr>
          <a:xfrm xmlns:a="http://schemas.openxmlformats.org/drawingml/2006/main">
            <a:off x="51435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Đặc trưng</a:t>
            </a:r>
          </a:p>
        </p:txBody>
      </p:sp>
      <p:sp>
        <p:nvSpPr>
          <p:cNvPr id="15" name="">
            <a:extLst xmlns:a="http://schemas.openxmlformats.org/drawingml/2006/main">
              <a:ext uri="{FF2B5EF4-FFF2-40B4-BE49-F238E27FC236}">
                <a16:creationId xmlns:a16="http://schemas.microsoft.com/office/drawing/2014/main" id="{7799AFF3-C9AE-4FD6-B1D2-BBD281424600}"/>
              </a:ext>
            </a:extLst>
          </p:cNvPr>
          <p:cNvSpPr>
            <a:spLocks xmlns:a="http://schemas.openxmlformats.org/drawingml/2006/main" noGrp="1"/>
          </p:cNvSpPr>
          <p:nvPr/>
        </p:nvSpPr>
        <p:spPr>
          <a:xfrm xmlns:a="http://schemas.openxmlformats.org/drawingml/2006/main">
            <a:off x="51435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TF-IDF unigram + bigram</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5.000 chiều</a:t>
            </a:r>
          </a:p>
        </p:txBody>
      </p:sp>
      <p:sp>
        <p:nvSpPr>
          <p:cNvPr id="16" name="">
            <a:extLst xmlns:a="http://schemas.openxmlformats.org/drawingml/2006/main">
              <a:ext uri="{FF2B5EF4-FFF2-40B4-BE49-F238E27FC236}">
                <a16:creationId xmlns:a16="http://schemas.microsoft.com/office/drawing/2014/main" id="{DA39511F-0C8A-44D9-84DF-EBE44609E4C6}"/>
              </a:ext>
            </a:extLst>
          </p:cNvPr>
          <p:cNvSpPr>
            <a:spLocks xmlns:a="http://schemas.openxmlformats.org/drawingml/2006/main" noGrp="1"/>
          </p:cNvSpPr>
          <p:nvPr/>
        </p:nvSpPr>
        <p:spPr>
          <a:xfrm xmlns:a="http://schemas.openxmlformats.org/drawingml/2006/main">
            <a:off x="5143500" y="3638550"/>
            <a:ext cx="1790700" cy="762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D8F489-041B-4095-9E29-DDB50ADFF482}"/>
              </a:ext>
            </a:extLst>
          </p:cNvPr>
          <p:cNvSpPr>
            <a:spLocks xmlns:a="http://schemas.openxmlformats.org/drawingml/2006/main" noGrp="1"/>
          </p:cNvSpPr>
          <p:nvPr/>
        </p:nvSpPr>
        <p:spPr>
          <a:xfrm xmlns:a="http://schemas.openxmlformats.org/drawingml/2006/main">
            <a:off x="74104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B43F9813-5BB7-42F6-A7B1-AF3187992B59}"/>
              </a:ext>
            </a:extLst>
          </p:cNvPr>
          <p:cNvSpPr>
            <a:spLocks xmlns:a="http://schemas.openxmlformats.org/drawingml/2006/main" noGrp="1"/>
          </p:cNvSpPr>
          <p:nvPr/>
        </p:nvSpPr>
        <p:spPr>
          <a:xfrm xmlns:a="http://schemas.openxmlformats.org/drawingml/2006/main">
            <a:off x="74104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Huấn luyện</a:t>
            </a:r>
          </a:p>
        </p:txBody>
      </p:sp>
      <p:sp>
        <p:nvSpPr>
          <p:cNvPr id="19" name="">
            <a:extLst xmlns:a="http://schemas.openxmlformats.org/drawingml/2006/main">
              <a:ext uri="{FF2B5EF4-FFF2-40B4-BE49-F238E27FC236}">
                <a16:creationId xmlns:a16="http://schemas.microsoft.com/office/drawing/2014/main" id="{64A48DCF-8A3A-416D-B807-40CD9AAFB95C}"/>
              </a:ext>
            </a:extLst>
          </p:cNvPr>
          <p:cNvSpPr>
            <a:spLocks xmlns:a="http://schemas.openxmlformats.org/drawingml/2006/main" noGrp="1"/>
          </p:cNvSpPr>
          <p:nvPr/>
        </p:nvSpPr>
        <p:spPr>
          <a:xfrm xmlns:a="http://schemas.openxmlformats.org/drawingml/2006/main">
            <a:off x="74104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 mô hình</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Stratified 5-fold CV</a:t>
            </a:r>
          </a:p>
        </p:txBody>
      </p:sp>
      <p:sp>
        <p:nvSpPr>
          <p:cNvPr id="20" name="">
            <a:extLst xmlns:a="http://schemas.openxmlformats.org/drawingml/2006/main">
              <a:ext uri="{FF2B5EF4-FFF2-40B4-BE49-F238E27FC236}">
                <a16:creationId xmlns:a16="http://schemas.microsoft.com/office/drawing/2014/main" id="{031D793D-74D5-4307-BD6F-717755BEE513}"/>
              </a:ext>
            </a:extLst>
          </p:cNvPr>
          <p:cNvSpPr>
            <a:spLocks xmlns:a="http://schemas.openxmlformats.org/drawingml/2006/main" noGrp="1"/>
          </p:cNvSpPr>
          <p:nvPr/>
        </p:nvSpPr>
        <p:spPr>
          <a:xfrm xmlns:a="http://schemas.openxmlformats.org/drawingml/2006/main">
            <a:off x="7410450" y="3638550"/>
            <a:ext cx="17907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D8989C-D8AB-4BED-92C5-E45F2C4F353D}"/>
              </a:ext>
            </a:extLst>
          </p:cNvPr>
          <p:cNvSpPr>
            <a:spLocks xmlns:a="http://schemas.openxmlformats.org/drawingml/2006/main" noGrp="1"/>
          </p:cNvSpPr>
          <p:nvPr/>
        </p:nvSpPr>
        <p:spPr>
          <a:xfrm xmlns:a="http://schemas.openxmlformats.org/drawingml/2006/main">
            <a:off x="96774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05</a:t>
            </a:r>
          </a:p>
        </p:txBody>
      </p:sp>
      <p:sp>
        <p:nvSpPr>
          <p:cNvPr id="22" name="">
            <a:extLst xmlns:a="http://schemas.openxmlformats.org/drawingml/2006/main">
              <a:ext uri="{FF2B5EF4-FFF2-40B4-BE49-F238E27FC236}">
                <a16:creationId xmlns:a16="http://schemas.microsoft.com/office/drawing/2014/main" id="{4EEE3434-9DEC-431B-AD37-4C13B29FB255}"/>
              </a:ext>
            </a:extLst>
          </p:cNvPr>
          <p:cNvSpPr>
            <a:spLocks xmlns:a="http://schemas.openxmlformats.org/drawingml/2006/main" noGrp="1"/>
          </p:cNvSpPr>
          <p:nvPr/>
        </p:nvSpPr>
        <p:spPr>
          <a:xfrm xmlns:a="http://schemas.openxmlformats.org/drawingml/2006/main">
            <a:off x="96774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Ứng dụng</a:t>
            </a:r>
          </a:p>
        </p:txBody>
      </p:sp>
      <p:sp>
        <p:nvSpPr>
          <p:cNvPr id="23" name="">
            <a:extLst xmlns:a="http://schemas.openxmlformats.org/drawingml/2006/main">
              <a:ext uri="{FF2B5EF4-FFF2-40B4-BE49-F238E27FC236}">
                <a16:creationId xmlns:a16="http://schemas.microsoft.com/office/drawing/2014/main" id="{E8C21206-35B4-437C-993F-CC73E923EFD4}"/>
              </a:ext>
            </a:extLst>
          </p:cNvPr>
          <p:cNvSpPr>
            <a:spLocks xmlns:a="http://schemas.openxmlformats.org/drawingml/2006/main" noGrp="1"/>
          </p:cNvSpPr>
          <p:nvPr/>
        </p:nvSpPr>
        <p:spPr>
          <a:xfrm xmlns:a="http://schemas.openxmlformats.org/drawingml/2006/main">
            <a:off x="96774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Đánh giá, insight</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Streamlit</a:t>
            </a:r>
          </a:p>
        </p:txBody>
      </p:sp>
      <p:sp>
        <p:nvSpPr>
          <p:cNvPr id="24" name="">
            <a:extLst xmlns:a="http://schemas.openxmlformats.org/drawingml/2006/main">
              <a:ext uri="{FF2B5EF4-FFF2-40B4-BE49-F238E27FC236}">
                <a16:creationId xmlns:a16="http://schemas.microsoft.com/office/drawing/2014/main" id="{673C9797-B44F-4229-83EA-C42272305002}"/>
              </a:ext>
            </a:extLst>
          </p:cNvPr>
          <p:cNvSpPr>
            <a:spLocks xmlns:a="http://schemas.openxmlformats.org/drawingml/2006/main" noGrp="1"/>
          </p:cNvSpPr>
          <p:nvPr/>
        </p:nvSpPr>
        <p:spPr>
          <a:xfrm xmlns:a="http://schemas.openxmlformats.org/drawingml/2006/main">
            <a:off x="9677400" y="3638550"/>
            <a:ext cx="1790700" cy="762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cxnSp>
        <p:nvCxnSpPr>
          <p:cNvPr id="114" name=""/>
          <p:cNvCxnSpPr>
            <a:stCxn xmlns:a="http://schemas.openxmlformats.org/drawingml/2006/main" id="8" idx="3"/>
            <a:endCxn xmlns:a="http://schemas.openxmlformats.org/drawingml/2006/main" id="12" idx="1"/>
          </p:cNvCxnSpPr>
          <p:nvPr/>
        </p:nvCxnSpPr>
        <p:spPr>
          <a:xfrm xmlns:a="http://schemas.openxmlformats.org/drawingml/2006/main">
            <a:off x="24003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5" name=""/>
          <p:cNvCxnSpPr>
            <a:stCxn xmlns:a="http://schemas.openxmlformats.org/drawingml/2006/main" id="12" idx="3"/>
            <a:endCxn xmlns:a="http://schemas.openxmlformats.org/drawingml/2006/main" id="16" idx="1"/>
          </p:cNvCxnSpPr>
          <p:nvPr/>
        </p:nvCxnSpPr>
        <p:spPr>
          <a:xfrm xmlns:a="http://schemas.openxmlformats.org/drawingml/2006/main">
            <a:off x="46672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6" name=""/>
          <p:cNvCxnSpPr>
            <a:stCxn xmlns:a="http://schemas.openxmlformats.org/drawingml/2006/main" id="16" idx="3"/>
            <a:endCxn xmlns:a="http://schemas.openxmlformats.org/drawingml/2006/main" id="20" idx="1"/>
          </p:cNvCxnSpPr>
          <p:nvPr/>
        </p:nvCxnSpPr>
        <p:spPr>
          <a:xfrm xmlns:a="http://schemas.openxmlformats.org/drawingml/2006/main">
            <a:off x="69342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7" name=""/>
          <p:cNvCxnSpPr>
            <a:stCxn xmlns:a="http://schemas.openxmlformats.org/drawingml/2006/main" id="20" idx="3"/>
            <a:endCxn xmlns:a="http://schemas.openxmlformats.org/drawingml/2006/main" id="24" idx="1"/>
          </p:cNvCxnSpPr>
          <p:nvPr/>
        </p:nvCxnSpPr>
        <p:spPr>
          <a:xfrm xmlns:a="http://schemas.openxmlformats.org/drawingml/2006/main">
            <a:off x="92011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29" name="">
            <a:extLst xmlns:a="http://schemas.openxmlformats.org/drawingml/2006/main">
              <a:ext uri="{FF2B5EF4-FFF2-40B4-BE49-F238E27FC236}">
                <a16:creationId xmlns:a16="http://schemas.microsoft.com/office/drawing/2014/main" id="{9786EFB7-D2B7-4ADA-BDB8-347F085F0E3E}"/>
              </a:ext>
            </a:extLst>
          </p:cNvPr>
          <p:cNvSpPr>
            <a:spLocks xmlns:a="http://schemas.openxmlformats.org/drawingml/2006/main" noGrp="1"/>
          </p:cNvSpPr>
          <p:nvPr/>
        </p:nvSpPr>
        <p:spPr>
          <a:xfrm xmlns:a="http://schemas.openxmlformats.org/drawingml/2006/main">
            <a:off x="609600" y="4476750"/>
            <a:ext cx="10972800" cy="1143000"/>
          </a:xfrm>
          <a:prstGeom xmlns:a="http://schemas.openxmlformats.org/drawingml/2006/main" prst="roundRect">
            <a:avLst>
              <a:gd name="adj" fmla="val 13333"/>
            </a:avLst>
          </a:prstGeom>
          <a:solidFill xmlns:a="http://schemas.openxmlformats.org/drawingml/2006/main">
            <a:srgbClr val="121A26"/>
          </a:solidFill>
          <a:ln xmlns:a="http://schemas.openxmlformats.org/drawingml/2006/main" w="9525">
            <a:solidFill>
              <a:srgbClr val="2A3B52"/>
            </a:solidFill>
            <a:prstDash val="solid"/>
          </a:ln>
        </p:spPr>
      </p:sp>
      <p:sp>
        <p:nvSpPr>
          <p:cNvPr id="30" name="">
            <a:extLst xmlns:a="http://schemas.openxmlformats.org/drawingml/2006/main">
              <a:ext uri="{FF2B5EF4-FFF2-40B4-BE49-F238E27FC236}">
                <a16:creationId xmlns:a16="http://schemas.microsoft.com/office/drawing/2014/main" id="{F312553B-51BE-4DA6-AFA5-CE35BDE8DCBD}"/>
              </a:ext>
            </a:extLst>
          </p:cNvPr>
          <p:cNvSpPr>
            <a:spLocks xmlns:a="http://schemas.openxmlformats.org/drawingml/2006/main" noGrp="1"/>
          </p:cNvSpPr>
          <p:nvPr/>
        </p:nvSpPr>
        <p:spPr>
          <a:xfrm xmlns:a="http://schemas.openxmlformats.org/drawingml/2006/main">
            <a:off x="857250" y="47148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Kết quả cuối</a:t>
            </a:r>
          </a:p>
        </p:txBody>
      </p:sp>
      <p:sp>
        <p:nvSpPr>
          <p:cNvPr id="31" name="">
            <a:extLst xmlns:a="http://schemas.openxmlformats.org/drawingml/2006/main">
              <a:ext uri="{FF2B5EF4-FFF2-40B4-BE49-F238E27FC236}">
                <a16:creationId xmlns:a16="http://schemas.microsoft.com/office/drawing/2014/main" id="{96DAE4F5-B8B6-43BC-BCF0-E49DAB0F5554}"/>
              </a:ext>
            </a:extLst>
          </p:cNvPr>
          <p:cNvSpPr>
            <a:spLocks xmlns:a="http://schemas.openxmlformats.org/drawingml/2006/main" noGrp="1"/>
          </p:cNvSpPr>
          <p:nvPr/>
        </p:nvSpPr>
        <p:spPr>
          <a:xfrm xmlns:a="http://schemas.openxmlformats.org/drawingml/2006/main">
            <a:off x="857250" y="5067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Logistic Regression + SMOTE</a:t>
            </a:r>
          </a:p>
        </p:txBody>
      </p:sp>
      <p:sp>
        <p:nvSpPr>
          <p:cNvPr id="32" name="">
            <a:extLst xmlns:a="http://schemas.openxmlformats.org/drawingml/2006/main">
              <a:ext uri="{FF2B5EF4-FFF2-40B4-BE49-F238E27FC236}">
                <a16:creationId xmlns:a16="http://schemas.microsoft.com/office/drawing/2014/main" id="{D8DE7B0B-5812-4197-9124-7AC5723D3144}"/>
              </a:ext>
            </a:extLst>
          </p:cNvPr>
          <p:cNvSpPr>
            <a:spLocks xmlns:a="http://schemas.openxmlformats.org/drawingml/2006/main" noGrp="1"/>
          </p:cNvSpPr>
          <p:nvPr/>
        </p:nvSpPr>
        <p:spPr>
          <a:xfrm xmlns:a="http://schemas.openxmlformats.org/drawingml/2006/main">
            <a:off x="4762500"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Final Test: Macro F1 0,5764</a:t>
            </a:r>
          </a:p>
        </p:txBody>
      </p:sp>
      <p:sp>
        <p:nvSpPr>
          <p:cNvPr id="33" name="">
            <a:extLst xmlns:a="http://schemas.openxmlformats.org/drawingml/2006/main">
              <a:ext uri="{FF2B5EF4-FFF2-40B4-BE49-F238E27FC236}">
                <a16:creationId xmlns:a16="http://schemas.microsoft.com/office/drawing/2014/main" id="{ACC6F12F-FC6E-4A03-A354-44AD96E7058F}"/>
              </a:ext>
            </a:extLst>
          </p:cNvPr>
          <p:cNvSpPr>
            <a:spLocks xmlns:a="http://schemas.openxmlformats.org/drawingml/2006/main" noGrp="1"/>
          </p:cNvSpPr>
          <p:nvPr/>
        </p:nvSpPr>
        <p:spPr>
          <a:xfrm xmlns:a="http://schemas.openxmlformats.org/drawingml/2006/main">
            <a:off x="8048625"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45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Web demo dự đoán theo thời gian thực</a:t>
            </a:r>
          </a:p>
        </p:txBody>
      </p:sp>
    </p:spTree>
    <p:extLst>
      <p:ext uri="{BB962C8B-B14F-4D97-AF65-F5344CB8AC3E}">
        <p14:creationId xmlns:p14="http://schemas.microsoft.com/office/powerpoint/2010/main" val="1751698290"/>
      </p:ext>
    </p:extLst>
  </p:cSld>
</p:sld>
</file>

<file path=ppt/slides/slide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B5AAD9-9882-4F64-915D-17535A772D9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03 · TIỀN XỬ LÝ</a:t>
            </a:r>
          </a:p>
        </p:txBody>
      </p:sp>
      <p:sp>
        <p:nvSpPr>
          <p:cNvPr id="2" name="">
            <a:extLst xmlns:a="http://schemas.openxmlformats.org/drawingml/2006/main">
              <a:ext uri="{FF2B5EF4-FFF2-40B4-BE49-F238E27FC236}">
                <a16:creationId xmlns:a16="http://schemas.microsoft.com/office/drawing/2014/main" id="{34203F13-7403-4363-915A-8DD7CD41F4D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Làm sạch văn bản tiếng Việt theo hai tầng</a:t>
            </a:r>
          </a:p>
        </p:txBody>
      </p:sp>
      <p:sp>
        <p:nvSpPr>
          <p:cNvPr id="3" name="">
            <a:extLst xmlns:a="http://schemas.openxmlformats.org/drawingml/2006/main">
              <a:ext uri="{FF2B5EF4-FFF2-40B4-BE49-F238E27FC236}">
                <a16:creationId xmlns:a16="http://schemas.microsoft.com/office/drawing/2014/main" id="{9295BC80-DED8-4243-8CE7-9563E56F454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1EBCAA-3444-426B-AE47-439D60377548}"/>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04 / 15</a:t>
            </a:r>
          </a:p>
        </p:txBody>
      </p:sp>
      <p:sp>
        <p:nvSpPr>
          <p:cNvPr id="5" name="">
            <a:extLst xmlns:a="http://schemas.openxmlformats.org/drawingml/2006/main">
              <a:ext uri="{FF2B5EF4-FFF2-40B4-BE49-F238E27FC236}">
                <a16:creationId xmlns:a16="http://schemas.microsoft.com/office/drawing/2014/main" id="{3EC9DEBC-7606-43BC-BD73-FC4CEAFF7A01}"/>
              </a:ext>
            </a:extLst>
          </p:cNvPr>
          <p:cNvSpPr>
            <a:spLocks xmlns:a="http://schemas.openxmlformats.org/drawingml/2006/main" noGrp="1"/>
          </p:cNvSpPr>
          <p:nvPr/>
        </p:nvSpPr>
        <p:spPr>
          <a:xfrm xmlns:a="http://schemas.openxmlformats.org/drawingml/2006/main">
            <a:off x="666750" y="181927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5FAAAC-2734-4E08-8D4F-2DB173D5A11B}"/>
              </a:ext>
            </a:extLst>
          </p:cNvPr>
          <p:cNvSpPr>
            <a:spLocks xmlns:a="http://schemas.openxmlformats.org/drawingml/2006/main" noGrp="1"/>
          </p:cNvSpPr>
          <p:nvPr/>
        </p:nvSpPr>
        <p:spPr>
          <a:xfrm xmlns:a="http://schemas.openxmlformats.org/drawingml/2006/main">
            <a:off x="857250" y="1752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cơ bản</a:t>
            </a:r>
          </a:p>
        </p:txBody>
      </p:sp>
      <p:sp>
        <p:nvSpPr>
          <p:cNvPr id="7" name="">
            <a:extLst xmlns:a="http://schemas.openxmlformats.org/drawingml/2006/main">
              <a:ext uri="{FF2B5EF4-FFF2-40B4-BE49-F238E27FC236}">
                <a16:creationId xmlns:a16="http://schemas.microsoft.com/office/drawing/2014/main" id="{3BA83F2F-F270-44A1-AAFD-96C663221B0D}"/>
              </a:ext>
            </a:extLst>
          </p:cNvPr>
          <p:cNvSpPr>
            <a:spLocks xmlns:a="http://schemas.openxmlformats.org/drawingml/2006/main" noGrp="1"/>
          </p:cNvSpPr>
          <p:nvPr/>
        </p:nvSpPr>
        <p:spPr>
          <a:xfrm xmlns:a="http://schemas.openxmlformats.org/drawingml/2006/main">
            <a:off x="857250" y="2038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Unicode NFC, URL, email và chữ thường.</a:t>
            </a:r>
          </a:p>
        </p:txBody>
      </p:sp>
      <p:sp>
        <p:nvSpPr>
          <p:cNvPr id="8" name="">
            <a:extLst xmlns:a="http://schemas.openxmlformats.org/drawingml/2006/main">
              <a:ext uri="{FF2B5EF4-FFF2-40B4-BE49-F238E27FC236}">
                <a16:creationId xmlns:a16="http://schemas.microsoft.com/office/drawing/2014/main" id="{10BC76EE-0863-4897-BD29-4CA698387204}"/>
              </a:ext>
            </a:extLst>
          </p:cNvPr>
          <p:cNvSpPr>
            <a:spLocks xmlns:a="http://schemas.openxmlformats.org/drawingml/2006/main" noGrp="1"/>
          </p:cNvSpPr>
          <p:nvPr/>
        </p:nvSpPr>
        <p:spPr>
          <a:xfrm xmlns:a="http://schemas.openxmlformats.org/drawingml/2006/main">
            <a:off x="666750" y="27717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0038207-F784-45C0-A53D-BD73E471B059}"/>
              </a:ext>
            </a:extLst>
          </p:cNvPr>
          <p:cNvSpPr>
            <a:spLocks xmlns:a="http://schemas.openxmlformats.org/drawingml/2006/main" noGrp="1"/>
          </p:cNvSpPr>
          <p:nvPr/>
        </p:nvSpPr>
        <p:spPr>
          <a:xfrm xmlns:a="http://schemas.openxmlformats.org/drawingml/2006/main">
            <a:off x="857250" y="2705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tín hiệu</a:t>
            </a:r>
          </a:p>
        </p:txBody>
      </p:sp>
      <p:sp>
        <p:nvSpPr>
          <p:cNvPr id="10" name="">
            <a:extLst xmlns:a="http://schemas.openxmlformats.org/drawingml/2006/main">
              <a:ext uri="{FF2B5EF4-FFF2-40B4-BE49-F238E27FC236}">
                <a16:creationId xmlns:a16="http://schemas.microsoft.com/office/drawing/2014/main" id="{C6E92361-A0E1-4297-A337-3FEAA9238CCB}"/>
              </a:ext>
            </a:extLst>
          </p:cNvPr>
          <p:cNvSpPr>
            <a:spLocks xmlns:a="http://schemas.openxmlformats.org/drawingml/2006/main" noGrp="1"/>
          </p:cNvSpPr>
          <p:nvPr/>
        </p:nvSpPr>
        <p:spPr>
          <a:xfrm xmlns:a="http://schemas.openxmlformats.org/drawingml/2006/main">
            <a:off x="857250" y="2990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Emoji, emojicon, teencode và thuật ngữ IT.</a:t>
            </a:r>
          </a:p>
        </p:txBody>
      </p:sp>
      <p:sp>
        <p:nvSpPr>
          <p:cNvPr id="11" name="">
            <a:extLst xmlns:a="http://schemas.openxmlformats.org/drawingml/2006/main">
              <a:ext uri="{FF2B5EF4-FFF2-40B4-BE49-F238E27FC236}">
                <a16:creationId xmlns:a16="http://schemas.microsoft.com/office/drawing/2014/main" id="{1C556FBB-37DA-41DA-AFFD-085449D355EF}"/>
              </a:ext>
            </a:extLst>
          </p:cNvPr>
          <p:cNvSpPr>
            <a:spLocks xmlns:a="http://schemas.openxmlformats.org/drawingml/2006/main" noGrp="1"/>
          </p:cNvSpPr>
          <p:nvPr/>
        </p:nvSpPr>
        <p:spPr>
          <a:xfrm xmlns:a="http://schemas.openxmlformats.org/drawingml/2006/main">
            <a:off x="666750" y="372427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3CA30F-9F70-4FCA-89EB-D50480DAB584}"/>
              </a:ext>
            </a:extLst>
          </p:cNvPr>
          <p:cNvSpPr>
            <a:spLocks xmlns:a="http://schemas.openxmlformats.org/drawingml/2006/main" noGrp="1"/>
          </p:cNvSpPr>
          <p:nvPr/>
        </p:nvSpPr>
        <p:spPr>
          <a:xfrm xmlns:a="http://schemas.openxmlformats.org/drawingml/2006/main">
            <a:off x="857250" y="3657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Tách từ</a:t>
            </a:r>
          </a:p>
        </p:txBody>
      </p:sp>
      <p:sp>
        <p:nvSpPr>
          <p:cNvPr id="13" name="">
            <a:extLst xmlns:a="http://schemas.openxmlformats.org/drawingml/2006/main">
              <a:ext uri="{FF2B5EF4-FFF2-40B4-BE49-F238E27FC236}">
                <a16:creationId xmlns:a16="http://schemas.microsoft.com/office/drawing/2014/main" id="{AC684033-F02F-4D2C-865D-3094590AB0E2}"/>
              </a:ext>
            </a:extLst>
          </p:cNvPr>
          <p:cNvSpPr>
            <a:spLocks xmlns:a="http://schemas.openxmlformats.org/drawingml/2006/main" noGrp="1"/>
          </p:cNvSpPr>
          <p:nvPr/>
        </p:nvSpPr>
        <p:spPr>
          <a:xfrm xmlns:a="http://schemas.openxmlformats.org/drawingml/2006/main">
            <a:off x="857250" y="3943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Ưu tiên underthesea, dùng pyvi khi cần fallback.</a:t>
            </a:r>
          </a:p>
        </p:txBody>
      </p:sp>
      <p:sp>
        <p:nvSpPr>
          <p:cNvPr id="14" name="">
            <a:extLst xmlns:a="http://schemas.openxmlformats.org/drawingml/2006/main">
              <a:ext uri="{FF2B5EF4-FFF2-40B4-BE49-F238E27FC236}">
                <a16:creationId xmlns:a16="http://schemas.microsoft.com/office/drawing/2014/main" id="{8C0D534B-8CF4-465A-89D8-341F7981A5DD}"/>
              </a:ext>
            </a:extLst>
          </p:cNvPr>
          <p:cNvSpPr>
            <a:spLocks xmlns:a="http://schemas.openxmlformats.org/drawingml/2006/main" noGrp="1"/>
          </p:cNvSpPr>
          <p:nvPr/>
        </p:nvSpPr>
        <p:spPr>
          <a:xfrm xmlns:a="http://schemas.openxmlformats.org/drawingml/2006/main">
            <a:off x="666750" y="467677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A99B5A-58F3-4391-9242-376B0C2988BA}"/>
              </a:ext>
            </a:extLst>
          </p:cNvPr>
          <p:cNvSpPr>
            <a:spLocks xmlns:a="http://schemas.openxmlformats.org/drawingml/2006/main" noGrp="1"/>
          </p:cNvSpPr>
          <p:nvPr/>
        </p:nvSpPr>
        <p:spPr>
          <a:xfrm xmlns:a="http://schemas.openxmlformats.org/drawingml/2006/main">
            <a:off x="857250" y="4610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Lọc từ dừng</a:t>
            </a:r>
          </a:p>
        </p:txBody>
      </p:sp>
      <p:sp>
        <p:nvSpPr>
          <p:cNvPr id="16" name="">
            <a:extLst xmlns:a="http://schemas.openxmlformats.org/drawingml/2006/main">
              <a:ext uri="{FF2B5EF4-FFF2-40B4-BE49-F238E27FC236}">
                <a16:creationId xmlns:a16="http://schemas.microsoft.com/office/drawing/2014/main" id="{38C506EE-0C2A-43D8-ADAA-79024F0D0F07}"/>
              </a:ext>
            </a:extLst>
          </p:cNvPr>
          <p:cNvSpPr>
            <a:spLocks xmlns:a="http://schemas.openxmlformats.org/drawingml/2006/main" noGrp="1"/>
          </p:cNvSpPr>
          <p:nvPr/>
        </p:nvSpPr>
        <p:spPr>
          <a:xfrm xmlns:a="http://schemas.openxmlformats.org/drawingml/2006/main">
            <a:off x="857250" y="4895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Giữ từ phủ định và từ chỉ mức độ như “thấp”, “nhiều”.</a:t>
            </a:r>
          </a:p>
        </p:txBody>
      </p:sp>
      <p:sp>
        <p:nvSpPr>
          <p:cNvPr id="17" name="">
            <a:extLst xmlns:a="http://schemas.openxmlformats.org/drawingml/2006/main">
              <a:ext uri="{FF2B5EF4-FFF2-40B4-BE49-F238E27FC236}">
                <a16:creationId xmlns:a16="http://schemas.microsoft.com/office/drawing/2014/main" id="{1569691C-0782-4729-81DA-08D16FA4BD9A}"/>
              </a:ext>
            </a:extLst>
          </p:cNvPr>
          <p:cNvSpPr>
            <a:spLocks xmlns:a="http://schemas.openxmlformats.org/drawingml/2006/main" noGrp="1"/>
          </p:cNvSpPr>
          <p:nvPr/>
        </p:nvSpPr>
        <p:spPr>
          <a:xfrm xmlns:a="http://schemas.openxmlformats.org/drawingml/2006/main">
            <a:off x="5715000" y="1666875"/>
            <a:ext cx="5524500" cy="3714750"/>
          </a:xfrm>
          <a:prstGeom xmlns:a="http://schemas.openxmlformats.org/drawingml/2006/main" prst="roundRect">
            <a:avLst>
              <a:gd name="adj" fmla="val 4615"/>
            </a:avLst>
          </a:prstGeom>
          <a:solidFill xmlns:a="http://schemas.openxmlformats.org/drawingml/2006/main">
            <a:srgbClr val="121A26"/>
          </a:solidFill>
          <a:ln xmlns:a="http://schemas.openxmlformats.org/drawingml/2006/main" w="9525">
            <a:solidFill>
              <a:srgbClr val="2A3B52"/>
            </a:solidFill>
            <a:prstDash val="solid"/>
          </a:ln>
        </p:spPr>
      </p:sp>
      <p:sp>
        <p:nvSpPr>
          <p:cNvPr id="18" name="">
            <a:extLst xmlns:a="http://schemas.openxmlformats.org/drawingml/2006/main">
              <a:ext uri="{FF2B5EF4-FFF2-40B4-BE49-F238E27FC236}">
                <a16:creationId xmlns:a16="http://schemas.microsoft.com/office/drawing/2014/main" id="{F532047D-EA1D-4FB7-9FBA-C948EDC22EAE}"/>
              </a:ext>
            </a:extLst>
          </p:cNvPr>
          <p:cNvSpPr>
            <a:spLocks xmlns:a="http://schemas.openxmlformats.org/drawingml/2006/main" noGrp="1"/>
          </p:cNvSpPr>
          <p:nvPr/>
        </p:nvSpPr>
        <p:spPr>
          <a:xfrm xmlns:a="http://schemas.openxmlformats.org/drawingml/2006/main">
            <a:off x="6000750" y="195262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667B"/>
                </a:solidFill>
                <a:latin typeface="Helvetica Neue"/>
                <a:ea typeface="Helvetica Neue"/>
                <a:cs typeface="Helvetica Neue"/>
              </a:defRPr>
            </a:pPr>
            <a:r>
              <a:rPr sz="1050" b="1">
                <a:solidFill>
                  <a:srgbClr val="FF667B"/>
                </a:solidFill>
                <a:latin typeface="Helvetica Neue"/>
                <a:ea typeface="Helvetica Neue"/>
                <a:cs typeface="Helvetica Neue"/>
              </a:rPr>
              <a:t>REVIEW GỐC</a:t>
            </a:r>
          </a:p>
        </p:txBody>
      </p:sp>
      <p:sp>
        <p:nvSpPr>
          <p:cNvPr id="19" name="">
            <a:extLst xmlns:a="http://schemas.openxmlformats.org/drawingml/2006/main">
              <a:ext uri="{FF2B5EF4-FFF2-40B4-BE49-F238E27FC236}">
                <a16:creationId xmlns:a16="http://schemas.microsoft.com/office/drawing/2014/main" id="{7105B755-6A38-48CE-9738-78725D741D05}"/>
              </a:ext>
            </a:extLst>
          </p:cNvPr>
          <p:cNvSpPr>
            <a:spLocks xmlns:a="http://schemas.openxmlformats.org/drawingml/2006/main" noGrp="1"/>
          </p:cNvSpPr>
          <p:nvPr/>
        </p:nvSpPr>
        <p:spPr>
          <a:xfrm xmlns:a="http://schemas.openxmlformats.org/drawingml/2006/main">
            <a:off x="6000750" y="2324100"/>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Lương thấp, quản lý thiếu minh bạch và thường xuyên phải OT không lương.</a:t>
            </a:r>
          </a:p>
        </p:txBody>
      </p:sp>
      <p:sp>
        <p:nvSpPr>
          <p:cNvPr id="20" name="">
            <a:extLst xmlns:a="http://schemas.openxmlformats.org/drawingml/2006/main">
              <a:ext uri="{FF2B5EF4-FFF2-40B4-BE49-F238E27FC236}">
                <a16:creationId xmlns:a16="http://schemas.microsoft.com/office/drawing/2014/main" id="{9110E748-4790-435E-978E-5CDFA9A722C2}"/>
              </a:ext>
            </a:extLst>
          </p:cNvPr>
          <p:cNvSpPr>
            <a:spLocks xmlns:a="http://schemas.openxmlformats.org/drawingml/2006/main" noGrp="1"/>
          </p:cNvSpPr>
          <p:nvPr/>
        </p:nvSpPr>
        <p:spPr>
          <a:xfrm xmlns:a="http://schemas.openxmlformats.org/drawingml/2006/main">
            <a:off x="6000750" y="3371850"/>
            <a:ext cx="4810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277FD2-B9CE-4C74-926A-E441A827FE19}"/>
              </a:ext>
            </a:extLst>
          </p:cNvPr>
          <p:cNvSpPr>
            <a:spLocks xmlns:a="http://schemas.openxmlformats.org/drawingml/2006/main" noGrp="1"/>
          </p:cNvSpPr>
          <p:nvPr/>
        </p:nvSpPr>
        <p:spPr>
          <a:xfrm xmlns:a="http://schemas.openxmlformats.org/drawingml/2006/main">
            <a:off x="6000750" y="3638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45D9A0"/>
                </a:solidFill>
                <a:latin typeface="Helvetica Neue"/>
                <a:ea typeface="Helvetica Neue"/>
                <a:cs typeface="Helvetica Neue"/>
              </a:defRPr>
            </a:pPr>
            <a:r>
              <a:rPr sz="1050" b="1">
                <a:solidFill>
                  <a:srgbClr val="45D9A0"/>
                </a:solidFill>
                <a:latin typeface="Helvetica Neue"/>
                <a:ea typeface="Helvetica Neue"/>
                <a:cs typeface="Helvetica Neue"/>
              </a:rPr>
              <a:t>SAU TIỀN XỬ LÝ</a:t>
            </a:r>
          </a:p>
        </p:txBody>
      </p:sp>
      <p:sp>
        <p:nvSpPr>
          <p:cNvPr id="22" name="">
            <a:extLst xmlns:a="http://schemas.openxmlformats.org/drawingml/2006/main">
              <a:ext uri="{FF2B5EF4-FFF2-40B4-BE49-F238E27FC236}">
                <a16:creationId xmlns:a16="http://schemas.microsoft.com/office/drawing/2014/main" id="{D1D7F89F-CCC3-46A9-A243-98B118AC7748}"/>
              </a:ext>
            </a:extLst>
          </p:cNvPr>
          <p:cNvSpPr>
            <a:spLocks xmlns:a="http://schemas.openxmlformats.org/drawingml/2006/main" noGrp="1"/>
          </p:cNvSpPr>
          <p:nvPr/>
        </p:nvSpPr>
        <p:spPr>
          <a:xfrm xmlns:a="http://schemas.openxmlformats.org/drawingml/2006/main">
            <a:off x="6000750" y="4019550"/>
            <a:ext cx="4810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45D9A0"/>
                </a:solidFill>
                <a:latin typeface="Helvetica Neue"/>
                <a:ea typeface="Helvetica Neue"/>
                <a:cs typeface="Helvetica Neue"/>
              </a:defRPr>
            </a:pPr>
            <a:r>
              <a:rPr sz="1725" b="1">
                <a:solidFill>
                  <a:srgbClr val="45D9A0"/>
                </a:solidFill>
                <a:latin typeface="Helvetica Neue"/>
                <a:ea typeface="Helvetica Neue"/>
                <a:cs typeface="Helvetica Neue"/>
              </a:rPr>
              <a:t>lương thấp quản_lý thiếu minh_bạch thường_xuyên ot không lương</a:t>
            </a:r>
          </a:p>
        </p:txBody>
      </p:sp>
      <p:sp>
        <p:nvSpPr>
          <p:cNvPr id="23" name="">
            <a:extLst xmlns:a="http://schemas.openxmlformats.org/drawingml/2006/main">
              <a:ext uri="{FF2B5EF4-FFF2-40B4-BE49-F238E27FC236}">
                <a16:creationId xmlns:a16="http://schemas.microsoft.com/office/drawing/2014/main" id="{5AD4EDFE-3741-4BD4-AB60-CB4FCD8335DC}"/>
              </a:ext>
            </a:extLst>
          </p:cNvPr>
          <p:cNvSpPr>
            <a:spLocks xmlns:a="http://schemas.openxmlformats.org/drawingml/2006/main" noGrp="1"/>
          </p:cNvSpPr>
          <p:nvPr/>
        </p:nvSpPr>
        <p:spPr>
          <a:xfrm xmlns:a="http://schemas.openxmlformats.org/drawingml/2006/main">
            <a:off x="6000750" y="4905375"/>
            <a:ext cx="481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Ví dụ chạy trên pipeline và model bản sửa hiện tại.</a:t>
            </a:r>
          </a:p>
        </p:txBody>
      </p:sp>
      <p:sp>
        <p:nvSpPr>
          <p:cNvPr id="24" name="">
            <a:extLst xmlns:a="http://schemas.openxmlformats.org/drawingml/2006/main">
              <a:ext uri="{FF2B5EF4-FFF2-40B4-BE49-F238E27FC236}">
                <a16:creationId xmlns:a16="http://schemas.microsoft.com/office/drawing/2014/main" id="{CAAF7C12-EBC6-4CD8-9A5A-4DA4D8414F3E}"/>
              </a:ext>
            </a:extLst>
          </p:cNvPr>
          <p:cNvSpPr>
            <a:spLocks xmlns:a="http://schemas.openxmlformats.org/drawingml/2006/main" noGrp="1"/>
          </p:cNvSpPr>
          <p:nvPr/>
        </p:nvSpPr>
        <p:spPr>
          <a:xfrm xmlns:a="http://schemas.openxmlformats.org/drawingml/2006/main">
            <a:off x="666750" y="59055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Đầu ra clean_basic_text giữ cấu trúc tự nhiên. clean_advance_text phục vụ các mô hình ML.</a:t>
            </a:r>
          </a:p>
        </p:txBody>
      </p:sp>
    </p:spTree>
    <p:extLst>
      <p:ext uri="{BB962C8B-B14F-4D97-AF65-F5344CB8AC3E}">
        <p14:creationId xmlns:p14="http://schemas.microsoft.com/office/powerpoint/2010/main" val="332985770"/>
      </p:ext>
    </p:extLst>
  </p:cSld>
</p:sld>
</file>

<file path=ppt/slides/slide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1346FB-9883-4B84-9B52-E79A6B2C27BB}"/>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04 · EDA</a:t>
            </a:r>
          </a:p>
        </p:txBody>
      </p:sp>
      <p:sp>
        <p:nvSpPr>
          <p:cNvPr id="2" name="">
            <a:extLst xmlns:a="http://schemas.openxmlformats.org/drawingml/2006/main">
              <a:ext uri="{FF2B5EF4-FFF2-40B4-BE49-F238E27FC236}">
                <a16:creationId xmlns:a16="http://schemas.microsoft.com/office/drawing/2014/main" id="{33878350-1E79-415E-B6DF-F3CB2EC54B4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Quản lý và lương liên hệ mạnh nhất với rating</a:t>
            </a:r>
          </a:p>
        </p:txBody>
      </p:sp>
      <p:sp>
        <p:nvSpPr>
          <p:cNvPr id="3" name="">
            <a:extLst xmlns:a="http://schemas.openxmlformats.org/drawingml/2006/main">
              <a:ext uri="{FF2B5EF4-FFF2-40B4-BE49-F238E27FC236}">
                <a16:creationId xmlns:a16="http://schemas.microsoft.com/office/drawing/2014/main" id="{30696153-3FF8-4361-9C51-72CC3478D7E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9ECD4F-2F1F-4A0D-B791-34670FBE7BA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05 / 15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3f4e884f7034a0a"/>
          <a:stretch xmlns:a="http://schemas.openxmlformats.org/drawingml/2006/main"/>
        </p:blipFill>
        <p:spPr>
          <a:xfrm xmlns:a="http://schemas.openxmlformats.org/drawingml/2006/main">
            <a:off x="1405805" y="1619250"/>
            <a:ext cx="497984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F7041F-4DC4-41C0-AB5E-7705729BE32C}"/>
              </a:ext>
            </a:extLst>
          </p:cNvPr>
          <p:cNvSpPr>
            <a:spLocks xmlns:a="http://schemas.openxmlformats.org/drawingml/2006/main" noGrp="1"/>
          </p:cNvSpPr>
          <p:nvPr/>
        </p:nvSpPr>
        <p:spPr>
          <a:xfrm xmlns:a="http://schemas.openxmlformats.org/drawingml/2006/main">
            <a:off x="7810500" y="17907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MANAGEMENT VS RATING</a:t>
            </a:r>
          </a:p>
        </p:txBody>
      </p:sp>
      <p:sp>
        <p:nvSpPr>
          <p:cNvPr id="7" name="">
            <a:extLst xmlns:a="http://schemas.openxmlformats.org/drawingml/2006/main">
              <a:ext uri="{FF2B5EF4-FFF2-40B4-BE49-F238E27FC236}">
                <a16:creationId xmlns:a16="http://schemas.microsoft.com/office/drawing/2014/main" id="{C3C7E627-7A9E-4B74-A067-2326AA9A11CA}"/>
              </a:ext>
            </a:extLst>
          </p:cNvPr>
          <p:cNvSpPr>
            <a:spLocks xmlns:a="http://schemas.openxmlformats.org/drawingml/2006/main" noGrp="1"/>
          </p:cNvSpPr>
          <p:nvPr/>
        </p:nvSpPr>
        <p:spPr>
          <a:xfrm xmlns:a="http://schemas.openxmlformats.org/drawingml/2006/main">
            <a:off x="7810500" y="20574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0,7368</a:t>
            </a:r>
          </a:p>
        </p:txBody>
      </p:sp>
      <p:sp>
        <p:nvSpPr>
          <p:cNvPr id="8" name="">
            <a:extLst xmlns:a="http://schemas.openxmlformats.org/drawingml/2006/main">
              <a:ext uri="{FF2B5EF4-FFF2-40B4-BE49-F238E27FC236}">
                <a16:creationId xmlns:a16="http://schemas.microsoft.com/office/drawing/2014/main" id="{B68D05DA-E07F-431A-B6F1-05E0A53E7085}"/>
              </a:ext>
            </a:extLst>
          </p:cNvPr>
          <p:cNvSpPr>
            <a:spLocks xmlns:a="http://schemas.openxmlformats.org/drawingml/2006/main" noGrp="1"/>
          </p:cNvSpPr>
          <p:nvPr/>
        </p:nvSpPr>
        <p:spPr>
          <a:xfrm xmlns:a="http://schemas.openxmlformats.org/drawingml/2006/main">
            <a:off x="7810500" y="27813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SALARY VS RATING</a:t>
            </a:r>
          </a:p>
        </p:txBody>
      </p:sp>
      <p:sp>
        <p:nvSpPr>
          <p:cNvPr id="9" name="">
            <a:extLst xmlns:a="http://schemas.openxmlformats.org/drawingml/2006/main">
              <a:ext uri="{FF2B5EF4-FFF2-40B4-BE49-F238E27FC236}">
                <a16:creationId xmlns:a16="http://schemas.microsoft.com/office/drawing/2014/main" id="{37214B89-FDBB-45BD-821A-5B592B9454FD}"/>
              </a:ext>
            </a:extLst>
          </p:cNvPr>
          <p:cNvSpPr>
            <a:spLocks xmlns:a="http://schemas.openxmlformats.org/drawingml/2006/main" noGrp="1"/>
          </p:cNvSpPr>
          <p:nvPr/>
        </p:nvSpPr>
        <p:spPr>
          <a:xfrm xmlns:a="http://schemas.openxmlformats.org/drawingml/2006/main">
            <a:off x="7810500" y="30480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0,7343</a:t>
            </a:r>
          </a:p>
        </p:txBody>
      </p:sp>
      <p:sp>
        <p:nvSpPr>
          <p:cNvPr id="10" name="">
            <a:extLst xmlns:a="http://schemas.openxmlformats.org/drawingml/2006/main">
              <a:ext uri="{FF2B5EF4-FFF2-40B4-BE49-F238E27FC236}">
                <a16:creationId xmlns:a16="http://schemas.microsoft.com/office/drawing/2014/main" id="{94C804C6-3018-4620-AFE7-7233228ABAF2}"/>
              </a:ext>
            </a:extLst>
          </p:cNvPr>
          <p:cNvSpPr>
            <a:spLocks xmlns:a="http://schemas.openxmlformats.org/drawingml/2006/main" noGrp="1"/>
          </p:cNvSpPr>
          <p:nvPr/>
        </p:nvSpPr>
        <p:spPr>
          <a:xfrm xmlns:a="http://schemas.openxmlformats.org/drawingml/2006/main">
            <a:off x="7810500" y="37719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OFFICE VS RATING</a:t>
            </a:r>
          </a:p>
        </p:txBody>
      </p:sp>
      <p:sp>
        <p:nvSpPr>
          <p:cNvPr id="11" name="">
            <a:extLst xmlns:a="http://schemas.openxmlformats.org/drawingml/2006/main">
              <a:ext uri="{FF2B5EF4-FFF2-40B4-BE49-F238E27FC236}">
                <a16:creationId xmlns:a16="http://schemas.microsoft.com/office/drawing/2014/main" id="{740B3EE6-2A9A-4D56-B368-9400F3A1BB33}"/>
              </a:ext>
            </a:extLst>
          </p:cNvPr>
          <p:cNvSpPr>
            <a:spLocks xmlns:a="http://schemas.openxmlformats.org/drawingml/2006/main" noGrp="1"/>
          </p:cNvSpPr>
          <p:nvPr/>
        </p:nvSpPr>
        <p:spPr>
          <a:xfrm xmlns:a="http://schemas.openxmlformats.org/drawingml/2006/main">
            <a:off x="7810500" y="40386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0,5423</a:t>
            </a:r>
          </a:p>
        </p:txBody>
      </p:sp>
      <p:sp>
        <p:nvSpPr>
          <p:cNvPr id="12" name="">
            <a:extLst xmlns:a="http://schemas.openxmlformats.org/drawingml/2006/main">
              <a:ext uri="{FF2B5EF4-FFF2-40B4-BE49-F238E27FC236}">
                <a16:creationId xmlns:a16="http://schemas.microsoft.com/office/drawing/2014/main" id="{36BF3FC0-34CF-4DB0-8F26-78F5A2929D13}"/>
              </a:ext>
            </a:extLst>
          </p:cNvPr>
          <p:cNvSpPr>
            <a:spLocks xmlns:a="http://schemas.openxmlformats.org/drawingml/2006/main" noGrp="1"/>
          </p:cNvSpPr>
          <p:nvPr/>
        </p:nvSpPr>
        <p:spPr>
          <a:xfrm xmlns:a="http://schemas.openxmlformats.org/drawingml/2006/main">
            <a:off x="7810500" y="47815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02"/>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Các điểm khía cạnh là tín hiệu dự báo rất mạnh nhưng không có ở đầu vào dự đoán review tự do. Dự án chỉ dùng chúng cho phân tích chẩn đoán.</a:t>
            </a:r>
          </a:p>
        </p:txBody>
      </p:sp>
    </p:spTree>
    <p:extLst>
      <p:ext uri="{BB962C8B-B14F-4D97-AF65-F5344CB8AC3E}">
        <p14:creationId xmlns:p14="http://schemas.microsoft.com/office/powerpoint/2010/main" val="962885509"/>
      </p:ext>
    </p:extLst>
  </p:cSld>
</p:sld>
</file>

<file path=ppt/slides/slide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919C34-ADEE-4835-8862-80CB7F3112F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05 · ĐẶC TRƯNG</a:t>
            </a:r>
          </a:p>
        </p:txBody>
      </p:sp>
      <p:sp>
        <p:nvSpPr>
          <p:cNvPr id="2" name="">
            <a:extLst xmlns:a="http://schemas.openxmlformats.org/drawingml/2006/main">
              <a:ext uri="{FF2B5EF4-FFF2-40B4-BE49-F238E27FC236}">
                <a16:creationId xmlns:a16="http://schemas.microsoft.com/office/drawing/2014/main" id="{4DC38D30-9B20-4D3F-88A7-CAE36243062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Bigram cải thiện Macro F1 thêm 0,0153</a:t>
            </a:r>
          </a:p>
        </p:txBody>
      </p:sp>
      <p:sp>
        <p:nvSpPr>
          <p:cNvPr id="3" name="">
            <a:extLst xmlns:a="http://schemas.openxmlformats.org/drawingml/2006/main">
              <a:ext uri="{FF2B5EF4-FFF2-40B4-BE49-F238E27FC236}">
                <a16:creationId xmlns:a16="http://schemas.microsoft.com/office/drawing/2014/main" id="{FB81D325-5003-4C7F-9562-B2C7B7FE58C6}"/>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6DC1FE-228F-4F1B-A686-D79BDC92F421}"/>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06 / 15</a:t>
            </a:r>
          </a:p>
        </p:txBody>
      </p:sp>
      <p:graphicFrame>
        <p:nvGraphicFramePr>
          <p:cNvPr id="26" name="Chart"/>
          <p:cNvGraphicFramePr/>
          <p:nvPr/>
        </p:nvGraphicFramePr>
        <p:xfrm>
          <a:off xmlns:a="http://schemas.openxmlformats.org/drawingml/2006/main" x="609600" y="1666875"/>
          <a:ext xmlns:a="http://schemas.openxmlformats.org/drawingml/2006/main" cx="6572250" cy="3810000"/>
        </p:xfrm>
        <a:graphic xmlns:a="http://schemas.openxmlformats.org/drawingml/2006/main">
          <a:graphicData uri="http://schemas.openxmlformats.org/drawingml/2006/chart">
            <c:chart xmlns:r="http://schemas.openxmlformats.org/officeDocument/2006/relationships" xmlns:c="http://schemas.openxmlformats.org/drawingml/2006/chart" r:id="Rb17d24a0874d4fb8"/>
          </a:graphicData>
        </a:graphic>
      </p:graphicFrame>
      <p:sp>
        <p:nvSpPr>
          <p:cNvPr id="6" name="">
            <a:extLst xmlns:a="http://schemas.openxmlformats.org/drawingml/2006/main">
              <a:ext uri="{FF2B5EF4-FFF2-40B4-BE49-F238E27FC236}">
                <a16:creationId xmlns:a16="http://schemas.microsoft.com/office/drawing/2014/main" id="{3A489022-9F1A-40B7-BC4B-FCC8855A61E8}"/>
              </a:ext>
            </a:extLst>
          </p:cNvPr>
          <p:cNvSpPr>
            <a:spLocks xmlns:a="http://schemas.openxmlformats.org/drawingml/2006/main" noGrp="1"/>
          </p:cNvSpPr>
          <p:nvPr/>
        </p:nvSpPr>
        <p:spPr>
          <a:xfrm xmlns:a="http://schemas.openxmlformats.org/drawingml/2006/main">
            <a:off x="6096000" y="177165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23CCDB39-4652-4ECD-B90E-9D82B9C4ED3D}"/>
              </a:ext>
            </a:extLst>
          </p:cNvPr>
          <p:cNvSpPr>
            <a:spLocks xmlns:a="http://schemas.openxmlformats.org/drawingml/2006/main" noGrp="1"/>
          </p:cNvSpPr>
          <p:nvPr/>
        </p:nvSpPr>
        <p:spPr>
          <a:xfrm xmlns:a="http://schemas.openxmlformats.org/drawingml/2006/main">
            <a:off x="7762875" y="18288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A98F35-398F-4A65-A9BE-08D5B392C3CC}"/>
              </a:ext>
            </a:extLst>
          </p:cNvPr>
          <p:cNvSpPr>
            <a:spLocks xmlns:a="http://schemas.openxmlformats.org/drawingml/2006/main" noGrp="1"/>
          </p:cNvSpPr>
          <p:nvPr/>
        </p:nvSpPr>
        <p:spPr>
          <a:xfrm xmlns:a="http://schemas.openxmlformats.org/drawingml/2006/main">
            <a:off x="7953375" y="17621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5.000 đặc trưng</a:t>
            </a:r>
          </a:p>
        </p:txBody>
      </p:sp>
      <p:sp>
        <p:nvSpPr>
          <p:cNvPr id="9" name="">
            <a:extLst xmlns:a="http://schemas.openxmlformats.org/drawingml/2006/main">
              <a:ext uri="{FF2B5EF4-FFF2-40B4-BE49-F238E27FC236}">
                <a16:creationId xmlns:a16="http://schemas.microsoft.com/office/drawing/2014/main" id="{BAD2D221-5B6F-47A6-8467-6E20D16C3D12}"/>
              </a:ext>
            </a:extLst>
          </p:cNvPr>
          <p:cNvSpPr>
            <a:spLocks xmlns:a="http://schemas.openxmlformats.org/drawingml/2006/main" noGrp="1"/>
          </p:cNvSpPr>
          <p:nvPr/>
        </p:nvSpPr>
        <p:spPr>
          <a:xfrm xmlns:a="http://schemas.openxmlformats.org/drawingml/2006/main">
            <a:off x="7953375" y="20478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Giới hạn từ vựng để giữ ma trận gọn.</a:t>
            </a:r>
          </a:p>
        </p:txBody>
      </p:sp>
      <p:sp>
        <p:nvSpPr>
          <p:cNvPr id="10" name="">
            <a:extLst xmlns:a="http://schemas.openxmlformats.org/drawingml/2006/main">
              <a:ext uri="{FF2B5EF4-FFF2-40B4-BE49-F238E27FC236}">
                <a16:creationId xmlns:a16="http://schemas.microsoft.com/office/drawing/2014/main" id="{49000E1E-260B-4F2B-B098-855433C1E962}"/>
              </a:ext>
            </a:extLst>
          </p:cNvPr>
          <p:cNvSpPr>
            <a:spLocks xmlns:a="http://schemas.openxmlformats.org/drawingml/2006/main" noGrp="1"/>
          </p:cNvSpPr>
          <p:nvPr/>
        </p:nvSpPr>
        <p:spPr>
          <a:xfrm xmlns:a="http://schemas.openxmlformats.org/drawingml/2006/main">
            <a:off x="7762875" y="27051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F9411C-A339-469E-9A23-F766DA93F86B}"/>
              </a:ext>
            </a:extLst>
          </p:cNvPr>
          <p:cNvSpPr>
            <a:spLocks xmlns:a="http://schemas.openxmlformats.org/drawingml/2006/main" noGrp="1"/>
          </p:cNvSpPr>
          <p:nvPr/>
        </p:nvSpPr>
        <p:spPr>
          <a:xfrm xmlns:a="http://schemas.openxmlformats.org/drawingml/2006/main">
            <a:off x="7953375" y="26384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sublinear_tf = True</a:t>
            </a:r>
          </a:p>
        </p:txBody>
      </p:sp>
      <p:sp>
        <p:nvSpPr>
          <p:cNvPr id="12" name="">
            <a:extLst xmlns:a="http://schemas.openxmlformats.org/drawingml/2006/main">
              <a:ext uri="{FF2B5EF4-FFF2-40B4-BE49-F238E27FC236}">
                <a16:creationId xmlns:a16="http://schemas.microsoft.com/office/drawing/2014/main" id="{D953DAF8-7181-4AA6-B3BF-BAC9452A933B}"/>
              </a:ext>
            </a:extLst>
          </p:cNvPr>
          <p:cNvSpPr>
            <a:spLocks xmlns:a="http://schemas.openxmlformats.org/drawingml/2006/main" noGrp="1"/>
          </p:cNvSpPr>
          <p:nvPr/>
        </p:nvSpPr>
        <p:spPr>
          <a:xfrm xmlns:a="http://schemas.openxmlformats.org/drawingml/2006/main">
            <a:off x="7953375" y="29241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Giảm ảnh hưởng của từ lặp nhiều lần.</a:t>
            </a:r>
          </a:p>
        </p:txBody>
      </p:sp>
      <p:sp>
        <p:nvSpPr>
          <p:cNvPr id="13" name="">
            <a:extLst xmlns:a="http://schemas.openxmlformats.org/drawingml/2006/main">
              <a:ext uri="{FF2B5EF4-FFF2-40B4-BE49-F238E27FC236}">
                <a16:creationId xmlns:a16="http://schemas.microsoft.com/office/drawing/2014/main" id="{7C392CD0-16E3-45AA-A6E5-FE237CC73DA4}"/>
              </a:ext>
            </a:extLst>
          </p:cNvPr>
          <p:cNvSpPr>
            <a:spLocks xmlns:a="http://schemas.openxmlformats.org/drawingml/2006/main" noGrp="1"/>
          </p:cNvSpPr>
          <p:nvPr/>
        </p:nvSpPr>
        <p:spPr>
          <a:xfrm xmlns:a="http://schemas.openxmlformats.org/drawingml/2006/main">
            <a:off x="7762875" y="358140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49E707-6702-4146-9F93-83B38829A541}"/>
              </a:ext>
            </a:extLst>
          </p:cNvPr>
          <p:cNvSpPr>
            <a:spLocks xmlns:a="http://schemas.openxmlformats.org/drawingml/2006/main" noGrp="1"/>
          </p:cNvSpPr>
          <p:nvPr/>
        </p:nvSpPr>
        <p:spPr>
          <a:xfrm xmlns:a="http://schemas.openxmlformats.org/drawingml/2006/main">
            <a:off x="7953375" y="35147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min_df = 2</a:t>
            </a:r>
          </a:p>
        </p:txBody>
      </p:sp>
      <p:sp>
        <p:nvSpPr>
          <p:cNvPr id="15" name="">
            <a:extLst xmlns:a="http://schemas.openxmlformats.org/drawingml/2006/main">
              <a:ext uri="{FF2B5EF4-FFF2-40B4-BE49-F238E27FC236}">
                <a16:creationId xmlns:a16="http://schemas.microsoft.com/office/drawing/2014/main" id="{D6AA8A7C-F8D3-453D-B741-BB219B3FB5A6}"/>
              </a:ext>
            </a:extLst>
          </p:cNvPr>
          <p:cNvSpPr>
            <a:spLocks xmlns:a="http://schemas.openxmlformats.org/drawingml/2006/main" noGrp="1"/>
          </p:cNvSpPr>
          <p:nvPr/>
        </p:nvSpPr>
        <p:spPr>
          <a:xfrm xmlns:a="http://schemas.openxmlformats.org/drawingml/2006/main">
            <a:off x="7953375" y="38004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Loại các token chỉ xuất hiện một lần.</a:t>
            </a:r>
          </a:p>
        </p:txBody>
      </p:sp>
      <p:sp>
        <p:nvSpPr>
          <p:cNvPr id="16" name="">
            <a:extLst xmlns:a="http://schemas.openxmlformats.org/drawingml/2006/main">
              <a:ext uri="{FF2B5EF4-FFF2-40B4-BE49-F238E27FC236}">
                <a16:creationId xmlns:a16="http://schemas.microsoft.com/office/drawing/2014/main" id="{3E10CC3C-E96C-4F72-85D3-73B428CB337C}"/>
              </a:ext>
            </a:extLst>
          </p:cNvPr>
          <p:cNvSpPr>
            <a:spLocks xmlns:a="http://schemas.openxmlformats.org/drawingml/2006/main" noGrp="1"/>
          </p:cNvSpPr>
          <p:nvPr/>
        </p:nvSpPr>
        <p:spPr>
          <a:xfrm xmlns:a="http://schemas.openxmlformats.org/drawingml/2006/main">
            <a:off x="7762875" y="4457700"/>
            <a:ext cx="3286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A2FCAB-3C22-467A-9D66-31C01E1D4D24}"/>
              </a:ext>
            </a:extLst>
          </p:cNvPr>
          <p:cNvSpPr>
            <a:spLocks xmlns:a="http://schemas.openxmlformats.org/drawingml/2006/main" noGrp="1"/>
          </p:cNvSpPr>
          <p:nvPr/>
        </p:nvSpPr>
        <p:spPr>
          <a:xfrm xmlns:a="http://schemas.openxmlformats.org/drawingml/2006/main">
            <a:off x="7762875" y="47148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8.414 review mô hình hóa</a:t>
            </a:r>
          </a:p>
        </p:txBody>
      </p:sp>
      <p:sp>
        <p:nvSpPr>
          <p:cNvPr id="18" name="">
            <a:extLst xmlns:a="http://schemas.openxmlformats.org/drawingml/2006/main">
              <a:ext uri="{FF2B5EF4-FFF2-40B4-BE49-F238E27FC236}">
                <a16:creationId xmlns:a16="http://schemas.microsoft.com/office/drawing/2014/main" id="{F2B9C8E7-FFE5-4FE5-997D-6BB6A047C8CC}"/>
              </a:ext>
            </a:extLst>
          </p:cNvPr>
          <p:cNvSpPr>
            <a:spLocks xmlns:a="http://schemas.openxmlformats.org/drawingml/2006/main" noGrp="1"/>
          </p:cNvSpPr>
          <p:nvPr/>
        </p:nvSpPr>
        <p:spPr>
          <a:xfrm xmlns:a="http://schemas.openxmlformats.org/drawingml/2006/main">
            <a:off x="7762875" y="509587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Development 6.731  |  Final Test 1.683</a:t>
            </a:r>
          </a:p>
        </p:txBody>
      </p:sp>
      <p:sp>
        <p:nvSpPr>
          <p:cNvPr id="19" name="">
            <a:extLst xmlns:a="http://schemas.openxmlformats.org/drawingml/2006/main">
              <a:ext uri="{FF2B5EF4-FFF2-40B4-BE49-F238E27FC236}">
                <a16:creationId xmlns:a16="http://schemas.microsoft.com/office/drawing/2014/main" id="{A98A9D35-E666-4B42-8BC7-00C69787FF43}"/>
              </a:ext>
            </a:extLst>
          </p:cNvPr>
          <p:cNvSpPr>
            <a:spLocks xmlns:a="http://schemas.openxmlformats.org/drawingml/2006/main" noGrp="1"/>
          </p:cNvSpPr>
          <p:nvPr/>
        </p:nvSpPr>
        <p:spPr>
          <a:xfrm xmlns:a="http://schemas.openxmlformats.org/drawingml/2006/main">
            <a:off x="7762875" y="566737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buNone/>
              <a:defRPr sz="1200" b="0">
                <a:solidFill>
                  <a:srgbClr val="FF9C5A"/>
                </a:solidFill>
                <a:latin typeface="Helvetica Neue"/>
                <a:ea typeface="Helvetica Neue"/>
                <a:cs typeface="Helvetica Neue"/>
              </a:defRPr>
            </a:pPr>
            <a:r>
              <a:rPr sz="1200" b="0">
                <a:solidFill>
                  <a:srgbClr val="FF9C5A"/>
                </a:solidFill>
                <a:latin typeface="Helvetica Neue"/>
                <a:ea typeface="Helvetica Neue"/>
                <a:cs typeface="Helvetica Neue"/>
              </a:rPr>
              <a:t>Stratified split, seed 2026</a:t>
            </a:r>
          </a:p>
        </p:txBody>
      </p:sp>
    </p:spTree>
    <p:extLst>
      <p:ext uri="{BB962C8B-B14F-4D97-AF65-F5344CB8AC3E}">
        <p14:creationId xmlns:p14="http://schemas.microsoft.com/office/powerpoint/2010/main" val="1015209260"/>
      </p:ext>
    </p:extLst>
  </p:cSld>
</p:sld>
</file>

<file path=ppt/slides/slide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06 · MÔ HÌNH</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Năm mô hình dùng cùng một contract TF-IDF</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07 / 15</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MNB</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Naive Bayes</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LR</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6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Logistic Regression</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SVM</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Linear SVM</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RF</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Random Forest</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STK</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Stacking</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SMOTE nằm bên trong từng fold huấn luyện</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Train fold</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4/5 Development</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SMOTE</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Chỉ resample train fold</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Fit model</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78"/>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Học trên dữ liệu cân bằng</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Validate</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41"/>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Giữ nguyên validation fold</a:t>
            </a:r>
          </a:p>
        </p:txBody>
      </p:sp>
      <p:cxnSp>
        <p:nvCxnSpPr>
          <p:cNvPr id="123"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24"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25"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Validation fold không chứa mẫu tổng hợp, nhờ đó điểm CV không bị lạc quan giả tạo.</a:t>
            </a:r>
          </a:p>
        </p:txBody>
      </p:sp>
    </p:spTree>
    <p:extLst>
      <p:ext uri="{BB962C8B-B14F-4D97-AF65-F5344CB8AC3E}">
        <p14:creationId xmlns:p14="http://schemas.microsoft.com/office/powerpoint/2010/main" val="541120587"/>
      </p:ext>
    </p:extLst>
  </p:cSld>
</p:sld>
</file>

<file path=ppt/slides/slide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7FA182F-0908-4E57-9A12-4E138083E96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07 · KẾT QUẢ CV</a:t>
            </a:r>
          </a:p>
        </p:txBody>
      </p:sp>
      <p:sp>
        <p:nvSpPr>
          <p:cNvPr id="2" name="">
            <a:extLst xmlns:a="http://schemas.openxmlformats.org/drawingml/2006/main">
              <a:ext uri="{FF2B5EF4-FFF2-40B4-BE49-F238E27FC236}">
                <a16:creationId xmlns:a16="http://schemas.microsoft.com/office/drawing/2014/main" id="{FC5F577A-0EB8-43DA-AD4D-297104511F4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Xếp hạng gốc – Logistic Regression cải thiện sau sửa lỗi</a:t>
            </a:r>
          </a:p>
        </p:txBody>
      </p:sp>
      <p:sp>
        <p:nvSpPr>
          <p:cNvPr id="3" name="">
            <a:extLst xmlns:a="http://schemas.openxmlformats.org/drawingml/2006/main">
              <a:ext uri="{FF2B5EF4-FFF2-40B4-BE49-F238E27FC236}">
                <a16:creationId xmlns:a16="http://schemas.microsoft.com/office/drawing/2014/main" id="{ED192AA7-9359-4F1B-AFC4-8DEC23BA39E3}"/>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94A6B5EA-4EFC-4D79-BE18-D343F194D13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08 / 15</a:t>
            </a:r>
          </a:p>
        </p:txBody>
      </p:sp>
      <p:graphicFrame>
        <p:nvGraphicFramePr>
          <p:cNvPr id="25" name="Chart"/>
          <p:cNvGraphicFramePr/>
          <p:nvPr/>
        </p:nvGraphicFramePr>
        <p:xfrm>
          <a:off xmlns:a="http://schemas.openxmlformats.org/drawingml/2006/main" x="609600" y="1600200"/>
          <a:ext xmlns:a="http://schemas.openxmlformats.org/drawingml/2006/main" cx="7239000" cy="4333875"/>
        </p:xfrm>
        <a:graphic xmlns:a="http://schemas.openxmlformats.org/drawingml/2006/main">
          <a:graphicData uri="http://schemas.openxmlformats.org/drawingml/2006/chart">
            <c:chart xmlns:r="http://schemas.openxmlformats.org/officeDocument/2006/relationships" xmlns:c="http://schemas.openxmlformats.org/drawingml/2006/chart" r:id="Re88c139d27314149"/>
          </a:graphicData>
        </a:graphic>
      </p:graphicFrame>
      <p:sp>
        <p:nvSpPr>
          <p:cNvPr id="6" name="">
            <a:extLst xmlns:a="http://schemas.openxmlformats.org/drawingml/2006/main">
              <a:ext uri="{FF2B5EF4-FFF2-40B4-BE49-F238E27FC236}">
                <a16:creationId xmlns:a16="http://schemas.microsoft.com/office/drawing/2014/main" id="{25159D7C-679E-4FDD-840C-87DF4EE99531}"/>
              </a:ext>
            </a:extLst>
          </p:cNvPr>
          <p:cNvSpPr>
            <a:spLocks xmlns:a="http://schemas.openxmlformats.org/drawingml/2006/main" noGrp="1"/>
          </p:cNvSpPr>
          <p:nvPr/>
        </p:nvSpPr>
        <p:spPr>
          <a:xfrm xmlns:a="http://schemas.openxmlformats.org/drawingml/2006/main">
            <a:off x="6667500" y="169545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6AEF6F29-6B7E-46A0-B1F6-6671FA88CEEF}"/>
              </a:ext>
            </a:extLst>
          </p:cNvPr>
          <p:cNvSpPr>
            <a:spLocks xmlns:a="http://schemas.openxmlformats.org/drawingml/2006/main" noGrp="1"/>
          </p:cNvSpPr>
          <p:nvPr/>
        </p:nvSpPr>
        <p:spPr>
          <a:xfrm xmlns:a="http://schemas.openxmlformats.org/drawingml/2006/main">
            <a:off x="8382000" y="1790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KHOẢNG CÁCH TOP 2</a:t>
            </a:r>
          </a:p>
        </p:txBody>
      </p:sp>
      <p:sp>
        <p:nvSpPr>
          <p:cNvPr id="8" name="">
            <a:extLst xmlns:a="http://schemas.openxmlformats.org/drawingml/2006/main">
              <a:ext uri="{FF2B5EF4-FFF2-40B4-BE49-F238E27FC236}">
                <a16:creationId xmlns:a16="http://schemas.microsoft.com/office/drawing/2014/main" id="{B3709D8C-31E9-4693-882A-0BA0F85C1B96}"/>
              </a:ext>
            </a:extLst>
          </p:cNvPr>
          <p:cNvSpPr>
            <a:spLocks xmlns:a="http://schemas.openxmlformats.org/drawingml/2006/main" noGrp="1"/>
          </p:cNvSpPr>
          <p:nvPr/>
        </p:nvSpPr>
        <p:spPr>
          <a:xfrm xmlns:a="http://schemas.openxmlformats.org/drawingml/2006/main">
            <a:off x="8382000" y="20574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0,0003</a:t>
            </a:r>
          </a:p>
        </p:txBody>
      </p:sp>
      <p:sp>
        <p:nvSpPr>
          <p:cNvPr id="9" name="">
            <a:extLst xmlns:a="http://schemas.openxmlformats.org/drawingml/2006/main">
              <a:ext uri="{FF2B5EF4-FFF2-40B4-BE49-F238E27FC236}">
                <a16:creationId xmlns:a16="http://schemas.microsoft.com/office/drawing/2014/main" id="{B3A64D59-B72F-4C58-B689-B3A1D61B9F74}"/>
              </a:ext>
            </a:extLst>
          </p:cNvPr>
          <p:cNvSpPr>
            <a:spLocks xmlns:a="http://schemas.openxmlformats.org/drawingml/2006/main" noGrp="1"/>
          </p:cNvSpPr>
          <p:nvPr/>
        </p:nvSpPr>
        <p:spPr>
          <a:xfrm xmlns:a="http://schemas.openxmlformats.org/drawingml/2006/main">
            <a:off x="8382000" y="28575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Model được triển khai</a:t>
            </a:r>
          </a:p>
        </p:txBody>
      </p:sp>
      <p:sp>
        <p:nvSpPr>
          <p:cNvPr id="10" name="">
            <a:extLst xmlns:a="http://schemas.openxmlformats.org/drawingml/2006/main">
              <a:ext uri="{FF2B5EF4-FFF2-40B4-BE49-F238E27FC236}">
                <a16:creationId xmlns:a16="http://schemas.microsoft.com/office/drawing/2014/main" id="{85B1365E-BC85-4325-BF91-0FB7547333D6}"/>
              </a:ext>
            </a:extLst>
          </p:cNvPr>
          <p:cNvSpPr>
            <a:spLocks xmlns:a="http://schemas.openxmlformats.org/drawingml/2006/main" noGrp="1"/>
          </p:cNvSpPr>
          <p:nvPr/>
        </p:nvSpPr>
        <p:spPr>
          <a:xfrm xmlns:a="http://schemas.openxmlformats.org/drawingml/2006/main">
            <a:off x="8382000" y="34575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045119EA-7A08-4E44-B9C2-800843F30EB7}"/>
              </a:ext>
            </a:extLst>
          </p:cNvPr>
          <p:cNvSpPr>
            <a:spLocks xmlns:a="http://schemas.openxmlformats.org/drawingml/2006/main" noGrp="1"/>
          </p:cNvSpPr>
          <p:nvPr/>
        </p:nvSpPr>
        <p:spPr>
          <a:xfrm xmlns:a="http://schemas.openxmlformats.org/drawingml/2006/main">
            <a:off x="8572500" y="33909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Bảng 5 model ban đầu</a:t>
            </a:r>
          </a:p>
        </p:txBody>
      </p:sp>
      <p:sp>
        <p:nvSpPr>
          <p:cNvPr id="12" name="">
            <a:extLst xmlns:a="http://schemas.openxmlformats.org/drawingml/2006/main">
              <a:ext uri="{FF2B5EF4-FFF2-40B4-BE49-F238E27FC236}">
                <a16:creationId xmlns:a16="http://schemas.microsoft.com/office/drawing/2014/main" id="{73853048-7C0F-4BA1-A6E2-DB24FA9669B7}"/>
              </a:ext>
            </a:extLst>
          </p:cNvPr>
          <p:cNvSpPr>
            <a:spLocks xmlns:a="http://schemas.openxmlformats.org/drawingml/2006/main" noGrp="1"/>
          </p:cNvSpPr>
          <p:nvPr/>
        </p:nvSpPr>
        <p:spPr>
          <a:xfrm xmlns:a="http://schemas.openxmlformats.org/drawingml/2006/main">
            <a:off x="8572500" y="3676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LR đạt 0,5727, hơn SVM 0,0003.</a:t>
            </a:r>
          </a:p>
        </p:txBody>
      </p:sp>
      <p:sp>
        <p:nvSpPr>
          <p:cNvPr id="13" name="">
            <a:extLst xmlns:a="http://schemas.openxmlformats.org/drawingml/2006/main">
              <a:ext uri="{FF2B5EF4-FFF2-40B4-BE49-F238E27FC236}">
                <a16:creationId xmlns:a16="http://schemas.microsoft.com/office/drawing/2014/main" id="{AD30B131-5F26-4921-9207-0BC585453F1D}"/>
              </a:ext>
            </a:extLst>
          </p:cNvPr>
          <p:cNvSpPr>
            <a:spLocks xmlns:a="http://schemas.openxmlformats.org/drawingml/2006/main" noGrp="1"/>
          </p:cNvSpPr>
          <p:nvPr/>
        </p:nvSpPr>
        <p:spPr>
          <a:xfrm xmlns:a="http://schemas.openxmlformats.org/drawingml/2006/main">
            <a:off x="8382000" y="42005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2BA9D95-CBAD-4225-AACC-3646FCA3E781}"/>
              </a:ext>
            </a:extLst>
          </p:cNvPr>
          <p:cNvSpPr>
            <a:spLocks xmlns:a="http://schemas.openxmlformats.org/drawingml/2006/main" noGrp="1"/>
          </p:cNvSpPr>
          <p:nvPr/>
        </p:nvSpPr>
        <p:spPr>
          <a:xfrm xmlns:a="http://schemas.openxmlformats.org/drawingml/2006/main">
            <a:off x="8572500" y="41338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Sau sửa tiền xử lý</a:t>
            </a:r>
          </a:p>
        </p:txBody>
      </p:sp>
      <p:sp>
        <p:nvSpPr>
          <p:cNvPr id="15" name="">
            <a:extLst xmlns:a="http://schemas.openxmlformats.org/drawingml/2006/main">
              <a:ext uri="{FF2B5EF4-FFF2-40B4-BE49-F238E27FC236}">
                <a16:creationId xmlns:a16="http://schemas.microsoft.com/office/drawing/2014/main" id="{E9E476FC-A918-4088-9EEA-28D8518C4DC0}"/>
              </a:ext>
            </a:extLst>
          </p:cNvPr>
          <p:cNvSpPr>
            <a:spLocks xmlns:a="http://schemas.openxmlformats.org/drawingml/2006/main" noGrp="1"/>
          </p:cNvSpPr>
          <p:nvPr/>
        </p:nvSpPr>
        <p:spPr>
          <a:xfrm xmlns:a="http://schemas.openxmlformats.org/drawingml/2006/main">
            <a:off x="8572500" y="44196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CV riêng tăng từ 0,5708 lên 0,5815.</a:t>
            </a:r>
          </a:p>
        </p:txBody>
      </p:sp>
      <p:sp>
        <p:nvSpPr>
          <p:cNvPr id="16" name="">
            <a:extLst xmlns:a="http://schemas.openxmlformats.org/drawingml/2006/main">
              <a:ext uri="{FF2B5EF4-FFF2-40B4-BE49-F238E27FC236}">
                <a16:creationId xmlns:a16="http://schemas.microsoft.com/office/drawing/2014/main" id="{A841091B-5F41-4D98-94C1-F710AB82D3CB}"/>
              </a:ext>
            </a:extLst>
          </p:cNvPr>
          <p:cNvSpPr>
            <a:spLocks xmlns:a="http://schemas.openxmlformats.org/drawingml/2006/main" noGrp="1"/>
          </p:cNvSpPr>
          <p:nvPr/>
        </p:nvSpPr>
        <p:spPr>
          <a:xfrm xmlns:a="http://schemas.openxmlformats.org/drawingml/2006/main">
            <a:off x="8382000" y="49434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3C93D9D-7501-46F9-8B6E-98BB4A1EC992}"/>
              </a:ext>
            </a:extLst>
          </p:cNvPr>
          <p:cNvSpPr>
            <a:spLocks xmlns:a="http://schemas.openxmlformats.org/drawingml/2006/main" noGrp="1"/>
          </p:cNvSpPr>
          <p:nvPr/>
        </p:nvSpPr>
        <p:spPr>
          <a:xfrm xmlns:a="http://schemas.openxmlformats.org/drawingml/2006/main">
            <a:off x="8572500" y="48768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Giữ đúng phạm vi so sánh</a:t>
            </a:r>
          </a:p>
        </p:txBody>
      </p:sp>
      <p:sp>
        <p:nvSpPr>
          <p:cNvPr id="18" name="">
            <a:extLst xmlns:a="http://schemas.openxmlformats.org/drawingml/2006/main">
              <a:ext uri="{FF2B5EF4-FFF2-40B4-BE49-F238E27FC236}">
                <a16:creationId xmlns:a16="http://schemas.microsoft.com/office/drawing/2014/main" id="{CD912C63-3E14-4BB0-9F1F-D760D2B6EC89}"/>
              </a:ext>
            </a:extLst>
          </p:cNvPr>
          <p:cNvSpPr>
            <a:spLocks xmlns:a="http://schemas.openxmlformats.org/drawingml/2006/main" noGrp="1"/>
          </p:cNvSpPr>
          <p:nvPr/>
        </p:nvSpPr>
        <p:spPr>
          <a:xfrm xmlns:a="http://schemas.openxmlformats.org/drawingml/2006/main">
            <a:off x="8572500" y="51625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Chưa xếp hạng lại bốn model còn lại.</a:t>
            </a:r>
          </a:p>
        </p:txBody>
      </p:sp>
    </p:spTree>
    <p:extLst>
      <p:ext uri="{BB962C8B-B14F-4D97-AF65-F5344CB8AC3E}">
        <p14:creationId xmlns:p14="http://schemas.microsoft.com/office/powerpoint/2010/main" val="2097818050"/>
      </p:ext>
    </p:extLst>
  </p:cSld>
</p:sld>
</file>

<file path=ppt/slides/slide9.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4AC10B-E169-41CA-9D4C-0EF70830521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08 · FINAL TEST</a:t>
            </a:r>
          </a:p>
        </p:txBody>
      </p:sp>
      <p:sp>
        <p:nvSpPr>
          <p:cNvPr id="2" name="">
            <a:extLst xmlns:a="http://schemas.openxmlformats.org/drawingml/2006/main">
              <a:ext uri="{FF2B5EF4-FFF2-40B4-BE49-F238E27FC236}">
                <a16:creationId xmlns:a16="http://schemas.microsoft.com/office/drawing/2014/main" id="{27A5831D-8958-4B2E-ADE9-058DEC7D187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cải thiện nhẹ, nhưng lớp Negative vẫn khó</a:t>
            </a:r>
          </a:p>
        </p:txBody>
      </p:sp>
      <p:sp>
        <p:nvSpPr>
          <p:cNvPr id="3" name="">
            <a:extLst xmlns:a="http://schemas.openxmlformats.org/drawingml/2006/main">
              <a:ext uri="{FF2B5EF4-FFF2-40B4-BE49-F238E27FC236}">
                <a16:creationId xmlns:a16="http://schemas.microsoft.com/office/drawing/2014/main" id="{0C714709-191A-4638-AA48-C92C464D693A}"/>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F30C47E1-734D-4E2D-B991-3F83B02C4494}"/>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09 / 15</a:t>
            </a:r>
          </a:p>
        </p:txBody>
      </p:sp>
      <p:sp>
        <p:nvSpPr>
          <p:cNvPr id="5" name="">
            <a:extLst xmlns:a="http://schemas.openxmlformats.org/drawingml/2006/main">
              <a:ext uri="{FF2B5EF4-FFF2-40B4-BE49-F238E27FC236}">
                <a16:creationId xmlns:a16="http://schemas.microsoft.com/office/drawing/2014/main" id="{FD938610-E682-4E14-8B64-0900B9B6B3E4}"/>
              </a:ext>
            </a:extLst>
          </p:cNvPr>
          <p:cNvSpPr>
            <a:spLocks xmlns:a="http://schemas.openxmlformats.org/drawingml/2006/main" noGrp="1"/>
          </p:cNvSpPr>
          <p:nvPr/>
        </p:nvSpPr>
        <p:spPr>
          <a:xfrm xmlns:a="http://schemas.openxmlformats.org/drawingml/2006/main">
            <a:off x="6096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ACCURACY</a:t>
            </a:r>
          </a:p>
        </p:txBody>
      </p:sp>
      <p:sp>
        <p:nvSpPr>
          <p:cNvPr id="6" name="">
            <a:extLst xmlns:a="http://schemas.openxmlformats.org/drawingml/2006/main">
              <a:ext uri="{FF2B5EF4-FFF2-40B4-BE49-F238E27FC236}">
                <a16:creationId xmlns:a16="http://schemas.microsoft.com/office/drawing/2014/main" id="{2806F412-1E60-482E-86FA-80315A2F7507}"/>
              </a:ext>
            </a:extLst>
          </p:cNvPr>
          <p:cNvSpPr>
            <a:spLocks xmlns:a="http://schemas.openxmlformats.org/drawingml/2006/main" noGrp="1"/>
          </p:cNvSpPr>
          <p:nvPr/>
        </p:nvSpPr>
        <p:spPr>
          <a:xfrm xmlns:a="http://schemas.openxmlformats.org/drawingml/2006/main">
            <a:off x="6096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74,33%</a:t>
            </a:r>
          </a:p>
        </p:txBody>
      </p:sp>
      <p:sp>
        <p:nvSpPr>
          <p:cNvPr id="7" name="">
            <a:extLst xmlns:a="http://schemas.openxmlformats.org/drawingml/2006/main">
              <a:ext uri="{FF2B5EF4-FFF2-40B4-BE49-F238E27FC236}">
                <a16:creationId xmlns:a16="http://schemas.microsoft.com/office/drawing/2014/main" id="{11014145-A71D-492A-A984-6C7EEC21F4BA}"/>
              </a:ext>
            </a:extLst>
          </p:cNvPr>
          <p:cNvSpPr>
            <a:spLocks xmlns:a="http://schemas.openxmlformats.org/drawingml/2006/main" noGrp="1"/>
          </p:cNvSpPr>
          <p:nvPr/>
        </p:nvSpPr>
        <p:spPr>
          <a:xfrm xmlns:a="http://schemas.openxmlformats.org/drawingml/2006/main">
            <a:off x="31432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MACRO F1</a:t>
            </a:r>
          </a:p>
        </p:txBody>
      </p:sp>
      <p:sp>
        <p:nvSpPr>
          <p:cNvPr id="8" name="">
            <a:extLst xmlns:a="http://schemas.openxmlformats.org/drawingml/2006/main">
              <a:ext uri="{FF2B5EF4-FFF2-40B4-BE49-F238E27FC236}">
                <a16:creationId xmlns:a16="http://schemas.microsoft.com/office/drawing/2014/main" id="{86973245-40BB-4CD4-9920-A59097B71EA1}"/>
              </a:ext>
            </a:extLst>
          </p:cNvPr>
          <p:cNvSpPr>
            <a:spLocks xmlns:a="http://schemas.openxmlformats.org/drawingml/2006/main" noGrp="1"/>
          </p:cNvSpPr>
          <p:nvPr/>
        </p:nvSpPr>
        <p:spPr>
          <a:xfrm xmlns:a="http://schemas.openxmlformats.org/drawingml/2006/main">
            <a:off x="314325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0,5764</a:t>
            </a:r>
          </a:p>
        </p:txBody>
      </p:sp>
      <p:sp>
        <p:nvSpPr>
          <p:cNvPr id="9" name="">
            <a:extLst xmlns:a="http://schemas.openxmlformats.org/drawingml/2006/main">
              <a:ext uri="{FF2B5EF4-FFF2-40B4-BE49-F238E27FC236}">
                <a16:creationId xmlns:a16="http://schemas.microsoft.com/office/drawing/2014/main" id="{385B744C-40D1-403E-8D58-32D7016172E8}"/>
              </a:ext>
            </a:extLst>
          </p:cNvPr>
          <p:cNvSpPr>
            <a:spLocks xmlns:a="http://schemas.openxmlformats.org/drawingml/2006/main" noGrp="1"/>
          </p:cNvSpPr>
          <p:nvPr/>
        </p:nvSpPr>
        <p:spPr>
          <a:xfrm xmlns:a="http://schemas.openxmlformats.org/drawingml/2006/main">
            <a:off x="56769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WEIGHTED F1</a:t>
            </a:r>
          </a:p>
        </p:txBody>
      </p:sp>
      <p:sp>
        <p:nvSpPr>
          <p:cNvPr id="10" name="">
            <a:extLst xmlns:a="http://schemas.openxmlformats.org/drawingml/2006/main">
              <a:ext uri="{FF2B5EF4-FFF2-40B4-BE49-F238E27FC236}">
                <a16:creationId xmlns:a16="http://schemas.microsoft.com/office/drawing/2014/main" id="{3D44F531-BB01-4AC6-A0D6-6A2D57F6E8D2}"/>
              </a:ext>
            </a:extLst>
          </p:cNvPr>
          <p:cNvSpPr>
            <a:spLocks xmlns:a="http://schemas.openxmlformats.org/drawingml/2006/main" noGrp="1"/>
          </p:cNvSpPr>
          <p:nvPr/>
        </p:nvSpPr>
        <p:spPr>
          <a:xfrm xmlns:a="http://schemas.openxmlformats.org/drawingml/2006/main">
            <a:off x="56769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0,7540</a:t>
            </a:r>
          </a:p>
        </p:txBody>
      </p:sp>
      <p:sp>
        <p:nvSpPr>
          <p:cNvPr id="11" name="">
            <a:extLst xmlns:a="http://schemas.openxmlformats.org/drawingml/2006/main">
              <a:ext uri="{FF2B5EF4-FFF2-40B4-BE49-F238E27FC236}">
                <a16:creationId xmlns:a16="http://schemas.microsoft.com/office/drawing/2014/main" id="{78B347D5-31AB-4F7C-9D2F-56F268F9A006}"/>
              </a:ext>
            </a:extLst>
          </p:cNvPr>
          <p:cNvSpPr>
            <a:spLocks xmlns:a="http://schemas.openxmlformats.org/drawingml/2006/main" noGrp="1"/>
          </p:cNvSpPr>
          <p:nvPr/>
        </p:nvSpPr>
        <p:spPr>
          <a:xfrm xmlns:a="http://schemas.openxmlformats.org/drawingml/2006/main">
            <a:off x="82105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SAI</a:t>
            </a:r>
          </a:p>
        </p:txBody>
      </p:sp>
      <p:sp>
        <p:nvSpPr>
          <p:cNvPr id="12" name="">
            <a:extLst xmlns:a="http://schemas.openxmlformats.org/drawingml/2006/main">
              <a:ext uri="{FF2B5EF4-FFF2-40B4-BE49-F238E27FC236}">
                <a16:creationId xmlns:a16="http://schemas.microsoft.com/office/drawing/2014/main" id="{A4E5E532-32A8-4981-A2C3-4EAABBDAD2E6}"/>
              </a:ext>
            </a:extLst>
          </p:cNvPr>
          <p:cNvSpPr>
            <a:spLocks xmlns:a="http://schemas.openxmlformats.org/drawingml/2006/main" noGrp="1"/>
          </p:cNvSpPr>
          <p:nvPr/>
        </p:nvSpPr>
        <p:spPr>
          <a:xfrm xmlns:a="http://schemas.openxmlformats.org/drawingml/2006/main">
            <a:off x="821055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432 / 1.683</a:t>
            </a:r>
          </a:p>
        </p:txBody>
      </p:sp>
      <p:graphicFrame>
        <p:nvGraphicFramePr>
          <p:cNvPr id="32" name=""/>
          <p:cNvGraphicFramePr/>
          <p:nvPr/>
        </p:nvGraphicFramePr>
        <p:xfrm>
          <a:off xmlns:a="http://schemas.openxmlformats.org/drawingml/2006/main" x="609600" y="2667000"/>
          <a:ext xmlns:a="http://schemas.openxmlformats.org/drawingml/2006/main" cx="6191250" cy="2714625"/>
        </p:xfrm>
        <a:graphic xmlns:a="http://schemas.openxmlformats.org/drawingml/2006/main">
          <a:graphicData uri="http://schemas.openxmlformats.org/drawingml/2006/table">
            <a:tbl>
              <a:tblPr/>
              <a:tblGrid>
                <a:gridCol w="1547813"/>
                <a:gridCol w="1547813"/>
                <a:gridCol w="1547813"/>
                <a:gridCol w="1547813"/>
              </a:tblGrid>
              <a:tr h="678656">
                <a:tc>
                  <a:txBody>
                    <a:bodyPr/>
                    <a:lstStyle/>
                    <a:p>
                      <a:r>
                        <a:rPr sz="1200" b="1">
                          <a:solidFill>
                            <a:srgbClr val="F4F7FB"/>
                          </a:solidFill>
                          <a:latin typeface="Helvetica Neue"/>
                          <a:ea typeface="Helvetica Neue"/>
                          <a:cs typeface="Helvetica Neue"/>
                        </a:rPr>
                        <a:t>Thực tế / Dự đoán</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r>
              <a:tr h="678656">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r>
                        <a:rPr sz="1425" b="1">
                          <a:solidFill>
                            <a:srgbClr val="F4F7FB"/>
                          </a:solidFill>
                          <a:latin typeface="Helvetica Neue"/>
                          <a:ea typeface="Helvetica Neue"/>
                          <a:cs typeface="Helvetica Neue"/>
                        </a:rPr>
                        <a:t>52</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41</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21</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56</a:t>
                      </a:r>
                    </a:p>
                  </a:txBody>
                  <a:tcPr marL="91440" marR="91440" marT="45720" marB="45720">
                    <a:solidFill>
                      <a:srgbClr val="121A26"/>
                    </a:solidFill>
                  </a:tcPr>
                </a:tc>
                <a:tc>
                  <a:txBody>
                    <a:bodyPr/>
                    <a:lstStyle/>
                    <a:p>
                      <a:r>
                        <a:rPr sz="1425" b="1">
                          <a:solidFill>
                            <a:srgbClr val="F4F7FB"/>
                          </a:solidFill>
                          <a:latin typeface="Helvetica Neue"/>
                          <a:ea typeface="Helvetica Neue"/>
                          <a:cs typeface="Helvetica Neue"/>
                        </a:rPr>
                        <a:t>168</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104</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44</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166</a:t>
                      </a:r>
                    </a:p>
                  </a:txBody>
                  <a:tcPr marL="91440" marR="91440" marT="45720" marB="45720">
                    <a:solidFill>
                      <a:srgbClr val="121A26"/>
                    </a:solidFill>
                  </a:tcPr>
                </a:tc>
                <a:tc>
                  <a:txBody>
                    <a:bodyPr/>
                    <a:lstStyle/>
                    <a:p>
                      <a:r>
                        <a:rPr sz="1425" b="1">
                          <a:solidFill>
                            <a:srgbClr val="F4F7FB"/>
                          </a:solidFill>
                          <a:latin typeface="Helvetica Neue"/>
                          <a:ea typeface="Helvetica Neue"/>
                          <a:cs typeface="Helvetica Neue"/>
                        </a:rPr>
                        <a:t>1.031</a:t>
                      </a:r>
                    </a:p>
                  </a:txBody>
                  <a:tcPr marL="91440" marR="91440" marT="45720" marB="45720">
                    <a:solidFill>
                      <a:srgbClr val="164F3D"/>
                    </a:solidFill>
                  </a:tcPr>
                </a:tc>
              </a:tr>
            </a:tbl>
          </a:graphicData>
        </a:graphic>
      </p:graphicFrame>
      <p:graphicFrame>
        <p:nvGraphicFramePr>
          <p:cNvPr id="33" name="Chart"/>
          <p:cNvGraphicFramePr/>
          <p:nvPr/>
        </p:nvGraphicFramePr>
        <p:xfrm>
          <a:off xmlns:a="http://schemas.openxmlformats.org/drawingml/2006/main" x="7239000" y="2724150"/>
          <a:ext xmlns:a="http://schemas.openxmlformats.org/drawingml/2006/main" cx="4000500" cy="2571750"/>
        </p:xfrm>
        <a:graphic xmlns:a="http://schemas.openxmlformats.org/drawingml/2006/main">
          <a:graphicData uri="http://schemas.openxmlformats.org/drawingml/2006/chart">
            <c:chart xmlns:r="http://schemas.openxmlformats.org/officeDocument/2006/relationships" xmlns:c="http://schemas.openxmlformats.org/drawingml/2006/chart" r:id="Rfdddb44e8e944fdc"/>
          </a:graphicData>
        </a:graphic>
      </p:graphicFrame>
      <p:sp>
        <p:nvSpPr>
          <p:cNvPr id="15" name="">
            <a:extLst xmlns:a="http://schemas.openxmlformats.org/drawingml/2006/main">
              <a:ext uri="{FF2B5EF4-FFF2-40B4-BE49-F238E27FC236}">
                <a16:creationId xmlns:a16="http://schemas.microsoft.com/office/drawing/2014/main" id="{4BF0AAAB-C9DB-4E2A-83FB-F3AD0B18FDB9}"/>
              </a:ext>
            </a:extLst>
          </p:cNvPr>
          <p:cNvSpPr>
            <a:spLocks xmlns:a="http://schemas.openxmlformats.org/drawingml/2006/main" noGrp="1"/>
          </p:cNvSpPr>
          <p:nvPr/>
        </p:nvSpPr>
        <p:spPr>
          <a:xfrm xmlns:a="http://schemas.openxmlformats.org/drawingml/2006/main">
            <a:off x="9667875" y="280035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F1 THEO LỚP (%)</a:t>
            </a:r>
          </a:p>
        </p:txBody>
      </p:sp>
      <p:sp>
        <p:nvSpPr>
          <p:cNvPr id="16" name="">
            <a:extLst xmlns:a="http://schemas.openxmlformats.org/drawingml/2006/main">
              <a:ext uri="{FF2B5EF4-FFF2-40B4-BE49-F238E27FC236}">
                <a16:creationId xmlns:a16="http://schemas.microsoft.com/office/drawing/2014/main" id="{91FAC28A-838F-4A38-B13F-9F28E6AE29EC}"/>
              </a:ext>
            </a:extLst>
          </p:cNvPr>
          <p:cNvSpPr>
            <a:spLocks xmlns:a="http://schemas.openxmlformats.org/drawingml/2006/main" noGrp="1"/>
          </p:cNvSpPr>
          <p:nvPr/>
        </p:nvSpPr>
        <p:spPr>
          <a:xfrm xmlns:a="http://schemas.openxmlformats.org/drawingml/2006/main">
            <a:off x="609600" y="5734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FF9C5A"/>
                </a:solidFill>
                <a:latin typeface="Helvetica Neue"/>
                <a:ea typeface="Helvetica Neue"/>
                <a:cs typeface="Helvetica Neue"/>
              </a:defRPr>
            </a:pPr>
            <a:r>
              <a:rPr sz="1425" b="0">
                <a:solidFill>
                  <a:srgbClr val="FF9C5A"/>
                </a:solidFill>
                <a:latin typeface="Helvetica Neue"/>
                <a:ea typeface="Helvetica Neue"/>
                <a:cs typeface="Helvetica Neue"/>
              </a:rPr>
              <a:t>Final Test cũ được dùng lại để đối chiếu bản sửa, không phải tập kiểm thử độc lập mới.</a:t>
            </a:r>
          </a:p>
        </p:txBody>
      </p:sp>
    </p:spTree>
    <p:extLst>
      <p:ext uri="{BB962C8B-B14F-4D97-AF65-F5344CB8AC3E}">
        <p14:creationId xmlns:p14="http://schemas.microsoft.com/office/powerpoint/2010/main" val="1871774820"/>
      </p:ext>
    </p:extLst>
  </p:cSld>
</p:sld>
</file>

<file path=ppt/slides/slide10.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01B90D-CE70-4FF6-99CC-9A92CDF4184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09 · ERROR ANALYSIS</a:t>
            </a:r>
          </a:p>
        </p:txBody>
      </p:sp>
      <p:sp>
        <p:nvSpPr>
          <p:cNvPr id="2" name="">
            <a:extLst xmlns:a="http://schemas.openxmlformats.org/drawingml/2006/main">
              <a:ext uri="{FF2B5EF4-FFF2-40B4-BE49-F238E27FC236}">
                <a16:creationId xmlns:a16="http://schemas.microsoft.com/office/drawing/2014/main" id="{5D7AEDFD-6BA8-43C8-AAB3-7A84AEAA352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15 lỗi minh họa cho thấy ba dạng khó thường gặp</a:t>
            </a:r>
          </a:p>
        </p:txBody>
      </p:sp>
      <p:sp>
        <p:nvSpPr>
          <p:cNvPr id="3" name="">
            <a:extLst xmlns:a="http://schemas.openxmlformats.org/drawingml/2006/main">
              <a:ext uri="{FF2B5EF4-FFF2-40B4-BE49-F238E27FC236}">
                <a16:creationId xmlns:a16="http://schemas.microsoft.com/office/drawing/2014/main" id="{3CE0BE42-6334-4604-BD0A-D595A888CCC5}"/>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CCDA19-AEA8-4352-AF66-CAD2BE27067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10 / 15</a:t>
            </a:r>
          </a:p>
        </p:txBody>
      </p:sp>
      <p:sp>
        <p:nvSpPr>
          <p:cNvPr id="5" name="">
            <a:extLst xmlns:a="http://schemas.openxmlformats.org/drawingml/2006/main">
              <a:ext uri="{FF2B5EF4-FFF2-40B4-BE49-F238E27FC236}">
                <a16:creationId xmlns:a16="http://schemas.microsoft.com/office/drawing/2014/main" id="{8217A969-F1C0-4741-BE23-4CC3BC44A94F}"/>
              </a:ext>
            </a:extLst>
          </p:cNvPr>
          <p:cNvSpPr>
            <a:spLocks xmlns:a="http://schemas.openxmlformats.org/drawingml/2006/main" noGrp="1"/>
          </p:cNvSpPr>
          <p:nvPr/>
        </p:nvSpPr>
        <p:spPr>
          <a:xfrm xmlns:a="http://schemas.openxmlformats.org/drawingml/2006/main">
            <a:off x="609600" y="1790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DỰ ĐOÁN SAI</a:t>
            </a:r>
          </a:p>
        </p:txBody>
      </p:sp>
      <p:sp>
        <p:nvSpPr>
          <p:cNvPr id="6" name="">
            <a:extLst xmlns:a="http://schemas.openxmlformats.org/drawingml/2006/main">
              <a:ext uri="{FF2B5EF4-FFF2-40B4-BE49-F238E27FC236}">
                <a16:creationId xmlns:a16="http://schemas.microsoft.com/office/drawing/2014/main" id="{C343D3D1-8742-4F87-9A91-75F60A797052}"/>
              </a:ext>
            </a:extLst>
          </p:cNvPr>
          <p:cNvSpPr>
            <a:spLocks xmlns:a="http://schemas.openxmlformats.org/drawingml/2006/main" noGrp="1"/>
          </p:cNvSpPr>
          <p:nvPr/>
        </p:nvSpPr>
        <p:spPr>
          <a:xfrm xmlns:a="http://schemas.openxmlformats.org/drawingml/2006/main">
            <a:off x="609600" y="20574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432</a:t>
            </a:r>
          </a:p>
        </p:txBody>
      </p:sp>
      <p:sp>
        <p:nvSpPr>
          <p:cNvPr id="7" name="">
            <a:extLst xmlns:a="http://schemas.openxmlformats.org/drawingml/2006/main">
              <a:ext uri="{FF2B5EF4-FFF2-40B4-BE49-F238E27FC236}">
                <a16:creationId xmlns:a16="http://schemas.microsoft.com/office/drawing/2014/main" id="{7D8548FE-B9F2-4C9F-A14F-C5BE4050D5FF}"/>
              </a:ext>
            </a:extLst>
          </p:cNvPr>
          <p:cNvSpPr>
            <a:spLocks xmlns:a="http://schemas.openxmlformats.org/drawingml/2006/main" noGrp="1"/>
          </p:cNvSpPr>
          <p:nvPr/>
        </p:nvSpPr>
        <p:spPr>
          <a:xfrm xmlns:a="http://schemas.openxmlformats.org/drawingml/2006/main">
            <a:off x="609600" y="271462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25,7% của Final Test</a:t>
            </a:r>
          </a:p>
        </p:txBody>
      </p:sp>
      <p:sp>
        <p:nvSpPr>
          <p:cNvPr id="8" name="">
            <a:extLst xmlns:a="http://schemas.openxmlformats.org/drawingml/2006/main">
              <a:ext uri="{FF2B5EF4-FFF2-40B4-BE49-F238E27FC236}">
                <a16:creationId xmlns:a16="http://schemas.microsoft.com/office/drawing/2014/main" id="{B6F091F8-93D4-49BF-A31A-5FF945230D5D}"/>
              </a:ext>
            </a:extLst>
          </p:cNvPr>
          <p:cNvSpPr>
            <a:spLocks xmlns:a="http://schemas.openxmlformats.org/drawingml/2006/main" noGrp="1"/>
          </p:cNvSpPr>
          <p:nvPr/>
        </p:nvSpPr>
        <p:spPr>
          <a:xfrm xmlns:a="http://schemas.openxmlformats.org/drawingml/2006/main">
            <a:off x="609600" y="3276600"/>
            <a:ext cx="271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15 lỗi được nhóm tự động theo dấu hiệu văn bản; không đại diện toàn bộ 432 lỗi.</a:t>
            </a:r>
          </a:p>
        </p:txBody>
      </p:sp>
      <p:sp>
        <p:nvSpPr>
          <p:cNvPr id="9" name="">
            <a:extLst xmlns:a="http://schemas.openxmlformats.org/drawingml/2006/main">
              <a:ext uri="{FF2B5EF4-FFF2-40B4-BE49-F238E27FC236}">
                <a16:creationId xmlns:a16="http://schemas.microsoft.com/office/drawing/2014/main" id="{76C6E72B-3FF8-4B7F-B441-8A2AB4D46561}"/>
              </a:ext>
            </a:extLst>
          </p:cNvPr>
          <p:cNvSpPr>
            <a:spLocks xmlns:a="http://schemas.openxmlformats.org/drawingml/2006/main" noGrp="1"/>
          </p:cNvSpPr>
          <p:nvPr/>
        </p:nvSpPr>
        <p:spPr>
          <a:xfrm xmlns:a="http://schemas.openxmlformats.org/drawingml/2006/main">
            <a:off x="4000500" y="171450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D35E"/>
                </a:solidFill>
                <a:latin typeface="Helvetica Neue"/>
                <a:ea typeface="Helvetica Neue"/>
                <a:cs typeface="Helvetica Neue"/>
              </a:defRPr>
            </a:pPr>
            <a:r>
              <a:rPr sz="2250" b="1">
                <a:solidFill>
                  <a:srgbClr val="F4D35E"/>
                </a:solidFill>
                <a:latin typeface="Helvetica Neue"/>
                <a:ea typeface="Helvetica Neue"/>
                <a:cs typeface="Helvetica Neue"/>
              </a:rPr>
              <a:t>7 / 15</a:t>
            </a:r>
          </a:p>
        </p:txBody>
      </p:sp>
      <p:sp>
        <p:nvSpPr>
          <p:cNvPr id="10" name="">
            <a:extLst xmlns:a="http://schemas.openxmlformats.org/drawingml/2006/main">
              <a:ext uri="{FF2B5EF4-FFF2-40B4-BE49-F238E27FC236}">
                <a16:creationId xmlns:a16="http://schemas.microsoft.com/office/drawing/2014/main" id="{D8C9A45C-3656-4FFA-877F-4EBA9E136D62}"/>
              </a:ext>
            </a:extLst>
          </p:cNvPr>
          <p:cNvSpPr>
            <a:spLocks xmlns:a="http://schemas.openxmlformats.org/drawingml/2006/main" noGrp="1"/>
          </p:cNvSpPr>
          <p:nvPr/>
        </p:nvSpPr>
        <p:spPr>
          <a:xfrm xmlns:a="http://schemas.openxmlformats.org/drawingml/2006/main">
            <a:off x="5572125" y="1714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Review nhiều vế ý</a:t>
            </a:r>
          </a:p>
        </p:txBody>
      </p:sp>
      <p:sp>
        <p:nvSpPr>
          <p:cNvPr id="11" name="">
            <a:extLst xmlns:a="http://schemas.openxmlformats.org/drawingml/2006/main">
              <a:ext uri="{FF2B5EF4-FFF2-40B4-BE49-F238E27FC236}">
                <a16:creationId xmlns:a16="http://schemas.microsoft.com/office/drawing/2014/main" id="{186FDBAD-983F-48A7-82A5-0F9CA6413159}"/>
              </a:ext>
            </a:extLst>
          </p:cNvPr>
          <p:cNvSpPr>
            <a:spLocks xmlns:a="http://schemas.openxmlformats.org/drawingml/2006/main" noGrp="1"/>
          </p:cNvSpPr>
          <p:nvPr/>
        </p:nvSpPr>
        <p:spPr>
          <a:xfrm xmlns:a="http://schemas.openxmlformats.org/drawingml/2006/main">
            <a:off x="5572125" y="21717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Một review vừa khen vừa chê, nên khó gói vào một nhãn duy nhất.</a:t>
            </a:r>
          </a:p>
        </p:txBody>
      </p:sp>
      <p:sp>
        <p:nvSpPr>
          <p:cNvPr id="12" name="">
            <a:extLst xmlns:a="http://schemas.openxmlformats.org/drawingml/2006/main">
              <a:ext uri="{FF2B5EF4-FFF2-40B4-BE49-F238E27FC236}">
                <a16:creationId xmlns:a16="http://schemas.microsoft.com/office/drawing/2014/main" id="{7D28B244-98C9-41AD-9BC0-189A128A7F26}"/>
              </a:ext>
            </a:extLst>
          </p:cNvPr>
          <p:cNvSpPr>
            <a:spLocks xmlns:a="http://schemas.openxmlformats.org/drawingml/2006/main" noGrp="1"/>
          </p:cNvSpPr>
          <p:nvPr/>
        </p:nvSpPr>
        <p:spPr>
          <a:xfrm xmlns:a="http://schemas.openxmlformats.org/drawingml/2006/main">
            <a:off x="4000500" y="2895600"/>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DE91539-68C4-4ED7-921C-4B33E5D97395}"/>
              </a:ext>
            </a:extLst>
          </p:cNvPr>
          <p:cNvSpPr>
            <a:spLocks xmlns:a="http://schemas.openxmlformats.org/drawingml/2006/main" noGrp="1"/>
          </p:cNvSpPr>
          <p:nvPr/>
        </p:nvSpPr>
        <p:spPr>
          <a:xfrm xmlns:a="http://schemas.openxmlformats.org/drawingml/2006/main">
            <a:off x="4000500" y="3095625"/>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F9C5A"/>
                </a:solidFill>
                <a:latin typeface="Helvetica Neue"/>
                <a:ea typeface="Helvetica Neue"/>
                <a:cs typeface="Helvetica Neue"/>
              </a:defRPr>
            </a:pPr>
            <a:r>
              <a:rPr sz="2250" b="1">
                <a:solidFill>
                  <a:srgbClr val="FF9C5A"/>
                </a:solidFill>
                <a:latin typeface="Helvetica Neue"/>
                <a:ea typeface="Helvetica Neue"/>
                <a:cs typeface="Helvetica Neue"/>
              </a:rPr>
              <a:t>6 / 15</a:t>
            </a:r>
          </a:p>
        </p:txBody>
      </p:sp>
      <p:sp>
        <p:nvSpPr>
          <p:cNvPr id="14" name="">
            <a:extLst xmlns:a="http://schemas.openxmlformats.org/drawingml/2006/main">
              <a:ext uri="{FF2B5EF4-FFF2-40B4-BE49-F238E27FC236}">
                <a16:creationId xmlns:a16="http://schemas.microsoft.com/office/drawing/2014/main" id="{A462888D-93A4-47FD-87AB-19502EABA944}"/>
              </a:ext>
            </a:extLst>
          </p:cNvPr>
          <p:cNvSpPr>
            <a:spLocks xmlns:a="http://schemas.openxmlformats.org/drawingml/2006/main" noGrp="1"/>
          </p:cNvSpPr>
          <p:nvPr/>
        </p:nvSpPr>
        <p:spPr>
          <a:xfrm xmlns:a="http://schemas.openxmlformats.org/drawingml/2006/main">
            <a:off x="5572125" y="3095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Phủ định hoặc cấu trúc khó</a:t>
            </a:r>
          </a:p>
        </p:txBody>
      </p:sp>
      <p:sp>
        <p:nvSpPr>
          <p:cNvPr id="15" name="">
            <a:extLst xmlns:a="http://schemas.openxmlformats.org/drawingml/2006/main">
              <a:ext uri="{FF2B5EF4-FFF2-40B4-BE49-F238E27FC236}">
                <a16:creationId xmlns:a16="http://schemas.microsoft.com/office/drawing/2014/main" id="{370E74C0-4597-464F-9248-1D64B163D349}"/>
              </a:ext>
            </a:extLst>
          </p:cNvPr>
          <p:cNvSpPr>
            <a:spLocks xmlns:a="http://schemas.openxmlformats.org/drawingml/2006/main" noGrp="1"/>
          </p:cNvSpPr>
          <p:nvPr/>
        </p:nvSpPr>
        <p:spPr>
          <a:xfrm xmlns:a="http://schemas.openxmlformats.org/drawingml/2006/main">
            <a:off x="5572125" y="3552825"/>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Từ phủ định và câu dài khiến tín hiệu TF-IDF khó diễn giải.</a:t>
            </a:r>
          </a:p>
        </p:txBody>
      </p:sp>
      <p:sp>
        <p:nvSpPr>
          <p:cNvPr id="16" name="">
            <a:extLst xmlns:a="http://schemas.openxmlformats.org/drawingml/2006/main">
              <a:ext uri="{FF2B5EF4-FFF2-40B4-BE49-F238E27FC236}">
                <a16:creationId xmlns:a16="http://schemas.microsoft.com/office/drawing/2014/main" id="{D3ACFAAC-0A55-4781-878E-A6F95426B4A6}"/>
              </a:ext>
            </a:extLst>
          </p:cNvPr>
          <p:cNvSpPr>
            <a:spLocks xmlns:a="http://schemas.openxmlformats.org/drawingml/2006/main" noGrp="1"/>
          </p:cNvSpPr>
          <p:nvPr/>
        </p:nvSpPr>
        <p:spPr>
          <a:xfrm xmlns:a="http://schemas.openxmlformats.org/drawingml/2006/main">
            <a:off x="4000500" y="4276725"/>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4D8738-B769-4B79-B87C-D245641E2681}"/>
              </a:ext>
            </a:extLst>
          </p:cNvPr>
          <p:cNvSpPr>
            <a:spLocks xmlns:a="http://schemas.openxmlformats.org/drawingml/2006/main" noGrp="1"/>
          </p:cNvSpPr>
          <p:nvPr/>
        </p:nvSpPr>
        <p:spPr>
          <a:xfrm xmlns:a="http://schemas.openxmlformats.org/drawingml/2006/main">
            <a:off x="4000500" y="44767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78A7FF"/>
                </a:solidFill>
                <a:latin typeface="Helvetica Neue"/>
                <a:ea typeface="Helvetica Neue"/>
                <a:cs typeface="Helvetica Neue"/>
              </a:defRPr>
            </a:pPr>
            <a:r>
              <a:rPr sz="2250" b="1">
                <a:solidFill>
                  <a:srgbClr val="78A7FF"/>
                </a:solidFill>
                <a:latin typeface="Helvetica Neue"/>
                <a:ea typeface="Helvetica Neue"/>
                <a:cs typeface="Helvetica Neue"/>
              </a:rPr>
              <a:t>2 / 15</a:t>
            </a:r>
          </a:p>
        </p:txBody>
      </p:sp>
      <p:sp>
        <p:nvSpPr>
          <p:cNvPr id="18" name="">
            <a:extLst xmlns:a="http://schemas.openxmlformats.org/drawingml/2006/main">
              <a:ext uri="{FF2B5EF4-FFF2-40B4-BE49-F238E27FC236}">
                <a16:creationId xmlns:a16="http://schemas.microsoft.com/office/drawing/2014/main" id="{5E4AA18E-6EBB-48F1-B05B-678151E4C845}"/>
              </a:ext>
            </a:extLst>
          </p:cNvPr>
          <p:cNvSpPr>
            <a:spLocks xmlns:a="http://schemas.openxmlformats.org/drawingml/2006/main" noGrp="1"/>
          </p:cNvSpPr>
          <p:nvPr/>
        </p:nvSpPr>
        <p:spPr>
          <a:xfrm xmlns:a="http://schemas.openxmlformats.org/drawingml/2006/main">
            <a:off x="5572125" y="4476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Nhãn hoặc tín hiệu chưa rõ</a:t>
            </a:r>
          </a:p>
        </p:txBody>
      </p:sp>
      <p:sp>
        <p:nvSpPr>
          <p:cNvPr id="19" name="">
            <a:extLst xmlns:a="http://schemas.openxmlformats.org/drawingml/2006/main">
              <a:ext uri="{FF2B5EF4-FFF2-40B4-BE49-F238E27FC236}">
                <a16:creationId xmlns:a16="http://schemas.microsoft.com/office/drawing/2014/main" id="{23477CAC-A4A1-4F14-9C26-C21521C47153}"/>
              </a:ext>
            </a:extLst>
          </p:cNvPr>
          <p:cNvSpPr>
            <a:spLocks xmlns:a="http://schemas.openxmlformats.org/drawingml/2006/main" noGrp="1"/>
          </p:cNvSpPr>
          <p:nvPr/>
        </p:nvSpPr>
        <p:spPr>
          <a:xfrm xmlns:a="http://schemas.openxmlformats.org/drawingml/2006/main">
            <a:off x="5572125" y="493395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Rating và nội dung có thể lệch nhau; một số câu có ít từ model nhận ra.</a:t>
            </a:r>
          </a:p>
        </p:txBody>
      </p:sp>
      <p:sp>
        <p:nvSpPr>
          <p:cNvPr id="20" name="">
            <a:extLst xmlns:a="http://schemas.openxmlformats.org/drawingml/2006/main">
              <a:ext uri="{FF2B5EF4-FFF2-40B4-BE49-F238E27FC236}">
                <a16:creationId xmlns:a16="http://schemas.microsoft.com/office/drawing/2014/main" id="{9B1D8E53-6C48-4336-B97D-B35EE7B4E612}"/>
              </a:ext>
            </a:extLst>
          </p:cNvPr>
          <p:cNvSpPr>
            <a:spLocks xmlns:a="http://schemas.openxmlformats.org/drawingml/2006/main" noGrp="1"/>
          </p:cNvSpPr>
          <p:nvPr/>
        </p:nvSpPr>
        <p:spPr>
          <a:xfrm xmlns:a="http://schemas.openxmlformats.org/drawingml/2006/main">
            <a:off x="609600" y="58578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Nhóm lỗi là gợi ý tự động; cần đọc và gán nhãn thủ công thêm trước khi kết luận nguyên nhân.</a:t>
            </a:r>
          </a:p>
        </p:txBody>
      </p:sp>
    </p:spTree>
    <p:extLst>
      <p:ext uri="{BB962C8B-B14F-4D97-AF65-F5344CB8AC3E}">
        <p14:creationId xmlns:p14="http://schemas.microsoft.com/office/powerpoint/2010/main" val="1806180849"/>
      </p:ext>
    </p:extLst>
  </p:cSld>
</p:sld>
</file>

<file path=ppt/slides/slide1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185D96-8958-46B4-B0F7-A9EB379B6D31}"/>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10 · INSIGHT DOANH NGHIỆP</a:t>
            </a:r>
          </a:p>
        </p:txBody>
      </p:sp>
      <p:sp>
        <p:nvSpPr>
          <p:cNvPr id="2" name="">
            <a:extLst xmlns:a="http://schemas.openxmlformats.org/drawingml/2006/main">
              <a:ext uri="{FF2B5EF4-FFF2-40B4-BE49-F238E27FC236}">
                <a16:creationId xmlns:a16="http://schemas.microsoft.com/office/drawing/2014/main" id="{73BD758C-9C7E-41F1-9419-DD75AB43F18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Salary &amp; benefits thấp nhất ở 4/5 công ty</a:t>
            </a:r>
          </a:p>
        </p:txBody>
      </p:sp>
      <p:sp>
        <p:nvSpPr>
          <p:cNvPr id="3" name="">
            <a:extLst xmlns:a="http://schemas.openxmlformats.org/drawingml/2006/main">
              <a:ext uri="{FF2B5EF4-FFF2-40B4-BE49-F238E27FC236}">
                <a16:creationId xmlns:a16="http://schemas.microsoft.com/office/drawing/2014/main" id="{8DF3D923-F2DD-4EF5-85D7-167CCCF8814D}"/>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0B7737-2736-4A41-A271-9D1D635B572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11 / 15</a:t>
            </a:r>
          </a:p>
        </p:txBody>
      </p:sp>
      <p:graphicFrame>
        <p:nvGraphicFramePr>
          <p:cNvPr id="22" name="Chart"/>
          <p:cNvGraphicFramePr/>
          <p:nvPr/>
        </p:nvGraphicFramePr>
        <p:xfrm>
          <a:off xmlns:a="http://schemas.openxmlformats.org/drawingml/2006/main" x="609600" y="1619250"/>
          <a:ext xmlns:a="http://schemas.openxmlformats.org/drawingml/2006/main" cx="7620000" cy="4143375"/>
        </p:xfrm>
        <a:graphic xmlns:a="http://schemas.openxmlformats.org/drawingml/2006/main">
          <a:graphicData uri="http://schemas.openxmlformats.org/drawingml/2006/chart">
            <c:chart xmlns:r="http://schemas.openxmlformats.org/officeDocument/2006/relationships" xmlns:c="http://schemas.openxmlformats.org/drawingml/2006/chart" r:id="R0f0d06d4599148b7"/>
          </a:graphicData>
        </a:graphic>
      </p:graphicFrame>
      <p:sp>
        <p:nvSpPr>
          <p:cNvPr id="6" name="">
            <a:extLst xmlns:a="http://schemas.openxmlformats.org/drawingml/2006/main">
              <a:ext uri="{FF2B5EF4-FFF2-40B4-BE49-F238E27FC236}">
                <a16:creationId xmlns:a16="http://schemas.microsoft.com/office/drawing/2014/main" id="{DE632A67-5FC1-49BC-B369-B6DF5564127E}"/>
              </a:ext>
            </a:extLst>
          </p:cNvPr>
          <p:cNvSpPr>
            <a:spLocks xmlns:a="http://schemas.openxmlformats.org/drawingml/2006/main" noGrp="1"/>
          </p:cNvSpPr>
          <p:nvPr/>
        </p:nvSpPr>
        <p:spPr>
          <a:xfrm xmlns:a="http://schemas.openxmlformats.org/drawingml/2006/main">
            <a:off x="8667750" y="187642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C5A992-E2B3-4131-8303-91478C67B98E}"/>
              </a:ext>
            </a:extLst>
          </p:cNvPr>
          <p:cNvSpPr>
            <a:spLocks xmlns:a="http://schemas.openxmlformats.org/drawingml/2006/main" noGrp="1"/>
          </p:cNvSpPr>
          <p:nvPr/>
        </p:nvSpPr>
        <p:spPr>
          <a:xfrm xmlns:a="http://schemas.openxmlformats.org/drawingml/2006/main">
            <a:off x="8858250" y="1809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FPT, NashTech, Bosch, KMS</a:t>
            </a:r>
          </a:p>
        </p:txBody>
      </p:sp>
      <p:sp>
        <p:nvSpPr>
          <p:cNvPr id="8" name="">
            <a:extLst xmlns:a="http://schemas.openxmlformats.org/drawingml/2006/main">
              <a:ext uri="{FF2B5EF4-FFF2-40B4-BE49-F238E27FC236}">
                <a16:creationId xmlns:a16="http://schemas.microsoft.com/office/drawing/2014/main" id="{55F08E66-B61D-4E97-93FE-79BC2E05CD20}"/>
              </a:ext>
            </a:extLst>
          </p:cNvPr>
          <p:cNvSpPr>
            <a:spLocks xmlns:a="http://schemas.openxmlformats.org/drawingml/2006/main" noGrp="1"/>
          </p:cNvSpPr>
          <p:nvPr/>
        </p:nvSpPr>
        <p:spPr>
          <a:xfrm xmlns:a="http://schemas.openxmlformats.org/drawingml/2006/main">
            <a:off x="8858250" y="20955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Salary &amp; benefits.</a:t>
            </a:r>
          </a:p>
        </p:txBody>
      </p:sp>
      <p:sp>
        <p:nvSpPr>
          <p:cNvPr id="9" name="">
            <a:extLst xmlns:a="http://schemas.openxmlformats.org/drawingml/2006/main">
              <a:ext uri="{FF2B5EF4-FFF2-40B4-BE49-F238E27FC236}">
                <a16:creationId xmlns:a16="http://schemas.microsoft.com/office/drawing/2014/main" id="{E27A0399-BDF5-48E4-B5AB-FF748D2516A5}"/>
              </a:ext>
            </a:extLst>
          </p:cNvPr>
          <p:cNvSpPr>
            <a:spLocks xmlns:a="http://schemas.openxmlformats.org/drawingml/2006/main" noGrp="1"/>
          </p:cNvSpPr>
          <p:nvPr/>
        </p:nvSpPr>
        <p:spPr>
          <a:xfrm xmlns:a="http://schemas.openxmlformats.org/drawingml/2006/main">
            <a:off x="8667750" y="287655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FFA970-F7DE-479E-8AD5-A1D46255C2FB}"/>
              </a:ext>
            </a:extLst>
          </p:cNvPr>
          <p:cNvSpPr>
            <a:spLocks xmlns:a="http://schemas.openxmlformats.org/drawingml/2006/main" noGrp="1"/>
          </p:cNvSpPr>
          <p:nvPr/>
        </p:nvSpPr>
        <p:spPr>
          <a:xfrm xmlns:a="http://schemas.openxmlformats.org/drawingml/2006/main">
            <a:off x="8858250" y="2809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VNG</a:t>
            </a:r>
          </a:p>
        </p:txBody>
      </p:sp>
      <p:sp>
        <p:nvSpPr>
          <p:cNvPr id="11" name="">
            <a:extLst xmlns:a="http://schemas.openxmlformats.org/drawingml/2006/main">
              <a:ext uri="{FF2B5EF4-FFF2-40B4-BE49-F238E27FC236}">
                <a16:creationId xmlns:a16="http://schemas.microsoft.com/office/drawing/2014/main" id="{17E8995B-8E6C-4669-B335-50BC918889B9}"/>
              </a:ext>
            </a:extLst>
          </p:cNvPr>
          <p:cNvSpPr>
            <a:spLocks xmlns:a="http://schemas.openxmlformats.org/drawingml/2006/main" noGrp="1"/>
          </p:cNvSpPr>
          <p:nvPr/>
        </p:nvSpPr>
        <p:spPr>
          <a:xfrm xmlns:a="http://schemas.openxmlformats.org/drawingml/2006/main">
            <a:off x="8858250" y="30956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Management cares about me.</a:t>
            </a:r>
          </a:p>
        </p:txBody>
      </p:sp>
      <p:sp>
        <p:nvSpPr>
          <p:cNvPr id="12" name="">
            <a:extLst xmlns:a="http://schemas.openxmlformats.org/drawingml/2006/main">
              <a:ext uri="{FF2B5EF4-FFF2-40B4-BE49-F238E27FC236}">
                <a16:creationId xmlns:a16="http://schemas.microsoft.com/office/drawing/2014/main" id="{989B60B7-6884-4FD0-84AF-A564FAD7990D}"/>
              </a:ext>
            </a:extLst>
          </p:cNvPr>
          <p:cNvSpPr>
            <a:spLocks xmlns:a="http://schemas.openxmlformats.org/drawingml/2006/main" noGrp="1"/>
          </p:cNvSpPr>
          <p:nvPr/>
        </p:nvSpPr>
        <p:spPr>
          <a:xfrm xmlns:a="http://schemas.openxmlformats.org/drawingml/2006/main">
            <a:off x="8667750" y="38766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DC44E14-0490-4571-AF77-C84CB0D3E9CD}"/>
              </a:ext>
            </a:extLst>
          </p:cNvPr>
          <p:cNvSpPr>
            <a:spLocks xmlns:a="http://schemas.openxmlformats.org/drawingml/2006/main" noGrp="1"/>
          </p:cNvSpPr>
          <p:nvPr/>
        </p:nvSpPr>
        <p:spPr>
          <a:xfrm xmlns:a="http://schemas.openxmlformats.org/drawingml/2006/main">
            <a:off x="8858250" y="3810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Cỡ mẫu khác nhau</a:t>
            </a:r>
          </a:p>
        </p:txBody>
      </p:sp>
      <p:sp>
        <p:nvSpPr>
          <p:cNvPr id="14" name="">
            <a:extLst xmlns:a="http://schemas.openxmlformats.org/drawingml/2006/main">
              <a:ext uri="{FF2B5EF4-FFF2-40B4-BE49-F238E27FC236}">
                <a16:creationId xmlns:a16="http://schemas.microsoft.com/office/drawing/2014/main" id="{7D5E024D-DB2E-4F06-BFEA-A4FFFCB77927}"/>
              </a:ext>
            </a:extLst>
          </p:cNvPr>
          <p:cNvSpPr>
            <a:spLocks xmlns:a="http://schemas.openxmlformats.org/drawingml/2006/main" noGrp="1"/>
          </p:cNvSpPr>
          <p:nvPr/>
        </p:nvSpPr>
        <p:spPr>
          <a:xfrm xmlns:a="http://schemas.openxmlformats.org/drawingml/2006/main">
            <a:off x="8858250" y="4095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FPT có 2.014 review, KMS 251 và VNG 259.</a:t>
            </a:r>
          </a:p>
        </p:txBody>
      </p:sp>
      <p:sp>
        <p:nvSpPr>
          <p:cNvPr id="15" name="">
            <a:extLst xmlns:a="http://schemas.openxmlformats.org/drawingml/2006/main">
              <a:ext uri="{FF2B5EF4-FFF2-40B4-BE49-F238E27FC236}">
                <a16:creationId xmlns:a16="http://schemas.microsoft.com/office/drawing/2014/main" id="{02CC1102-C68B-4C38-8EC2-82B6CE90E871}"/>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Đây là phân tích mô tả của 5 công ty có nhiều review nhất, không phải bảng xếp hạng chất lượng doanh nghiệp.</a:t>
            </a:r>
          </a:p>
        </p:txBody>
      </p:sp>
    </p:spTree>
    <p:extLst>
      <p:ext uri="{BB962C8B-B14F-4D97-AF65-F5344CB8AC3E}">
        <p14:creationId xmlns:p14="http://schemas.microsoft.com/office/powerpoint/2010/main" val="1283201423"/>
      </p:ext>
    </p:extLst>
  </p:cSld>
</p:sld>
</file>

<file path=ppt/slides/slide1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484A2E-E31A-481B-B445-D37DA6C9E5B9}"/>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11 · DIỄN GIẢI</a:t>
            </a:r>
          </a:p>
        </p:txBody>
      </p:sp>
      <p:sp>
        <p:nvSpPr>
          <p:cNvPr id="2" name="">
            <a:extLst xmlns:a="http://schemas.openxmlformats.org/drawingml/2006/main">
              <a:ext uri="{FF2B5EF4-FFF2-40B4-BE49-F238E27FC236}">
                <a16:creationId xmlns:a16="http://schemas.microsoft.com/office/drawing/2014/main" id="{B8B0C08F-A987-40F1-AC29-CE4DD1F1392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84"/>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TF-IDF cho biết độ nổi bật, không cho biết chiều tác động</a:t>
            </a:r>
          </a:p>
        </p:txBody>
      </p:sp>
      <p:sp>
        <p:nvSpPr>
          <p:cNvPr id="3" name="">
            <a:extLst xmlns:a="http://schemas.openxmlformats.org/drawingml/2006/main">
              <a:ext uri="{FF2B5EF4-FFF2-40B4-BE49-F238E27FC236}">
                <a16:creationId xmlns:a16="http://schemas.microsoft.com/office/drawing/2014/main" id="{94044FD0-196F-494A-BE89-B9FD55BBE5BE}"/>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786F04-6C60-428D-8EFC-3FF7783E077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12 / 15</a:t>
            </a:r>
          </a:p>
        </p:txBody>
      </p:sp>
      <p:graphicFrame>
        <p:nvGraphicFramePr>
          <p:cNvPr id="19" name="Chart"/>
          <p:cNvGraphicFramePr/>
          <p:nvPr/>
        </p:nvGraphicFramePr>
        <p:xfrm>
          <a:off xmlns:a="http://schemas.openxmlformats.org/drawingml/2006/main" x="609600" y="1619250"/>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c85f94e2a97d4378"/>
          </a:graphicData>
        </a:graphic>
      </p:graphicFrame>
      <p:sp>
        <p:nvSpPr>
          <p:cNvPr id="6" name="">
            <a:extLst xmlns:a="http://schemas.openxmlformats.org/drawingml/2006/main">
              <a:ext uri="{FF2B5EF4-FFF2-40B4-BE49-F238E27FC236}">
                <a16:creationId xmlns:a16="http://schemas.microsoft.com/office/drawing/2014/main" id="{BC81D14A-45EC-469D-800A-CD72352F4E47}"/>
              </a:ext>
            </a:extLst>
          </p:cNvPr>
          <p:cNvSpPr>
            <a:spLocks xmlns:a="http://schemas.openxmlformats.org/drawingml/2006/main" noGrp="1"/>
          </p:cNvSpPr>
          <p:nvPr/>
        </p:nvSpPr>
        <p:spPr>
          <a:xfrm xmlns:a="http://schemas.openxmlformats.org/drawingml/2006/main">
            <a:off x="5572125" y="1724025"/>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TRỌNG SỐ TF-IDF (×100)</a:t>
            </a:r>
          </a:p>
        </p:txBody>
      </p:sp>
      <p:sp>
        <p:nvSpPr>
          <p:cNvPr id="7" name="">
            <a:extLst xmlns:a="http://schemas.openxmlformats.org/drawingml/2006/main">
              <a:ext uri="{FF2B5EF4-FFF2-40B4-BE49-F238E27FC236}">
                <a16:creationId xmlns:a16="http://schemas.microsoft.com/office/drawing/2014/main" id="{9B587D77-EC0E-4ACE-9143-B74E90A39B2E}"/>
              </a:ext>
            </a:extLst>
          </p:cNvPr>
          <p:cNvSpPr>
            <a:spLocks xmlns:a="http://schemas.openxmlformats.org/drawingml/2006/main" noGrp="1"/>
          </p:cNvSpPr>
          <p:nvPr/>
        </p:nvSpPr>
        <p:spPr>
          <a:xfrm xmlns:a="http://schemas.openxmlformats.org/drawingml/2006/main">
            <a:off x="8096250" y="18097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NEGATIVE</a:t>
            </a:r>
          </a:p>
        </p:txBody>
      </p:sp>
      <p:sp>
        <p:nvSpPr>
          <p:cNvPr id="8" name="">
            <a:extLst xmlns:a="http://schemas.openxmlformats.org/drawingml/2006/main">
              <a:ext uri="{FF2B5EF4-FFF2-40B4-BE49-F238E27FC236}">
                <a16:creationId xmlns:a16="http://schemas.microsoft.com/office/drawing/2014/main" id="{5E9D3060-6352-4507-99BD-0A4E7BDE3BEB}"/>
              </a:ext>
            </a:extLst>
          </p:cNvPr>
          <p:cNvSpPr>
            <a:spLocks xmlns:a="http://schemas.openxmlformats.org/drawingml/2006/main" noGrp="1"/>
          </p:cNvSpPr>
          <p:nvPr/>
        </p:nvSpPr>
        <p:spPr>
          <a:xfrm xmlns:a="http://schemas.openxmlformats.org/drawingml/2006/main">
            <a:off x="8096250" y="207645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99,0%</a:t>
            </a:r>
          </a:p>
        </p:txBody>
      </p:sp>
      <p:sp>
        <p:nvSpPr>
          <p:cNvPr id="9" name="">
            <a:extLst xmlns:a="http://schemas.openxmlformats.org/drawingml/2006/main">
              <a:ext uri="{FF2B5EF4-FFF2-40B4-BE49-F238E27FC236}">
                <a16:creationId xmlns:a16="http://schemas.microsoft.com/office/drawing/2014/main" id="{E4E49424-7AC9-4E99-812F-910C1C6D14AB}"/>
              </a:ext>
            </a:extLst>
          </p:cNvPr>
          <p:cNvSpPr>
            <a:spLocks xmlns:a="http://schemas.openxmlformats.org/drawingml/2006/main" noGrp="1"/>
          </p:cNvSpPr>
          <p:nvPr/>
        </p:nvSpPr>
        <p:spPr>
          <a:xfrm xmlns:a="http://schemas.openxmlformats.org/drawingml/2006/main">
            <a:off x="8096250" y="30480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Cụm từ được giữ lại</a:t>
            </a:r>
          </a:p>
        </p:txBody>
      </p:sp>
      <p:sp>
        <p:nvSpPr>
          <p:cNvPr id="10" name="">
            <a:extLst xmlns:a="http://schemas.openxmlformats.org/drawingml/2006/main">
              <a:ext uri="{FF2B5EF4-FFF2-40B4-BE49-F238E27FC236}">
                <a16:creationId xmlns:a16="http://schemas.microsoft.com/office/drawing/2014/main" id="{A65E553C-DFFF-4687-ACD5-4AED3E0801F0}"/>
              </a:ext>
            </a:extLst>
          </p:cNvPr>
          <p:cNvSpPr>
            <a:spLocks xmlns:a="http://schemas.openxmlformats.org/drawingml/2006/main" noGrp="1"/>
          </p:cNvSpPr>
          <p:nvPr/>
        </p:nvSpPr>
        <p:spPr>
          <a:xfrm xmlns:a="http://schemas.openxmlformats.org/drawingml/2006/main">
            <a:off x="8096250" y="342900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“không lương” và “lương thấp” là các đặc trưng riêng.</a:t>
            </a:r>
          </a:p>
        </p:txBody>
      </p:sp>
      <p:sp>
        <p:nvSpPr>
          <p:cNvPr id="11" name="">
            <a:extLst xmlns:a="http://schemas.openxmlformats.org/drawingml/2006/main">
              <a:ext uri="{FF2B5EF4-FFF2-40B4-BE49-F238E27FC236}">
                <a16:creationId xmlns:a16="http://schemas.microsoft.com/office/drawing/2014/main" id="{92AFBDE7-3896-470E-B6EB-780F42B7C869}"/>
              </a:ext>
            </a:extLst>
          </p:cNvPr>
          <p:cNvSpPr>
            <a:spLocks xmlns:a="http://schemas.openxmlformats.org/drawingml/2006/main" noGrp="1"/>
          </p:cNvSpPr>
          <p:nvPr/>
        </p:nvSpPr>
        <p:spPr>
          <a:xfrm xmlns:a="http://schemas.openxmlformats.org/drawingml/2006/main">
            <a:off x="8096250" y="44767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Giới hạn diễn giải</a:t>
            </a:r>
          </a:p>
        </p:txBody>
      </p:sp>
      <p:sp>
        <p:nvSpPr>
          <p:cNvPr id="12" name="">
            <a:extLst xmlns:a="http://schemas.openxmlformats.org/drawingml/2006/main">
              <a:ext uri="{FF2B5EF4-FFF2-40B4-BE49-F238E27FC236}">
                <a16:creationId xmlns:a16="http://schemas.microsoft.com/office/drawing/2014/main" id="{E29356B4-3FDE-4B23-93F2-B7D02830DAF6}"/>
              </a:ext>
            </a:extLst>
          </p:cNvPr>
          <p:cNvSpPr>
            <a:spLocks xmlns:a="http://schemas.openxmlformats.org/drawingml/2006/main" noGrp="1"/>
          </p:cNvSpPr>
          <p:nvPr/>
        </p:nvSpPr>
        <p:spPr>
          <a:xfrm xmlns:a="http://schemas.openxmlformats.org/drawingml/2006/main">
            <a:off x="8096250" y="4857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Trọng số TF-IDF cho biết độ nổi bật. Muốn biết chiều tác động cần xem thêm hệ số Logistic Regression.</a:t>
            </a:r>
          </a:p>
        </p:txBody>
      </p:sp>
    </p:spTree>
    <p:extLst>
      <p:ext uri="{BB962C8B-B14F-4D97-AF65-F5344CB8AC3E}">
        <p14:creationId xmlns:p14="http://schemas.microsoft.com/office/powerpoint/2010/main" val="1909509734"/>
      </p:ext>
    </p:extLst>
  </p:cSld>
</p:sld>
</file>

<file path=ppt/slides/slide1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5BCB96-FE0D-4B83-B045-1ACBF94C420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12 · ĐÁNH GIÁ</a:t>
            </a:r>
          </a:p>
        </p:txBody>
      </p:sp>
      <p:sp>
        <p:nvSpPr>
          <p:cNvPr id="2" name="">
            <a:extLst xmlns:a="http://schemas.openxmlformats.org/drawingml/2006/main">
              <a:ext uri="{FF2B5EF4-FFF2-40B4-BE49-F238E27FC236}">
                <a16:creationId xmlns:a16="http://schemas.microsoft.com/office/drawing/2014/main" id="{BF13A743-6DD9-4E84-8B05-7DD2C3039EAB}"/>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tốt hơn một chút, nhưng lớp Negative vẫn khó</a:t>
            </a:r>
          </a:p>
        </p:txBody>
      </p:sp>
      <p:sp>
        <p:nvSpPr>
          <p:cNvPr id="3" name="">
            <a:extLst xmlns:a="http://schemas.openxmlformats.org/drawingml/2006/main">
              <a:ext uri="{FF2B5EF4-FFF2-40B4-BE49-F238E27FC236}">
                <a16:creationId xmlns:a16="http://schemas.microsoft.com/office/drawing/2014/main" id="{8A1935B4-F403-4110-ADDD-7175D372FE24}"/>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46968F-FC48-41CB-9859-04A0455F2BF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13 / 15</a:t>
            </a:r>
          </a:p>
        </p:txBody>
      </p:sp>
      <p:sp>
        <p:nvSpPr>
          <p:cNvPr id="5" name="">
            <a:extLst xmlns:a="http://schemas.openxmlformats.org/drawingml/2006/main">
              <a:ext uri="{FF2B5EF4-FFF2-40B4-BE49-F238E27FC236}">
                <a16:creationId xmlns:a16="http://schemas.microsoft.com/office/drawing/2014/main" id="{5AF38950-E03B-4BE1-B6FD-9B3053BB0E63}"/>
              </a:ext>
            </a:extLst>
          </p:cNvPr>
          <p:cNvSpPr>
            <a:spLocks xmlns:a="http://schemas.openxmlformats.org/drawingml/2006/main" noGrp="1"/>
          </p:cNvSpPr>
          <p:nvPr/>
        </p:nvSpPr>
        <p:spPr>
          <a:xfrm xmlns:a="http://schemas.openxmlformats.org/drawingml/2006/main">
            <a:off x="6096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45D9A0"/>
                </a:solidFill>
                <a:latin typeface="Helvetica Neue"/>
                <a:ea typeface="Helvetica Neue"/>
                <a:cs typeface="Helvetica Neue"/>
              </a:defRPr>
            </a:pPr>
            <a:r>
              <a:rPr sz="1875" b="1">
                <a:solidFill>
                  <a:srgbClr val="45D9A0"/>
                </a:solidFill>
                <a:latin typeface="Helvetica Neue"/>
                <a:ea typeface="Helvetica Neue"/>
                <a:cs typeface="Helvetica Neue"/>
              </a:rPr>
              <a:t>Đã hoàn thành</a:t>
            </a:r>
          </a:p>
        </p:txBody>
      </p:sp>
      <p:sp>
        <p:nvSpPr>
          <p:cNvPr id="6" name="">
            <a:extLst xmlns:a="http://schemas.openxmlformats.org/drawingml/2006/main">
              <a:ext uri="{FF2B5EF4-FFF2-40B4-BE49-F238E27FC236}">
                <a16:creationId xmlns:a16="http://schemas.microsoft.com/office/drawing/2014/main" id="{7ECD7964-F17A-4C10-A421-C4BE943B4224}"/>
              </a:ext>
            </a:extLst>
          </p:cNvPr>
          <p:cNvSpPr>
            <a:spLocks xmlns:a="http://schemas.openxmlformats.org/drawingml/2006/main" noGrp="1"/>
          </p:cNvSpPr>
          <p:nvPr/>
        </p:nvSpPr>
        <p:spPr>
          <a:xfrm xmlns:a="http://schemas.openxmlformats.org/drawingml/2006/main">
            <a:off x="609600" y="23812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A7AF28-53FC-4B11-A111-9C9E1156736D}"/>
              </a:ext>
            </a:extLst>
          </p:cNvPr>
          <p:cNvSpPr>
            <a:spLocks xmlns:a="http://schemas.openxmlformats.org/drawingml/2006/main" noGrp="1"/>
          </p:cNvSpPr>
          <p:nvPr/>
        </p:nvSpPr>
        <p:spPr>
          <a:xfrm xmlns:a="http://schemas.openxmlformats.org/drawingml/2006/main">
            <a:off x="8382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Pipeline text-only end-to-end</a:t>
            </a:r>
          </a:p>
        </p:txBody>
      </p:sp>
      <p:sp>
        <p:nvSpPr>
          <p:cNvPr id="8" name="">
            <a:extLst xmlns:a="http://schemas.openxmlformats.org/drawingml/2006/main">
              <a:ext uri="{FF2B5EF4-FFF2-40B4-BE49-F238E27FC236}">
                <a16:creationId xmlns:a16="http://schemas.microsoft.com/office/drawing/2014/main" id="{6EE23E0E-79D4-4DB5-850E-4FFAA13FE727}"/>
              </a:ext>
            </a:extLst>
          </p:cNvPr>
          <p:cNvSpPr>
            <a:spLocks xmlns:a="http://schemas.openxmlformats.org/drawingml/2006/main" noGrp="1"/>
          </p:cNvSpPr>
          <p:nvPr/>
        </p:nvSpPr>
        <p:spPr>
          <a:xfrm xmlns:a="http://schemas.openxmlformats.org/drawingml/2006/main">
            <a:off x="609600" y="327660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268E63-D856-46A3-9402-D63D858755A6}"/>
              </a:ext>
            </a:extLst>
          </p:cNvPr>
          <p:cNvSpPr>
            <a:spLocks xmlns:a="http://schemas.openxmlformats.org/drawingml/2006/main" noGrp="1"/>
          </p:cNvSpPr>
          <p:nvPr/>
        </p:nvSpPr>
        <p:spPr>
          <a:xfrm xmlns:a="http://schemas.openxmlformats.org/drawingml/2006/main">
            <a:off x="8382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Chọn model bằng 5-fold CV</a:t>
            </a:r>
          </a:p>
        </p:txBody>
      </p:sp>
      <p:sp>
        <p:nvSpPr>
          <p:cNvPr id="10" name="">
            <a:extLst xmlns:a="http://schemas.openxmlformats.org/drawingml/2006/main">
              <a:ext uri="{FF2B5EF4-FFF2-40B4-BE49-F238E27FC236}">
                <a16:creationId xmlns:a16="http://schemas.microsoft.com/office/drawing/2014/main" id="{8DDA0C48-A893-4E79-8F02-07D48448C901}"/>
              </a:ext>
            </a:extLst>
          </p:cNvPr>
          <p:cNvSpPr>
            <a:spLocks xmlns:a="http://schemas.openxmlformats.org/drawingml/2006/main" noGrp="1"/>
          </p:cNvSpPr>
          <p:nvPr/>
        </p:nvSpPr>
        <p:spPr>
          <a:xfrm xmlns:a="http://schemas.openxmlformats.org/drawingml/2006/main">
            <a:off x="609600" y="41719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006A83-714F-4153-BE4E-37FB2D851B1E}"/>
              </a:ext>
            </a:extLst>
          </p:cNvPr>
          <p:cNvSpPr>
            <a:spLocks xmlns:a="http://schemas.openxmlformats.org/drawingml/2006/main" noGrp="1"/>
          </p:cNvSpPr>
          <p:nvPr/>
        </p:nvSpPr>
        <p:spPr>
          <a:xfrm xmlns:a="http://schemas.openxmlformats.org/drawingml/2006/main">
            <a:off x="8382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Đối chiếu lại Final Test cũ</a:t>
            </a:r>
          </a:p>
        </p:txBody>
      </p:sp>
      <p:sp>
        <p:nvSpPr>
          <p:cNvPr id="12" name="">
            <a:extLst xmlns:a="http://schemas.openxmlformats.org/drawingml/2006/main">
              <a:ext uri="{FF2B5EF4-FFF2-40B4-BE49-F238E27FC236}">
                <a16:creationId xmlns:a16="http://schemas.microsoft.com/office/drawing/2014/main" id="{44FB1D48-24DC-48E3-8E9F-6C67CD0A7A5F}"/>
              </a:ext>
            </a:extLst>
          </p:cNvPr>
          <p:cNvSpPr>
            <a:spLocks xmlns:a="http://schemas.openxmlformats.org/drawingml/2006/main" noGrp="1"/>
          </p:cNvSpPr>
          <p:nvPr/>
        </p:nvSpPr>
        <p:spPr>
          <a:xfrm xmlns:a="http://schemas.openxmlformats.org/drawingml/2006/main">
            <a:off x="407670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BA809F-84CB-4F4B-AC22-26BC54EDDA70}"/>
              </a:ext>
            </a:extLst>
          </p:cNvPr>
          <p:cNvSpPr>
            <a:spLocks xmlns:a="http://schemas.openxmlformats.org/drawingml/2006/main" noGrp="1"/>
          </p:cNvSpPr>
          <p:nvPr/>
        </p:nvSpPr>
        <p:spPr>
          <a:xfrm xmlns:a="http://schemas.openxmlformats.org/drawingml/2006/main">
            <a:off x="432435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78A7FF"/>
                </a:solidFill>
                <a:latin typeface="Helvetica Neue"/>
                <a:ea typeface="Helvetica Neue"/>
                <a:cs typeface="Helvetica Neue"/>
              </a:defRPr>
            </a:pPr>
            <a:r>
              <a:rPr sz="1875" b="1">
                <a:solidFill>
                  <a:srgbClr val="78A7FF"/>
                </a:solidFill>
                <a:latin typeface="Helvetica Neue"/>
                <a:ea typeface="Helvetica Neue"/>
                <a:cs typeface="Helvetica Neue"/>
              </a:rPr>
              <a:t>Bài học</a:t>
            </a:r>
          </a:p>
        </p:txBody>
      </p:sp>
      <p:sp>
        <p:nvSpPr>
          <p:cNvPr id="14" name="">
            <a:extLst xmlns:a="http://schemas.openxmlformats.org/drawingml/2006/main">
              <a:ext uri="{FF2B5EF4-FFF2-40B4-BE49-F238E27FC236}">
                <a16:creationId xmlns:a16="http://schemas.microsoft.com/office/drawing/2014/main" id="{9EBA1249-F5D7-4847-9C44-147367D13BAA}"/>
              </a:ext>
            </a:extLst>
          </p:cNvPr>
          <p:cNvSpPr>
            <a:spLocks xmlns:a="http://schemas.openxmlformats.org/drawingml/2006/main" noGrp="1"/>
          </p:cNvSpPr>
          <p:nvPr/>
        </p:nvSpPr>
        <p:spPr>
          <a:xfrm xmlns:a="http://schemas.openxmlformats.org/drawingml/2006/main">
            <a:off x="4324350" y="23812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C7A4F2-EF99-45FA-A35A-F5650CFF7042}"/>
              </a:ext>
            </a:extLst>
          </p:cNvPr>
          <p:cNvSpPr>
            <a:spLocks xmlns:a="http://schemas.openxmlformats.org/drawingml/2006/main" noGrp="1"/>
          </p:cNvSpPr>
          <p:nvPr/>
        </p:nvSpPr>
        <p:spPr>
          <a:xfrm xmlns:a="http://schemas.openxmlformats.org/drawingml/2006/main">
            <a:off x="455295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Macro F1 quan trọng hơn Accuracy</a:t>
            </a:r>
          </a:p>
        </p:txBody>
      </p:sp>
      <p:sp>
        <p:nvSpPr>
          <p:cNvPr id="16" name="">
            <a:extLst xmlns:a="http://schemas.openxmlformats.org/drawingml/2006/main">
              <a:ext uri="{FF2B5EF4-FFF2-40B4-BE49-F238E27FC236}">
                <a16:creationId xmlns:a16="http://schemas.microsoft.com/office/drawing/2014/main" id="{128A5893-C169-43B6-808B-D2D0E336E722}"/>
              </a:ext>
            </a:extLst>
          </p:cNvPr>
          <p:cNvSpPr>
            <a:spLocks xmlns:a="http://schemas.openxmlformats.org/drawingml/2006/main" noGrp="1"/>
          </p:cNvSpPr>
          <p:nvPr/>
        </p:nvSpPr>
        <p:spPr>
          <a:xfrm xmlns:a="http://schemas.openxmlformats.org/drawingml/2006/main">
            <a:off x="4324350" y="327660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6FD1EE-0F46-46D3-8F59-8FF7D8986AF4}"/>
              </a:ext>
            </a:extLst>
          </p:cNvPr>
          <p:cNvSpPr>
            <a:spLocks xmlns:a="http://schemas.openxmlformats.org/drawingml/2006/main" noGrp="1"/>
          </p:cNvSpPr>
          <p:nvPr/>
        </p:nvSpPr>
        <p:spPr>
          <a:xfrm xmlns:a="http://schemas.openxmlformats.org/drawingml/2006/main">
            <a:off x="455295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SMOTE phải nằm trong từng fold</a:t>
            </a:r>
          </a:p>
        </p:txBody>
      </p:sp>
      <p:sp>
        <p:nvSpPr>
          <p:cNvPr id="18" name="">
            <a:extLst xmlns:a="http://schemas.openxmlformats.org/drawingml/2006/main">
              <a:ext uri="{FF2B5EF4-FFF2-40B4-BE49-F238E27FC236}">
                <a16:creationId xmlns:a16="http://schemas.microsoft.com/office/drawing/2014/main" id="{FE1F565A-EFF6-4427-9B95-B65E9A8AC8E9}"/>
              </a:ext>
            </a:extLst>
          </p:cNvPr>
          <p:cNvSpPr>
            <a:spLocks xmlns:a="http://schemas.openxmlformats.org/drawingml/2006/main" noGrp="1"/>
          </p:cNvSpPr>
          <p:nvPr/>
        </p:nvSpPr>
        <p:spPr>
          <a:xfrm xmlns:a="http://schemas.openxmlformats.org/drawingml/2006/main">
            <a:off x="4324350" y="41719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E26503-75E1-4C7E-94AF-3CC05A1B6FD7}"/>
              </a:ext>
            </a:extLst>
          </p:cNvPr>
          <p:cNvSpPr>
            <a:spLocks xmlns:a="http://schemas.openxmlformats.org/drawingml/2006/main" noGrp="1"/>
          </p:cNvSpPr>
          <p:nvPr/>
        </p:nvSpPr>
        <p:spPr>
          <a:xfrm xmlns:a="http://schemas.openxmlformats.org/drawingml/2006/main">
            <a:off x="455295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LR và SVM phù hợp dữ liệu thưa</a:t>
            </a:r>
          </a:p>
        </p:txBody>
      </p:sp>
      <p:sp>
        <p:nvSpPr>
          <p:cNvPr id="20" name="">
            <a:extLst xmlns:a="http://schemas.openxmlformats.org/drawingml/2006/main">
              <a:ext uri="{FF2B5EF4-FFF2-40B4-BE49-F238E27FC236}">
                <a16:creationId xmlns:a16="http://schemas.microsoft.com/office/drawing/2014/main" id="{F8229D9E-A001-48EB-99FC-958213D4A46F}"/>
              </a:ext>
            </a:extLst>
          </p:cNvPr>
          <p:cNvSpPr>
            <a:spLocks xmlns:a="http://schemas.openxmlformats.org/drawingml/2006/main" noGrp="1"/>
          </p:cNvSpPr>
          <p:nvPr/>
        </p:nvSpPr>
        <p:spPr>
          <a:xfrm xmlns:a="http://schemas.openxmlformats.org/drawingml/2006/main">
            <a:off x="779145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753EC7-B8D1-4A83-8026-B25342AA7581}"/>
              </a:ext>
            </a:extLst>
          </p:cNvPr>
          <p:cNvSpPr>
            <a:spLocks xmlns:a="http://schemas.openxmlformats.org/drawingml/2006/main" noGrp="1"/>
          </p:cNvSpPr>
          <p:nvPr/>
        </p:nvSpPr>
        <p:spPr>
          <a:xfrm xmlns:a="http://schemas.openxmlformats.org/drawingml/2006/main">
            <a:off x="80391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FF9C5A"/>
                </a:solidFill>
                <a:latin typeface="Helvetica Neue"/>
                <a:ea typeface="Helvetica Neue"/>
                <a:cs typeface="Helvetica Neue"/>
              </a:defRPr>
            </a:pPr>
            <a:r>
              <a:rPr sz="1875" b="1">
                <a:solidFill>
                  <a:srgbClr val="FF9C5A"/>
                </a:solidFill>
                <a:latin typeface="Helvetica Neue"/>
                <a:ea typeface="Helvetica Neue"/>
                <a:cs typeface="Helvetica Neue"/>
              </a:rPr>
              <a:t>Hạn chế</a:t>
            </a:r>
          </a:p>
        </p:txBody>
      </p:sp>
      <p:sp>
        <p:nvSpPr>
          <p:cNvPr id="22" name="">
            <a:extLst xmlns:a="http://schemas.openxmlformats.org/drawingml/2006/main">
              <a:ext uri="{FF2B5EF4-FFF2-40B4-BE49-F238E27FC236}">
                <a16:creationId xmlns:a16="http://schemas.microsoft.com/office/drawing/2014/main" id="{238B5D70-1297-4A75-9633-CAD4C12D10E5}"/>
              </a:ext>
            </a:extLst>
          </p:cNvPr>
          <p:cNvSpPr>
            <a:spLocks xmlns:a="http://schemas.openxmlformats.org/drawingml/2006/main" noGrp="1"/>
          </p:cNvSpPr>
          <p:nvPr/>
        </p:nvSpPr>
        <p:spPr>
          <a:xfrm xmlns:a="http://schemas.openxmlformats.org/drawingml/2006/main">
            <a:off x="8039100" y="23812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81B4789-EF06-4D97-B631-B3DB15A1F024}"/>
              </a:ext>
            </a:extLst>
          </p:cNvPr>
          <p:cNvSpPr>
            <a:spLocks xmlns:a="http://schemas.openxmlformats.org/drawingml/2006/main" noGrp="1"/>
          </p:cNvSpPr>
          <p:nvPr/>
        </p:nvSpPr>
        <p:spPr>
          <a:xfrm xmlns:a="http://schemas.openxmlformats.org/drawingml/2006/main">
            <a:off x="82677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Rating tạo weak label có nhiễu</a:t>
            </a:r>
          </a:p>
        </p:txBody>
      </p:sp>
      <p:sp>
        <p:nvSpPr>
          <p:cNvPr id="24" name="">
            <a:extLst xmlns:a="http://schemas.openxmlformats.org/drawingml/2006/main">
              <a:ext uri="{FF2B5EF4-FFF2-40B4-BE49-F238E27FC236}">
                <a16:creationId xmlns:a16="http://schemas.microsoft.com/office/drawing/2014/main" id="{6851BBC8-E06E-4775-8AA3-6F3DCCF3BC97}"/>
              </a:ext>
            </a:extLst>
          </p:cNvPr>
          <p:cNvSpPr>
            <a:spLocks xmlns:a="http://schemas.openxmlformats.org/drawingml/2006/main" noGrp="1"/>
          </p:cNvSpPr>
          <p:nvPr/>
        </p:nvSpPr>
        <p:spPr>
          <a:xfrm xmlns:a="http://schemas.openxmlformats.org/drawingml/2006/main">
            <a:off x="8039100" y="327660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6AAF56-8AFB-4D9A-9C6C-66C13F757D44}"/>
              </a:ext>
            </a:extLst>
          </p:cNvPr>
          <p:cNvSpPr>
            <a:spLocks xmlns:a="http://schemas.openxmlformats.org/drawingml/2006/main" noGrp="1"/>
          </p:cNvSpPr>
          <p:nvPr/>
        </p:nvSpPr>
        <p:spPr>
          <a:xfrm xmlns:a="http://schemas.openxmlformats.org/drawingml/2006/main">
            <a:off x="82677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Negative F1 chỉ đạt 0,3910</a:t>
            </a:r>
          </a:p>
        </p:txBody>
      </p:sp>
      <p:sp>
        <p:nvSpPr>
          <p:cNvPr id="26" name="">
            <a:extLst xmlns:a="http://schemas.openxmlformats.org/drawingml/2006/main">
              <a:ext uri="{FF2B5EF4-FFF2-40B4-BE49-F238E27FC236}">
                <a16:creationId xmlns:a16="http://schemas.microsoft.com/office/drawing/2014/main" id="{450477A2-D0A7-4237-AFC1-300F4C3D6653}"/>
              </a:ext>
            </a:extLst>
          </p:cNvPr>
          <p:cNvSpPr>
            <a:spLocks xmlns:a="http://schemas.openxmlformats.org/drawingml/2006/main" noGrp="1"/>
          </p:cNvSpPr>
          <p:nvPr/>
        </p:nvSpPr>
        <p:spPr>
          <a:xfrm xmlns:a="http://schemas.openxmlformats.org/drawingml/2006/main">
            <a:off x="8039100" y="41719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FD6364-82E2-4102-ADA5-DB67286D6B58}"/>
              </a:ext>
            </a:extLst>
          </p:cNvPr>
          <p:cNvSpPr>
            <a:spLocks xmlns:a="http://schemas.openxmlformats.org/drawingml/2006/main" noGrp="1"/>
          </p:cNvSpPr>
          <p:nvPr/>
        </p:nvSpPr>
        <p:spPr>
          <a:xfrm xmlns:a="http://schemas.openxmlformats.org/drawingml/2006/main">
            <a:off x="82677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TF-IDF chưa hiểu ngữ cảnh dài</a:t>
            </a:r>
          </a:p>
        </p:txBody>
      </p:sp>
      <p:sp>
        <p:nvSpPr>
          <p:cNvPr id="28" name="">
            <a:extLst xmlns:a="http://schemas.openxmlformats.org/drawingml/2006/main">
              <a:ext uri="{FF2B5EF4-FFF2-40B4-BE49-F238E27FC236}">
                <a16:creationId xmlns:a16="http://schemas.microsoft.com/office/drawing/2014/main" id="{38547907-1378-4889-9B93-BE1B5D8D8B2D}"/>
              </a:ext>
            </a:extLst>
          </p:cNvPr>
          <p:cNvSpPr>
            <a:spLocks xmlns:a="http://schemas.openxmlformats.org/drawingml/2006/main" noGrp="1"/>
          </p:cNvSpPr>
          <p:nvPr/>
        </p:nvSpPr>
        <p:spPr>
          <a:xfrm xmlns:a="http://schemas.openxmlformats.org/drawingml/2006/main">
            <a:off x="60960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CV Macro F1 0,5815; Final Test cũ 0,5764. Chênh 0,0052, chưa thấy lệch lớn.</a:t>
            </a:r>
          </a:p>
        </p:txBody>
      </p:sp>
    </p:spTree>
    <p:extLst>
      <p:ext uri="{BB962C8B-B14F-4D97-AF65-F5344CB8AC3E}">
        <p14:creationId xmlns:p14="http://schemas.microsoft.com/office/powerpoint/2010/main" val="1743904303"/>
      </p:ext>
    </p:extLst>
  </p:cSld>
</p:sld>
</file>

<file path=ppt/slides/slide1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7A7A8FD-0164-4F9B-B51D-3303AB72D91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13 · KẾT LUẬN</a:t>
            </a:r>
          </a:p>
        </p:txBody>
      </p:sp>
      <p:sp>
        <p:nvSpPr>
          <p:cNvPr id="2" name="">
            <a:extLst xmlns:a="http://schemas.openxmlformats.org/drawingml/2006/main">
              <a:ext uri="{FF2B5EF4-FFF2-40B4-BE49-F238E27FC236}">
                <a16:creationId xmlns:a16="http://schemas.microsoft.com/office/drawing/2014/main" id="{A14BAABA-A949-4332-9FE6-F645D2F5979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Đóng góp của đồ án và bước phát triển tiếp theo</a:t>
            </a:r>
          </a:p>
        </p:txBody>
      </p:sp>
      <p:sp>
        <p:nvSpPr>
          <p:cNvPr id="3" name="">
            <a:extLst xmlns:a="http://schemas.openxmlformats.org/drawingml/2006/main">
              <a:ext uri="{FF2B5EF4-FFF2-40B4-BE49-F238E27FC236}">
                <a16:creationId xmlns:a16="http://schemas.microsoft.com/office/drawing/2014/main" id="{4B6AC830-FDE5-4BC4-BEF0-83A8FEDC97FC}"/>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B79AC1C3-71E1-40FE-BAC4-8BBC9F7A5D5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14 / 15</a:t>
            </a:r>
          </a:p>
        </p:txBody>
      </p:sp>
      <p:sp>
        <p:nvSpPr>
          <p:cNvPr id="5" name="">
            <a:extLst xmlns:a="http://schemas.openxmlformats.org/drawingml/2006/main">
              <a:ext uri="{FF2B5EF4-FFF2-40B4-BE49-F238E27FC236}">
                <a16:creationId xmlns:a16="http://schemas.microsoft.com/office/drawing/2014/main" id="{ECAF15AA-73E7-4DFD-9658-A9FF31EDCADA}"/>
              </a:ext>
            </a:extLst>
          </p:cNvPr>
          <p:cNvSpPr>
            <a:spLocks xmlns:a="http://schemas.openxmlformats.org/drawingml/2006/main" noGrp="1"/>
          </p:cNvSpPr>
          <p:nvPr/>
        </p:nvSpPr>
        <p:spPr>
          <a:xfrm xmlns:a="http://schemas.openxmlformats.org/drawingml/2006/main">
            <a:off x="609600" y="17621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Đóng góp</a:t>
            </a:r>
          </a:p>
        </p:txBody>
      </p:sp>
      <p:sp>
        <p:nvSpPr>
          <p:cNvPr id="6" name="">
            <a:extLst xmlns:a="http://schemas.openxmlformats.org/drawingml/2006/main">
              <a:ext uri="{FF2B5EF4-FFF2-40B4-BE49-F238E27FC236}">
                <a16:creationId xmlns:a16="http://schemas.microsoft.com/office/drawing/2014/main" id="{CBC949EF-AB05-4705-B66B-A272C7BBD41D}"/>
              </a:ext>
            </a:extLst>
          </p:cNvPr>
          <p:cNvSpPr>
            <a:spLocks xmlns:a="http://schemas.openxmlformats.org/drawingml/2006/main" noGrp="1"/>
          </p:cNvSpPr>
          <p:nvPr/>
        </p:nvSpPr>
        <p:spPr>
          <a:xfrm xmlns:a="http://schemas.openxmlformats.org/drawingml/2006/main">
            <a:off x="609600" y="24003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0F688B-9B4E-4096-85F5-9612315D12AB}"/>
              </a:ext>
            </a:extLst>
          </p:cNvPr>
          <p:cNvSpPr>
            <a:spLocks xmlns:a="http://schemas.openxmlformats.org/drawingml/2006/main" noGrp="1"/>
          </p:cNvSpPr>
          <p:nvPr/>
        </p:nvSpPr>
        <p:spPr>
          <a:xfrm xmlns:a="http://schemas.openxmlformats.org/drawingml/2006/main">
            <a:off x="800100" y="233362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Pipeline ba lớp có thể tái lập</a:t>
            </a:r>
          </a:p>
        </p:txBody>
      </p:sp>
      <p:sp>
        <p:nvSpPr>
          <p:cNvPr id="8" name="">
            <a:extLst xmlns:a="http://schemas.openxmlformats.org/drawingml/2006/main">
              <a:ext uri="{FF2B5EF4-FFF2-40B4-BE49-F238E27FC236}">
                <a16:creationId xmlns:a16="http://schemas.microsoft.com/office/drawing/2014/main" id="{CD17EDCE-F563-4B7E-A59F-5AB0502C52A7}"/>
              </a:ext>
            </a:extLst>
          </p:cNvPr>
          <p:cNvSpPr>
            <a:spLocks xmlns:a="http://schemas.openxmlformats.org/drawingml/2006/main" noGrp="1"/>
          </p:cNvSpPr>
          <p:nvPr/>
        </p:nvSpPr>
        <p:spPr>
          <a:xfrm xmlns:a="http://schemas.openxmlformats.org/drawingml/2006/main">
            <a:off x="800100" y="26193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Từ dữ liệu, preprocessing, TF-IDF đến đánh giá.</a:t>
            </a:r>
          </a:p>
        </p:txBody>
      </p:sp>
      <p:sp>
        <p:nvSpPr>
          <p:cNvPr id="9" name="">
            <a:extLst xmlns:a="http://schemas.openxmlformats.org/drawingml/2006/main">
              <a:ext uri="{FF2B5EF4-FFF2-40B4-BE49-F238E27FC236}">
                <a16:creationId xmlns:a16="http://schemas.microsoft.com/office/drawing/2014/main" id="{0B0216FD-48B7-4625-B89F-0F1BF8C03196}"/>
              </a:ext>
            </a:extLst>
          </p:cNvPr>
          <p:cNvSpPr>
            <a:spLocks xmlns:a="http://schemas.openxmlformats.org/drawingml/2006/main" noGrp="1"/>
          </p:cNvSpPr>
          <p:nvPr/>
        </p:nvSpPr>
        <p:spPr>
          <a:xfrm xmlns:a="http://schemas.openxmlformats.org/drawingml/2006/main">
            <a:off x="609600" y="34004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AF27B5D-C5ED-470D-827B-AD02F885C1C0}"/>
              </a:ext>
            </a:extLst>
          </p:cNvPr>
          <p:cNvSpPr>
            <a:spLocks xmlns:a="http://schemas.openxmlformats.org/drawingml/2006/main" noGrp="1"/>
          </p:cNvSpPr>
          <p:nvPr/>
        </p:nvSpPr>
        <p:spPr>
          <a:xfrm xmlns:a="http://schemas.openxmlformats.org/drawingml/2006/main">
            <a:off x="800100" y="33337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Đánh giá đúng quy trình</a:t>
            </a:r>
          </a:p>
        </p:txBody>
      </p:sp>
      <p:sp>
        <p:nvSpPr>
          <p:cNvPr id="11" name="">
            <a:extLst xmlns:a="http://schemas.openxmlformats.org/drawingml/2006/main">
              <a:ext uri="{FF2B5EF4-FFF2-40B4-BE49-F238E27FC236}">
                <a16:creationId xmlns:a16="http://schemas.microsoft.com/office/drawing/2014/main" id="{B96FA836-E666-496C-BC61-68FCED95349E}"/>
              </a:ext>
            </a:extLst>
          </p:cNvPr>
          <p:cNvSpPr>
            <a:spLocks xmlns:a="http://schemas.openxmlformats.org/drawingml/2006/main" noGrp="1"/>
          </p:cNvSpPr>
          <p:nvPr/>
        </p:nvSpPr>
        <p:spPr>
          <a:xfrm xmlns:a="http://schemas.openxmlformats.org/drawingml/2006/main">
            <a:off x="800100" y="36195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Chọn bản sửa bằng CV; đối chiếu trên Final Test cũ.</a:t>
            </a:r>
          </a:p>
        </p:txBody>
      </p:sp>
      <p:sp>
        <p:nvSpPr>
          <p:cNvPr id="12" name="">
            <a:extLst xmlns:a="http://schemas.openxmlformats.org/drawingml/2006/main">
              <a:ext uri="{FF2B5EF4-FFF2-40B4-BE49-F238E27FC236}">
                <a16:creationId xmlns:a16="http://schemas.microsoft.com/office/drawing/2014/main" id="{EDD1AB77-5D46-4360-B708-204C181B5446}"/>
              </a:ext>
            </a:extLst>
          </p:cNvPr>
          <p:cNvSpPr>
            <a:spLocks xmlns:a="http://schemas.openxmlformats.org/drawingml/2006/main" noGrp="1"/>
          </p:cNvSpPr>
          <p:nvPr/>
        </p:nvSpPr>
        <p:spPr>
          <a:xfrm xmlns:a="http://schemas.openxmlformats.org/drawingml/2006/main">
            <a:off x="609600" y="440055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111C449A-E352-43D1-A22C-D492C28326A7}"/>
              </a:ext>
            </a:extLst>
          </p:cNvPr>
          <p:cNvSpPr>
            <a:spLocks xmlns:a="http://schemas.openxmlformats.org/drawingml/2006/main" noGrp="1"/>
          </p:cNvSpPr>
          <p:nvPr/>
        </p:nvSpPr>
        <p:spPr>
          <a:xfrm xmlns:a="http://schemas.openxmlformats.org/drawingml/2006/main">
            <a:off x="800100" y="433387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Ứng dụng minh họa</a:t>
            </a:r>
          </a:p>
        </p:txBody>
      </p:sp>
      <p:sp>
        <p:nvSpPr>
          <p:cNvPr id="14" name="">
            <a:extLst xmlns:a="http://schemas.openxmlformats.org/drawingml/2006/main">
              <a:ext uri="{FF2B5EF4-FFF2-40B4-BE49-F238E27FC236}">
                <a16:creationId xmlns:a16="http://schemas.microsoft.com/office/drawing/2014/main" id="{58121E3C-6A75-4D68-95F1-F6CD0BC37B16}"/>
              </a:ext>
            </a:extLst>
          </p:cNvPr>
          <p:cNvSpPr>
            <a:spLocks xmlns:a="http://schemas.openxmlformats.org/drawingml/2006/main" noGrp="1"/>
          </p:cNvSpPr>
          <p:nvPr/>
        </p:nvSpPr>
        <p:spPr>
          <a:xfrm xmlns:a="http://schemas.openxmlformats.org/drawingml/2006/main">
            <a:off x="800100" y="46196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Insight mô tả và dự đoán review theo thời gian thực.</a:t>
            </a:r>
          </a:p>
        </p:txBody>
      </p:sp>
      <p:sp>
        <p:nvSpPr>
          <p:cNvPr id="15" name="">
            <a:extLst xmlns:a="http://schemas.openxmlformats.org/drawingml/2006/main">
              <a:ext uri="{FF2B5EF4-FFF2-40B4-BE49-F238E27FC236}">
                <a16:creationId xmlns:a16="http://schemas.microsoft.com/office/drawing/2014/main" id="{045EAEBB-8058-49D9-88FD-B776B71B3074}"/>
              </a:ext>
            </a:extLst>
          </p:cNvPr>
          <p:cNvSpPr>
            <a:spLocks xmlns:a="http://schemas.openxmlformats.org/drawingml/2006/main" noGrp="1"/>
          </p:cNvSpPr>
          <p:nvPr/>
        </p:nvSpPr>
        <p:spPr>
          <a:xfrm xmlns:a="http://schemas.openxmlformats.org/drawingml/2006/main">
            <a:off x="6096000" y="1714500"/>
            <a:ext cx="9525" cy="33337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0E963B7-E32D-49CB-B143-AA58CA369CD1}"/>
              </a:ext>
            </a:extLst>
          </p:cNvPr>
          <p:cNvSpPr>
            <a:spLocks xmlns:a="http://schemas.openxmlformats.org/drawingml/2006/main" noGrp="1"/>
          </p:cNvSpPr>
          <p:nvPr/>
        </p:nvSpPr>
        <p:spPr>
          <a:xfrm xmlns:a="http://schemas.openxmlformats.org/drawingml/2006/main">
            <a:off x="6572250" y="1762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78A7FF"/>
                </a:solidFill>
                <a:latin typeface="Helvetica Neue"/>
                <a:ea typeface="Helvetica Neue"/>
                <a:cs typeface="Helvetica Neue"/>
              </a:defRPr>
            </a:pPr>
            <a:r>
              <a:rPr sz="1950" b="1">
                <a:solidFill>
                  <a:srgbClr val="78A7FF"/>
                </a:solidFill>
                <a:latin typeface="Helvetica Neue"/>
                <a:ea typeface="Helvetica Neue"/>
                <a:cs typeface="Helvetica Neue"/>
              </a:rPr>
              <a:t>Hướng phát triển</a:t>
            </a:r>
          </a:p>
        </p:txBody>
      </p:sp>
      <p:sp>
        <p:nvSpPr>
          <p:cNvPr id="17" name="">
            <a:extLst xmlns:a="http://schemas.openxmlformats.org/drawingml/2006/main">
              <a:ext uri="{FF2B5EF4-FFF2-40B4-BE49-F238E27FC236}">
                <a16:creationId xmlns:a16="http://schemas.microsoft.com/office/drawing/2014/main" id="{67A0A141-91C4-47F4-AEE5-B91F8E34C07D}"/>
              </a:ext>
            </a:extLst>
          </p:cNvPr>
          <p:cNvSpPr>
            <a:spLocks xmlns:a="http://schemas.openxmlformats.org/drawingml/2006/main" noGrp="1"/>
          </p:cNvSpPr>
          <p:nvPr/>
        </p:nvSpPr>
        <p:spPr>
          <a:xfrm xmlns:a="http://schemas.openxmlformats.org/drawingml/2006/main">
            <a:off x="6572250" y="24003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13EB6A3-970A-4D49-8ED6-C0EDE1819D3D}"/>
              </a:ext>
            </a:extLst>
          </p:cNvPr>
          <p:cNvSpPr>
            <a:spLocks xmlns:a="http://schemas.openxmlformats.org/drawingml/2006/main" noGrp="1"/>
          </p:cNvSpPr>
          <p:nvPr/>
        </p:nvSpPr>
        <p:spPr>
          <a:xfrm xmlns:a="http://schemas.openxmlformats.org/drawingml/2006/main">
            <a:off x="6762750" y="233362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Gán nhãn thủ công</a:t>
            </a:r>
          </a:p>
        </p:txBody>
      </p:sp>
      <p:sp>
        <p:nvSpPr>
          <p:cNvPr id="19" name="">
            <a:extLst xmlns:a="http://schemas.openxmlformats.org/drawingml/2006/main">
              <a:ext uri="{FF2B5EF4-FFF2-40B4-BE49-F238E27FC236}">
                <a16:creationId xmlns:a16="http://schemas.microsoft.com/office/drawing/2014/main" id="{4E99F13B-FA4D-4C1A-AEEA-46149C576B27}"/>
              </a:ext>
            </a:extLst>
          </p:cNvPr>
          <p:cNvSpPr>
            <a:spLocks xmlns:a="http://schemas.openxmlformats.org/drawingml/2006/main" noGrp="1"/>
          </p:cNvSpPr>
          <p:nvPr/>
        </p:nvSpPr>
        <p:spPr>
          <a:xfrm xmlns:a="http://schemas.openxmlformats.org/drawingml/2006/main">
            <a:off x="6762750" y="261937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Tạo tập chuẩn nhỏ để đo mức nhiễu của weak label.</a:t>
            </a:r>
          </a:p>
        </p:txBody>
      </p:sp>
      <p:sp>
        <p:nvSpPr>
          <p:cNvPr id="20" name="">
            <a:extLst xmlns:a="http://schemas.openxmlformats.org/drawingml/2006/main">
              <a:ext uri="{FF2B5EF4-FFF2-40B4-BE49-F238E27FC236}">
                <a16:creationId xmlns:a16="http://schemas.microsoft.com/office/drawing/2014/main" id="{6E0C7FFB-C16E-40C6-B814-33A877846233}"/>
              </a:ext>
            </a:extLst>
          </p:cNvPr>
          <p:cNvSpPr>
            <a:spLocks xmlns:a="http://schemas.openxmlformats.org/drawingml/2006/main" noGrp="1"/>
          </p:cNvSpPr>
          <p:nvPr/>
        </p:nvSpPr>
        <p:spPr>
          <a:xfrm xmlns:a="http://schemas.openxmlformats.org/drawingml/2006/main">
            <a:off x="6572250" y="34004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1B01F60D-451E-4264-BE3B-C707EBEC0829}"/>
              </a:ext>
            </a:extLst>
          </p:cNvPr>
          <p:cNvSpPr>
            <a:spLocks xmlns:a="http://schemas.openxmlformats.org/drawingml/2006/main" noGrp="1"/>
          </p:cNvSpPr>
          <p:nvPr/>
        </p:nvSpPr>
        <p:spPr>
          <a:xfrm xmlns:a="http://schemas.openxmlformats.org/drawingml/2006/main">
            <a:off x="6762750" y="33337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ABSA</a:t>
            </a:r>
          </a:p>
        </p:txBody>
      </p:sp>
      <p:sp>
        <p:nvSpPr>
          <p:cNvPr id="22" name="">
            <a:extLst xmlns:a="http://schemas.openxmlformats.org/drawingml/2006/main">
              <a:ext uri="{FF2B5EF4-FFF2-40B4-BE49-F238E27FC236}">
                <a16:creationId xmlns:a16="http://schemas.microsoft.com/office/drawing/2014/main" id="{6F7066DE-3977-46EB-9D61-A1CAC4651BB6}"/>
              </a:ext>
            </a:extLst>
          </p:cNvPr>
          <p:cNvSpPr>
            <a:spLocks xmlns:a="http://schemas.openxmlformats.org/drawingml/2006/main" noGrp="1"/>
          </p:cNvSpPr>
          <p:nvPr/>
        </p:nvSpPr>
        <p:spPr>
          <a:xfrm xmlns:a="http://schemas.openxmlformats.org/drawingml/2006/main">
            <a:off x="6762750" y="3619500"/>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Phân tích riêng lương, OT, quản lý và môi trường.</a:t>
            </a:r>
          </a:p>
        </p:txBody>
      </p:sp>
      <p:sp>
        <p:nvSpPr>
          <p:cNvPr id="23" name="">
            <a:extLst xmlns:a="http://schemas.openxmlformats.org/drawingml/2006/main">
              <a:ext uri="{FF2B5EF4-FFF2-40B4-BE49-F238E27FC236}">
                <a16:creationId xmlns:a16="http://schemas.microsoft.com/office/drawing/2014/main" id="{11D1D117-5B15-4956-A7CE-FAA0540B1010}"/>
              </a:ext>
            </a:extLst>
          </p:cNvPr>
          <p:cNvSpPr>
            <a:spLocks xmlns:a="http://schemas.openxmlformats.org/drawingml/2006/main" noGrp="1"/>
          </p:cNvSpPr>
          <p:nvPr/>
        </p:nvSpPr>
        <p:spPr>
          <a:xfrm xmlns:a="http://schemas.openxmlformats.org/drawingml/2006/main">
            <a:off x="6572250" y="4400550"/>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B252C026-9F9A-4969-AE87-0D63DC73A8A8}"/>
              </a:ext>
            </a:extLst>
          </p:cNvPr>
          <p:cNvSpPr>
            <a:spLocks xmlns:a="http://schemas.openxmlformats.org/drawingml/2006/main" noGrp="1"/>
          </p:cNvSpPr>
          <p:nvPr/>
        </p:nvSpPr>
        <p:spPr>
          <a:xfrm xmlns:a="http://schemas.openxmlformats.org/drawingml/2006/main">
            <a:off x="6762750" y="43338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Transformer tiếng Việt</a:t>
            </a:r>
          </a:p>
        </p:txBody>
      </p:sp>
      <p:sp>
        <p:nvSpPr>
          <p:cNvPr id="25" name="">
            <a:extLst xmlns:a="http://schemas.openxmlformats.org/drawingml/2006/main">
              <a:ext uri="{FF2B5EF4-FFF2-40B4-BE49-F238E27FC236}">
                <a16:creationId xmlns:a16="http://schemas.microsoft.com/office/drawing/2014/main" id="{AB59635A-6457-4A59-978B-EC99BC3CCBE0}"/>
              </a:ext>
            </a:extLst>
          </p:cNvPr>
          <p:cNvSpPr>
            <a:spLocks xmlns:a="http://schemas.openxmlformats.org/drawingml/2006/main" noGrp="1"/>
          </p:cNvSpPr>
          <p:nvPr/>
        </p:nvSpPr>
        <p:spPr>
          <a:xfrm xmlns:a="http://schemas.openxmlformats.org/drawingml/2006/main">
            <a:off x="6762750" y="4619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Đối sánh với PhoBERT hoặc ViSoBERT khi có tài nguyên.</a:t>
            </a:r>
          </a:p>
        </p:txBody>
      </p:sp>
      <p:sp>
        <p:nvSpPr>
          <p:cNvPr id="26" name="">
            <a:extLst xmlns:a="http://schemas.openxmlformats.org/drawingml/2006/main">
              <a:ext uri="{FF2B5EF4-FFF2-40B4-BE49-F238E27FC236}">
                <a16:creationId xmlns:a16="http://schemas.microsoft.com/office/drawing/2014/main" id="{FBF425F4-BB3B-4DF9-A324-02D8E9A703CF}"/>
              </a:ext>
            </a:extLst>
          </p:cNvPr>
          <p:cNvSpPr>
            <a:spLocks xmlns:a="http://schemas.openxmlformats.org/drawingml/2006/main" noGrp="1"/>
          </p:cNvSpPr>
          <p:nvPr/>
        </p:nvSpPr>
        <p:spPr>
          <a:xfrm xmlns:a="http://schemas.openxmlformats.org/drawingml/2006/main">
            <a:off x="609600" y="5905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45D9A0"/>
                </a:solidFill>
                <a:latin typeface="Helvetica Neue"/>
                <a:ea typeface="Helvetica Neue"/>
                <a:cs typeface="Helvetica Neue"/>
              </a:defRPr>
            </a:pPr>
            <a:r>
              <a:rPr sz="2100" b="1">
                <a:solidFill>
                  <a:srgbClr val="45D9A0"/>
                </a:solidFill>
                <a:latin typeface="Helvetica Neue"/>
                <a:ea typeface="Helvetica Neue"/>
                <a:cs typeface="Helvetica Neue"/>
              </a:rPr>
              <a:t>Kết thúc nội dung chính. Tiếp theo: live demo.</a:t>
            </a:r>
          </a:p>
        </p:txBody>
      </p:sp>
    </p:spTree>
    <p:extLst>
      <p:ext uri="{BB962C8B-B14F-4D97-AF65-F5344CB8AC3E}">
        <p14:creationId xmlns:p14="http://schemas.microsoft.com/office/powerpoint/2010/main" val="595824234"/>
      </p:ext>
    </p:extLst>
  </p:cSld>
</p:sld>
</file>

<file path=ppt/slides/slide1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15712C-2742-4EB7-A2C4-C92AB2BA7B5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14 · LIVE DEMO</a:t>
            </a:r>
          </a:p>
        </p:txBody>
      </p:sp>
      <p:sp>
        <p:nvSpPr>
          <p:cNvPr id="2" name="">
            <a:extLst xmlns:a="http://schemas.openxmlformats.org/drawingml/2006/main">
              <a:ext uri="{FF2B5EF4-FFF2-40B4-BE49-F238E27FC236}">
                <a16:creationId xmlns:a16="http://schemas.microsoft.com/office/drawing/2014/main" id="{E2502E18-F688-45F1-9D26-3DFAFE4F0913}"/>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Live demo hệ thống phân tích cảm xúc</a:t>
            </a:r>
          </a:p>
        </p:txBody>
      </p:sp>
      <p:sp>
        <p:nvSpPr>
          <p:cNvPr id="3" name="">
            <a:extLst xmlns:a="http://schemas.openxmlformats.org/drawingml/2006/main">
              <a:ext uri="{FF2B5EF4-FFF2-40B4-BE49-F238E27FC236}">
                <a16:creationId xmlns:a16="http://schemas.microsoft.com/office/drawing/2014/main" id="{EC13C0C8-BA75-431D-A55E-AA8EF191C459}"/>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1E33A76E-4461-4517-A781-0AFB57FAE6B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15 / 15</a:t>
            </a:r>
          </a:p>
        </p:txBody>
      </p:sp>
      <p:sp>
        <p:nvSpPr>
          <p:cNvPr id="5" name="">
            <a:extLst xmlns:a="http://schemas.openxmlformats.org/drawingml/2006/main">
              <a:ext uri="{FF2B5EF4-FFF2-40B4-BE49-F238E27FC236}">
                <a16:creationId xmlns:a16="http://schemas.microsoft.com/office/drawing/2014/main" id="{C661BA99-CB6B-41C3-BD3F-7FF700308E7A}"/>
              </a:ext>
            </a:extLst>
          </p:cNvPr>
          <p:cNvSpPr>
            <a:spLocks xmlns:a="http://schemas.openxmlformats.org/drawingml/2006/main" noGrp="1"/>
          </p:cNvSpPr>
          <p:nvPr/>
        </p:nvSpPr>
        <p:spPr>
          <a:xfrm xmlns:a="http://schemas.openxmlformats.org/drawingml/2006/main">
            <a:off x="704850" y="1866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NGƯỜI TRÌNH BÀY</a:t>
            </a:r>
          </a:p>
        </p:txBody>
      </p:sp>
      <p:sp>
        <p:nvSpPr>
          <p:cNvPr id="6" name="">
            <a:extLst xmlns:a="http://schemas.openxmlformats.org/drawingml/2006/main">
              <a:ext uri="{FF2B5EF4-FFF2-40B4-BE49-F238E27FC236}">
                <a16:creationId xmlns:a16="http://schemas.microsoft.com/office/drawing/2014/main" id="{638F318A-5DB9-4090-BD81-F34ABCB81E81}"/>
              </a:ext>
            </a:extLst>
          </p:cNvPr>
          <p:cNvSpPr>
            <a:spLocks xmlns:a="http://schemas.openxmlformats.org/drawingml/2006/main" noGrp="1"/>
          </p:cNvSpPr>
          <p:nvPr/>
        </p:nvSpPr>
        <p:spPr>
          <a:xfrm xmlns:a="http://schemas.openxmlformats.org/drawingml/2006/main">
            <a:off x="704850" y="2209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45D9A0"/>
                </a:solidFill>
                <a:latin typeface="Helvetica Neue"/>
                <a:ea typeface="Helvetica Neue"/>
                <a:cs typeface="Helvetica Neue"/>
              </a:defRPr>
            </a:pPr>
            <a:r>
              <a:rPr sz="2850" b="1">
                <a:solidFill>
                  <a:srgbClr val="45D9A0"/>
                </a:solidFill>
                <a:latin typeface="Helvetica Neue"/>
                <a:ea typeface="Helvetica Neue"/>
                <a:cs typeface="Helvetica Neue"/>
              </a:rPr>
              <a:t>NGUYỄN DUY KHANG</a:t>
            </a:r>
          </a:p>
        </p:txBody>
      </p:sp>
      <p:sp>
        <p:nvSpPr>
          <p:cNvPr id="7" name="">
            <a:extLst xmlns:a="http://schemas.openxmlformats.org/drawingml/2006/main">
              <a:ext uri="{FF2B5EF4-FFF2-40B4-BE49-F238E27FC236}">
                <a16:creationId xmlns:a16="http://schemas.microsoft.com/office/drawing/2014/main" id="{7274BEB1-638E-40BB-80DB-F62D354051A8}"/>
              </a:ext>
            </a:extLst>
          </p:cNvPr>
          <p:cNvSpPr>
            <a:spLocks xmlns:a="http://schemas.openxmlformats.org/drawingml/2006/main" noGrp="1"/>
          </p:cNvSpPr>
          <p:nvPr/>
        </p:nvSpPr>
        <p:spPr>
          <a:xfrm xmlns:a="http://schemas.openxmlformats.org/drawingml/2006/main">
            <a:off x="704850" y="2952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Minh họa cách một review mới đi qua pipeline đã huấn luyện</a:t>
            </a:r>
          </a:p>
        </p:txBody>
      </p:sp>
      <p:sp>
        <p:nvSpPr>
          <p:cNvPr id="8" name="">
            <a:extLst xmlns:a="http://schemas.openxmlformats.org/drawingml/2006/main">
              <a:ext uri="{FF2B5EF4-FFF2-40B4-BE49-F238E27FC236}">
                <a16:creationId xmlns:a16="http://schemas.microsoft.com/office/drawing/2014/main" id="{583FE3D4-5456-485E-9E76-0B7CA3FB7F99}"/>
              </a:ext>
            </a:extLst>
          </p:cNvPr>
          <p:cNvSpPr>
            <a:spLocks xmlns:a="http://schemas.openxmlformats.org/drawingml/2006/main" noGrp="1"/>
          </p:cNvSpPr>
          <p:nvPr/>
        </p:nvSpPr>
        <p:spPr>
          <a:xfrm xmlns:a="http://schemas.openxmlformats.org/drawingml/2006/main">
            <a:off x="5857875" y="1714500"/>
            <a:ext cx="9525" cy="342900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F044697-FC5A-4C6A-B305-4D7400DB5B13}"/>
              </a:ext>
            </a:extLst>
          </p:cNvPr>
          <p:cNvSpPr>
            <a:spLocks xmlns:a="http://schemas.openxmlformats.org/drawingml/2006/main" noGrp="1"/>
          </p:cNvSpPr>
          <p:nvPr/>
        </p:nvSpPr>
        <p:spPr>
          <a:xfrm xmlns:a="http://schemas.openxmlformats.org/drawingml/2006/main">
            <a:off x="6334125" y="1733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78A7FF"/>
                </a:solidFill>
                <a:latin typeface="Helvetica Neue"/>
                <a:ea typeface="Helvetica Neue"/>
                <a:cs typeface="Helvetica Neue"/>
              </a:defRPr>
            </a:pPr>
            <a:r>
              <a:rPr sz="1800" b="1">
                <a:solidFill>
                  <a:srgbClr val="78A7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F0BABBAC-7233-46B0-8D59-52B08A469B49}"/>
              </a:ext>
            </a:extLst>
          </p:cNvPr>
          <p:cNvSpPr>
            <a:spLocks xmlns:a="http://schemas.openxmlformats.org/drawingml/2006/main" noGrp="1"/>
          </p:cNvSpPr>
          <p:nvPr/>
        </p:nvSpPr>
        <p:spPr>
          <a:xfrm xmlns:a="http://schemas.openxmlformats.org/drawingml/2006/main">
            <a:off x="7143750" y="17335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Chọn review mẫu</a:t>
            </a:r>
          </a:p>
        </p:txBody>
      </p:sp>
      <p:sp>
        <p:nvSpPr>
          <p:cNvPr id="11" name="">
            <a:extLst xmlns:a="http://schemas.openxmlformats.org/drawingml/2006/main">
              <a:ext uri="{FF2B5EF4-FFF2-40B4-BE49-F238E27FC236}">
                <a16:creationId xmlns:a16="http://schemas.microsoft.com/office/drawing/2014/main" id="{1F150731-FD58-4262-9514-CFB1F824DBB8}"/>
              </a:ext>
            </a:extLst>
          </p:cNvPr>
          <p:cNvSpPr>
            <a:spLocks xmlns:a="http://schemas.openxmlformats.org/drawingml/2006/main" noGrp="1"/>
          </p:cNvSpPr>
          <p:nvPr/>
        </p:nvSpPr>
        <p:spPr>
          <a:xfrm xmlns:a="http://schemas.openxmlformats.org/drawingml/2006/main">
            <a:off x="7143750" y="20955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Bấm mẫu “Nhiều vế” có sẵn trong ứng dụng</a:t>
            </a:r>
          </a:p>
        </p:txBody>
      </p:sp>
      <p:sp>
        <p:nvSpPr>
          <p:cNvPr id="12" name="">
            <a:extLst xmlns:a="http://schemas.openxmlformats.org/drawingml/2006/main">
              <a:ext uri="{FF2B5EF4-FFF2-40B4-BE49-F238E27FC236}">
                <a16:creationId xmlns:a16="http://schemas.microsoft.com/office/drawing/2014/main" id="{EB2080AB-3FF7-45CB-80A4-13C5EEFD9F50}"/>
              </a:ext>
            </a:extLst>
          </p:cNvPr>
          <p:cNvSpPr>
            <a:spLocks xmlns:a="http://schemas.openxmlformats.org/drawingml/2006/main" noGrp="1"/>
          </p:cNvSpPr>
          <p:nvPr/>
        </p:nvSpPr>
        <p:spPr>
          <a:xfrm xmlns:a="http://schemas.openxmlformats.org/drawingml/2006/main">
            <a:off x="6334125" y="29527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9B50FE4-56CE-48BB-973F-FA7526673443}"/>
              </a:ext>
            </a:extLst>
          </p:cNvPr>
          <p:cNvSpPr>
            <a:spLocks xmlns:a="http://schemas.openxmlformats.org/drawingml/2006/main" noGrp="1"/>
          </p:cNvSpPr>
          <p:nvPr/>
        </p:nvSpPr>
        <p:spPr>
          <a:xfrm xmlns:a="http://schemas.openxmlformats.org/drawingml/2006/main">
            <a:off x="7143750" y="2952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Quan sát dự đoán</a:t>
            </a:r>
          </a:p>
        </p:txBody>
      </p:sp>
      <p:sp>
        <p:nvSpPr>
          <p:cNvPr id="14" name="">
            <a:extLst xmlns:a="http://schemas.openxmlformats.org/drawingml/2006/main">
              <a:ext uri="{FF2B5EF4-FFF2-40B4-BE49-F238E27FC236}">
                <a16:creationId xmlns:a16="http://schemas.microsoft.com/office/drawing/2014/main" id="{8634915B-2043-4A6B-A37E-E68D41D84F7D}"/>
              </a:ext>
            </a:extLst>
          </p:cNvPr>
          <p:cNvSpPr>
            <a:spLocks xmlns:a="http://schemas.openxmlformats.org/drawingml/2006/main" noGrp="1"/>
          </p:cNvSpPr>
          <p:nvPr/>
        </p:nvSpPr>
        <p:spPr>
          <a:xfrm xmlns:a="http://schemas.openxmlformats.org/drawingml/2006/main">
            <a:off x="7143750" y="33147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Đọc nhãn cảm xúc và xác suất của ba lớp</a:t>
            </a:r>
          </a:p>
        </p:txBody>
      </p:sp>
      <p:sp>
        <p:nvSpPr>
          <p:cNvPr id="15" name="">
            <a:extLst xmlns:a="http://schemas.openxmlformats.org/drawingml/2006/main">
              <a:ext uri="{FF2B5EF4-FFF2-40B4-BE49-F238E27FC236}">
                <a16:creationId xmlns:a16="http://schemas.microsoft.com/office/drawing/2014/main" id="{7890A6AE-665C-4996-9E6F-2CE12D8D82E9}"/>
              </a:ext>
            </a:extLst>
          </p:cNvPr>
          <p:cNvSpPr>
            <a:spLocks xmlns:a="http://schemas.openxmlformats.org/drawingml/2006/main" noGrp="1"/>
          </p:cNvSpPr>
          <p:nvPr/>
        </p:nvSpPr>
        <p:spPr>
          <a:xfrm xmlns:a="http://schemas.openxmlformats.org/drawingml/2006/main">
            <a:off x="6334125" y="41719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F4D35E"/>
                </a:solidFill>
                <a:latin typeface="Helvetica Neue"/>
                <a:ea typeface="Helvetica Neue"/>
                <a:cs typeface="Helvetica Neue"/>
              </a:defRPr>
            </a:pPr>
            <a:r>
              <a:rPr sz="1800" b="1">
                <a:solidFill>
                  <a:srgbClr val="F4D35E"/>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809D6831-FB8F-4192-A7A4-1BF9BD30C27F}"/>
              </a:ext>
            </a:extLst>
          </p:cNvPr>
          <p:cNvSpPr>
            <a:spLocks xmlns:a="http://schemas.openxmlformats.org/drawingml/2006/main" noGrp="1"/>
          </p:cNvSpPr>
          <p:nvPr/>
        </p:nvSpPr>
        <p:spPr>
          <a:xfrm xmlns:a="http://schemas.openxmlformats.org/drawingml/2006/main">
            <a:off x="7143750" y="41719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Kiểm tra đầu vào</a:t>
            </a:r>
          </a:p>
        </p:txBody>
      </p:sp>
      <p:sp>
        <p:nvSpPr>
          <p:cNvPr id="17" name="">
            <a:extLst xmlns:a="http://schemas.openxmlformats.org/drawingml/2006/main">
              <a:ext uri="{FF2B5EF4-FFF2-40B4-BE49-F238E27FC236}">
                <a16:creationId xmlns:a16="http://schemas.microsoft.com/office/drawing/2014/main" id="{15C04EAE-75CF-493F-B11A-2FDE4FE34CA9}"/>
              </a:ext>
            </a:extLst>
          </p:cNvPr>
          <p:cNvSpPr>
            <a:spLocks xmlns:a="http://schemas.openxmlformats.org/drawingml/2006/main" noGrp="1"/>
          </p:cNvSpPr>
          <p:nvPr/>
        </p:nvSpPr>
        <p:spPr>
          <a:xfrm xmlns:a="http://schemas.openxmlformats.org/drawingml/2006/main">
            <a:off x="7143750" y="45339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Xem văn bản sau tiền xử lý và các token TF-IDF nổi bật</a:t>
            </a:r>
          </a:p>
        </p:txBody>
      </p:sp>
      <p:sp>
        <p:nvSpPr>
          <p:cNvPr id="18" name="">
            <a:extLst xmlns:a="http://schemas.openxmlformats.org/drawingml/2006/main">
              <a:ext uri="{FF2B5EF4-FFF2-40B4-BE49-F238E27FC236}">
                <a16:creationId xmlns:a16="http://schemas.microsoft.com/office/drawing/2014/main" id="{3DCF2161-5E9B-4CAA-B2E3-ADACB66E26CC}"/>
              </a:ext>
            </a:extLst>
          </p:cNvPr>
          <p:cNvSpPr>
            <a:spLocks xmlns:a="http://schemas.openxmlformats.org/drawingml/2006/main" noGrp="1"/>
          </p:cNvSpPr>
          <p:nvPr/>
        </p:nvSpPr>
        <p:spPr>
          <a:xfrm xmlns:a="http://schemas.openxmlformats.org/drawingml/2006/main">
            <a:off x="704850" y="5905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45D9A0"/>
                </a:solidFill>
                <a:latin typeface="Helvetica Neue"/>
                <a:ea typeface="Helvetica Neue"/>
                <a:cs typeface="Helvetica Neue"/>
              </a:defRPr>
            </a:pPr>
            <a:r>
              <a:rPr sz="1500" b="0">
                <a:solidFill>
                  <a:srgbClr val="45D9A0"/>
                </a:solidFill>
                <a:latin typeface="Helvetica Neue"/>
                <a:ea typeface="Helvetica Neue"/>
                <a:cs typeface="Helvetica Neue"/>
              </a:rPr>
              <a:t>Sau trang này, nhóm chuyển sang ứng dụng Streamlit để thao tác trực tiếp.</a:t>
            </a:r>
          </a:p>
        </p:txBody>
      </p:sp>
    </p:spTree>
    <p:extLst>
      <p:ext uri="{BB962C8B-B14F-4D97-AF65-F5344CB8AC3E}">
        <p14:creationId xmlns:p14="http://schemas.microsoft.com/office/powerpoint/2010/main" val="242390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2026-09-23T07:36:50.8470000Z</dcterms:created>
  <dcterms:modified xsi:type="dcterms:W3CDTF">2026-09-23T07:36:50.8470000Z</dcterms:modified>
</coreProperties>
</file>