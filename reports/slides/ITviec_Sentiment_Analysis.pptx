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3.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4.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5.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6.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14d24aaec7f42ed" /><Relationship Type="http://schemas.openxmlformats.org/officeDocument/2006/relationships/extended-properties" Target="/docProps/app.xml" Id="Re09332f2e4da4ed9" /><Relationship Type="http://schemas.openxmlformats.org/officeDocument/2006/relationships/officeDocument" Target="/ppt/presentation.xml" Id="Rd214b338a33843fe" /></Relationships>
</file>

<file path=ppt/presentation.xml><?xml version="1.0" encoding="utf-8"?>
<p:presentation xmlns:p="http://schemas.openxmlformats.org/presentationml/2006/main">
  <p:sldMasterIdLst>
    <p:sldMasterId xmlns:r="http://schemas.openxmlformats.org/officeDocument/2006/relationships" id="2147483648" r:id="R9ca045bcc3b74634"/>
  </p:sldMasterIdLst>
  <p:notesMasterIdLst>
    <p:notesMasterId xmlns:r="http://schemas.openxmlformats.org/officeDocument/2006/relationships" r:id="R16b124bf7d544c74"/>
  </p:notesMasterIdLst>
  <p:sldIdLst>
    <p:sldId xmlns:r="http://schemas.openxmlformats.org/officeDocument/2006/relationships" id="256" r:id="R2cf7305f57b84e09"/>
    <p:sldId xmlns:r="http://schemas.openxmlformats.org/officeDocument/2006/relationships" id="257" r:id="R8ac38a9ec02b4296"/>
    <p:sldId xmlns:r="http://schemas.openxmlformats.org/officeDocument/2006/relationships" id="258" r:id="R1bba0e616c624eda"/>
    <p:sldId xmlns:r="http://schemas.openxmlformats.org/officeDocument/2006/relationships" id="259" r:id="R2cb25ae990404526"/>
    <p:sldId xmlns:r="http://schemas.openxmlformats.org/officeDocument/2006/relationships" id="260" r:id="R70c4bd89d97048e5"/>
    <p:sldId xmlns:r="http://schemas.openxmlformats.org/officeDocument/2006/relationships" id="261" r:id="Rd07bad9cf40f46e0"/>
    <p:sldId xmlns:r="http://schemas.openxmlformats.org/officeDocument/2006/relationships" id="262" r:id="Rd4c3e423f44f46d0"/>
    <p:sldId xmlns:r="http://schemas.openxmlformats.org/officeDocument/2006/relationships" id="263" r:id="Rca170baab35249e4"/>
    <p:sldId xmlns:r="http://schemas.openxmlformats.org/officeDocument/2006/relationships" id="264" r:id="R9a7dc6d346fe437b"/>
    <p:sldId xmlns:r="http://schemas.openxmlformats.org/officeDocument/2006/relationships" id="265" r:id="Rf36b8e34bc0843be"/>
    <p:sldId xmlns:r="http://schemas.openxmlformats.org/officeDocument/2006/relationships" id="266" r:id="Rfdba7407daed41db"/>
    <p:sldId xmlns:r="http://schemas.openxmlformats.org/officeDocument/2006/relationships" id="267" r:id="R45e98c462c6f44e3"/>
    <p:sldId xmlns:r="http://schemas.openxmlformats.org/officeDocument/2006/relationships" id="268" r:id="R3af3cbe22e7b4ce0"/>
    <p:sldId xmlns:r="http://schemas.openxmlformats.org/officeDocument/2006/relationships" id="269" r:id="R7c1f287fc0a84245"/>
    <p:sldId xmlns:r="http://schemas.openxmlformats.org/officeDocument/2006/relationships" id="270" r:id="R78dd6b8213bf468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263c180c2d84524" /><Relationship Type="http://schemas.openxmlformats.org/officeDocument/2006/relationships/slideMaster" Target="/ppt/slideMasters/slideMaster1.xml" Id="R9ca045bcc3b74634" /><Relationship Type="http://schemas.openxmlformats.org/officeDocument/2006/relationships/notesMaster" Target="/ppt/notesMasters/notesMaster1.xml" Id="R16b124bf7d544c74" /><Relationship Type="http://schemas.openxmlformats.org/officeDocument/2006/relationships/presProps" Target="/ppt/presProps.xml" Id="R92da5933a6ca4868" /><Relationship Type="http://schemas.openxmlformats.org/officeDocument/2006/relationships/tableStyles" Target="/ppt/tableStyles.xml" Id="R8343bd24a2264b2e" /><Relationship Type="http://schemas.openxmlformats.org/officeDocument/2006/relationships/slide" Target="/ppt/slides/slide1.xml" Id="R2cf7305f57b84e09" /><Relationship Type="http://schemas.openxmlformats.org/officeDocument/2006/relationships/slide" Target="/ppt/slides/slide2.xml" Id="R8ac38a9ec02b4296" /><Relationship Type="http://schemas.openxmlformats.org/officeDocument/2006/relationships/slide" Target="/ppt/slides/slide3.xml" Id="R1bba0e616c624eda" /><Relationship Type="http://schemas.openxmlformats.org/officeDocument/2006/relationships/slide" Target="/ppt/slides/slide4.xml" Id="R2cb25ae990404526" /><Relationship Type="http://schemas.openxmlformats.org/officeDocument/2006/relationships/slide" Target="/ppt/slides/slide5.xml" Id="R70c4bd89d97048e5" /><Relationship Type="http://schemas.openxmlformats.org/officeDocument/2006/relationships/slide" Target="/ppt/slides/slide6.xml" Id="Rd07bad9cf40f46e0" /><Relationship Type="http://schemas.openxmlformats.org/officeDocument/2006/relationships/slide" Target="/ppt/slides/slide7.xml" Id="Rd4c3e423f44f46d0" /><Relationship Type="http://schemas.openxmlformats.org/officeDocument/2006/relationships/slide" Target="/ppt/slides/slide8.xml" Id="Rca170baab35249e4" /><Relationship Type="http://schemas.openxmlformats.org/officeDocument/2006/relationships/slide" Target="/ppt/slides/slide9.xml" Id="R9a7dc6d346fe437b" /><Relationship Type="http://schemas.openxmlformats.org/officeDocument/2006/relationships/slide" Target="/ppt/slides/slide10.xml" Id="Rf36b8e34bc0843be" /><Relationship Type="http://schemas.openxmlformats.org/officeDocument/2006/relationships/slide" Target="/ppt/slides/slide11.xml" Id="Rfdba7407daed41db" /><Relationship Type="http://schemas.openxmlformats.org/officeDocument/2006/relationships/slide" Target="/ppt/slides/slide12.xml" Id="R45e98c462c6f44e3" /><Relationship Type="http://schemas.openxmlformats.org/officeDocument/2006/relationships/slide" Target="/ppt/slides/slide13.xml" Id="R3af3cbe22e7b4ce0" /><Relationship Type="http://schemas.openxmlformats.org/officeDocument/2006/relationships/slide" Target="/ppt/slides/slide14.xml" Id="R7c1f287fc0a84245" /><Relationship Type="http://schemas.openxmlformats.org/officeDocument/2006/relationships/slide" Target="/ppt/slides/slide15.xml" Id="R78dd6b8213bf468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be3b3bc50cf4dc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84d2981d8a24b99" /><Relationship Type="http://schemas.openxmlformats.org/officeDocument/2006/relationships/notesMaster" Target="/ppt/notesMasters/notesMaster1.xml" Id="Re0d1f0f9403541ea" /></Relationships>
</file>

<file path=ppt/notesSlides/_rels/notesSlide2.xml.rels>&#65279;<?xml version="1.0" encoding="utf-8"?><Relationships xmlns="http://schemas.openxmlformats.org/package/2006/relationships"><Relationship Type="http://schemas.openxmlformats.org/officeDocument/2006/relationships/slide" Target="/ppt/slides/slide2.xml" Id="R0d262e1866ca44d6" /><Relationship Type="http://schemas.openxmlformats.org/officeDocument/2006/relationships/notesMaster" Target="/ppt/notesMasters/notesMaster1.xml" Id="R52da1c143adb4ca0" /></Relationships>
</file>

<file path=ppt/notesSlides/_rels/notesSlide3.xml.rels>&#65279;<?xml version="1.0" encoding="utf-8"?><Relationships xmlns="http://schemas.openxmlformats.org/package/2006/relationships"><Relationship Type="http://schemas.openxmlformats.org/officeDocument/2006/relationships/slide" Target="/ppt/slides/slide3.xml" Id="R7dbee1b874ee40ab" /><Relationship Type="http://schemas.openxmlformats.org/officeDocument/2006/relationships/notesMaster" Target="/ppt/notesMasters/notesMaster1.xml" Id="R9a4d7b915f9b4ab4" /></Relationships>
</file>

<file path=ppt/notesSlides/_rels/notesSlide4.xml.rels>&#65279;<?xml version="1.0" encoding="utf-8"?><Relationships xmlns="http://schemas.openxmlformats.org/package/2006/relationships"><Relationship Type="http://schemas.openxmlformats.org/officeDocument/2006/relationships/slide" Target="/ppt/slides/slide4.xml" Id="R066bc01f05654882" /><Relationship Type="http://schemas.openxmlformats.org/officeDocument/2006/relationships/notesMaster" Target="/ppt/notesMasters/notesMaster1.xml" Id="R4530cefac8184561" /></Relationships>
</file>

<file path=ppt/notesSlides/_rels/notesSlide5.xml.rels>&#65279;<?xml version="1.0" encoding="utf-8"?><Relationships xmlns="http://schemas.openxmlformats.org/package/2006/relationships"><Relationship Type="http://schemas.openxmlformats.org/officeDocument/2006/relationships/slide" Target="/ppt/slides/slide5.xml" Id="Rf5343c183ede49b3" /><Relationship Type="http://schemas.openxmlformats.org/officeDocument/2006/relationships/notesMaster" Target="/ppt/notesMasters/notesMaster1.xml" Id="R03d048ca56e34ff8" /></Relationships>
</file>

<file path=ppt/notesSlides/_rels/notesSlide6.xml.rels>&#65279;<?xml version="1.0" encoding="utf-8"?><Relationships xmlns="http://schemas.openxmlformats.org/package/2006/relationships"><Relationship Type="http://schemas.openxmlformats.org/officeDocument/2006/relationships/slide" Target="/ppt/slides/slide6.xml" Id="R2409af9628d345d9" /><Relationship Type="http://schemas.openxmlformats.org/officeDocument/2006/relationships/notesMaster" Target="/ppt/notesMasters/notesMaster1.xml" Id="R5b78c0c7d65b45de" /></Relationships>
</file>

<file path=ppt/notesSlides/_rels/notesSlide7.xml.rels>&#65279;<?xml version="1.0" encoding="utf-8"?><Relationships xmlns="http://schemas.openxmlformats.org/package/2006/relationships"><Relationship Type="http://schemas.openxmlformats.org/officeDocument/2006/relationships/slide" Target="/ppt/slides/slide7.xml" Id="R623ae925039349a9" /><Relationship Type="http://schemas.openxmlformats.org/officeDocument/2006/relationships/notesMaster" Target="/ppt/notesMasters/notesMaster1.xml" Id="R31a43de085aa4ba8" /></Relationships>
</file>

<file path=ppt/notesSlides/_rels/notesSlide8.xml.rels>&#65279;<?xml version="1.0" encoding="utf-8"?><Relationships xmlns="http://schemas.openxmlformats.org/package/2006/relationships"><Relationship Type="http://schemas.openxmlformats.org/officeDocument/2006/relationships/slide" Target="/ppt/slides/slide8.xml" Id="R583be1550f144527" /><Relationship Type="http://schemas.openxmlformats.org/officeDocument/2006/relationships/notesMaster" Target="/ppt/notesMasters/notesMaster1.xml" Id="R39c1b597ecad4565" /></Relationships>
</file>

<file path=ppt/notesSlides/_rels/notesSlide9.xml.rels>&#65279;<?xml version="1.0" encoding="utf-8"?><Relationships xmlns="http://schemas.openxmlformats.org/package/2006/relationships"><Relationship Type="http://schemas.openxmlformats.org/officeDocument/2006/relationships/slide" Target="/ppt/slides/slide9.xml" Id="Ree2a83b1082d455e" /><Relationship Type="http://schemas.openxmlformats.org/officeDocument/2006/relationships/notesMaster" Target="/ppt/notesMasters/notesMaster1.xml" Id="R9dfed830d09d4c4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d8420049b5c42d3" /><Relationship Type="http://schemas.openxmlformats.org/officeDocument/2006/relationships/notesMaster" Target="/ppt/notesMasters/notesMaster1.xml" Id="R680522aa209948c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8b68d0ce14d4e58" /><Relationship Type="http://schemas.openxmlformats.org/officeDocument/2006/relationships/notesMaster" Target="/ppt/notesMasters/notesMaster1.xml" Id="R0db8ae30f162477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8054b3b490f4cdf" /><Relationship Type="http://schemas.openxmlformats.org/officeDocument/2006/relationships/notesMaster" Target="/ppt/notesMasters/notesMaster1.xml" Id="R961043f22bb545b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2b4796fe3904c69" /><Relationship Type="http://schemas.openxmlformats.org/officeDocument/2006/relationships/notesMaster" Target="/ppt/notesMasters/notesMaster1.xml" Id="R0a8db63f9dac49e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ef96300719d4312" /><Relationship Type="http://schemas.openxmlformats.org/officeDocument/2006/relationships/notesMaster" Target="/ppt/notesMasters/notesMaster1.xml" Id="R7d3b301882cb44e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ec0e4bc283a4d56" /><Relationship Type="http://schemas.openxmlformats.org/officeDocument/2006/relationships/notesMaster" Target="/ppt/notesMasters/notesMaster1.xml" Id="R9982fe01fa9f4c5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20s]</a:t>
            </a:r>
          </a:p>
          <a:p xmlns:a="http://schemas.openxmlformats.org/drawingml/2006/main">
            <a:r>
              <a:t>Giới thiệu đề tài, nhóm và phạm vi dữ liệu. Nhấn mạnh đây là bài toán phân loại nhãn cảm xúc suy ra từ rating.</a:t>
            </a:r>
          </a:p>
          <a:p xmlns:a="http://schemas.openxmlformats.org/drawingml/2006/main">
            <a:r>
              <a:t/>
            </a:r>
          </a:p>
          <a:p xmlns:a="http://schemas.openxmlformats.org/drawingml/2006/main">
            <a:r>
              <a:t>Nguồn nội bộ: README.md; models/artifact_manifest.json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40s]</a:t>
            </a:r>
          </a:p>
          <a:p xmlns:a="http://schemas.openxmlformats.org/drawingml/2006/main">
            <a:r>
              <a:t>Giải thích vì sao Accuracy không đủ và vì sao dự án ưu tiên Macro F1. Nhắc rõ bản chất weak label.</a:t>
            </a:r>
          </a:p>
          <a:p xmlns:a="http://schemas.openxmlformats.org/drawingml/2006/main">
            <a:r>
              <a:t/>
            </a:r>
          </a:p>
          <a:p xmlns:a="http://schemas.openxmlformats.org/drawingml/2006/main">
            <a:r>
              <a:t>Nguồn nội bộ: README.md mục 2.2; reports/eda_feature_engineering.md mục 3.1.1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30s]</a:t>
            </a:r>
          </a:p>
          <a:p xmlns:a="http://schemas.openxmlformats.org/drawingml/2006/main">
            <a:r>
              <a:t>Đi nhanh qua năm bước. Tập trung vào nguyên tắc: chọn feature và model trên Development, chỉ mở Final Test một lần.</a:t>
            </a:r>
          </a:p>
          <a:p xmlns:a="http://schemas.openxmlformats.org/drawingml/2006/main">
            <a:r>
              <a:t/>
            </a:r>
          </a:p>
          <a:p xmlns:a="http://schemas.openxmlformats.org/drawingml/2006/main">
            <a:r>
              <a:t>Nguồn nội bộ: README.md mục 2.4; models/artifact_manifest.json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50s]</a:t>
            </a:r>
          </a:p>
          <a:p xmlns:a="http://schemas.openxmlformats.org/drawingml/2006/main">
            <a:r>
              <a:t>Trình bày hai tầng tiền xử lý và đọc ví dụ. Không khẳng định mọi từ ghép đều có dấu gạch dưới vì kết quả phụ thuộc tokenizer/runtime.</a:t>
            </a:r>
          </a:p>
          <a:p xmlns:a="http://schemas.openxmlformats.org/drawingml/2006/main">
            <a:r>
              <a:t/>
            </a:r>
          </a:p>
          <a:p xmlns:a="http://schemas.openxmlformats.org/drawingml/2006/main">
            <a:r>
              <a:t>Nguồn nội bộ: src/preprocessing.py; src/tv4_analysis.py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50s]</a:t>
            </a:r>
          </a:p>
          <a:p xmlns:a="http://schemas.openxmlformats.org/drawingml/2006/main">
            <a:r>
              <a:t>Nêu ba tương quan chính. Giải thích vì sao không đưa điểm khía cạnh vào pipeline text-only: tránh shortcut và giữ đúng bối cảnh suy luận.</a:t>
            </a:r>
          </a:p>
          <a:p xmlns:a="http://schemas.openxmlformats.org/drawingml/2006/main">
            <a:r>
              <a:t/>
            </a:r>
          </a:p>
          <a:p xmlns:a="http://schemas.openxmlformats.org/drawingml/2006/main">
            <a:r>
              <a:t>Nguồn nội bộ: reports/eda_feature_engineering.md mục 3.1.3; reports/figures/eda_aspect_correlation.png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50s]</a:t>
            </a:r>
          </a:p>
          <a:p xmlns:a="http://schemas.openxmlformats.org/drawingml/2006/main">
            <a:r>
              <a:t>Giải thích lợi ích của bigram và nhắc lại contract dữ liệu sau duplicate audit. Tập Final Test không tham gia chọn feature.</a:t>
            </a:r>
          </a:p>
          <a:p xmlns:a="http://schemas.openxmlformats.org/drawingml/2006/main">
            <a:r>
              <a:t/>
            </a:r>
          </a:p>
          <a:p xmlns:a="http://schemas.openxmlformats.org/drawingml/2006/main">
            <a:r>
              <a:t>Nguồn nội bộ: reports/eda_feature_engineering.md mục 3.2.3; models/artifact_manifest.json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55s]</a:t>
            </a:r>
          </a:p>
          <a:p xmlns:a="http://schemas.openxmlformats.org/drawingml/2006/main">
            <a:r>
              <a:t>Giới thiệu nhanh năm mô hình. Tập trung giải thích vị trí của SMOTE trong Pipeline và lý do chống data leakage.</a:t>
            </a:r>
          </a:p>
          <a:p xmlns:a="http://schemas.openxmlformats.org/drawingml/2006/main">
            <a:r>
              <a:t/>
            </a:r>
          </a:p>
          <a:p xmlns:a="http://schemas.openxmlformats.org/drawingml/2006/main">
            <a:r>
              <a:t>Nguồn nội bộ: reports/modeling_hyperparameter_tuning.md mục 4.2.1; src/models.py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45s]</a:t>
            </a:r>
          </a:p>
          <a:p xmlns:a="http://schemas.openxmlformats.org/drawingml/2006/main">
            <a:r>
              <a:t>Nêu top 2 gần như ngang nhau. Logistic Regression được chọn vì điểm CV nhỉnh hơn và trả xác suất trực tiếp, không phải vì vượt trội rõ về thống kê.</a:t>
            </a:r>
          </a:p>
          <a:p xmlns:a="http://schemas.openxmlformats.org/drawingml/2006/main">
            <a:r>
              <a:t/>
            </a:r>
          </a:p>
          <a:p xmlns:a="http://schemas.openxmlformats.org/drawingml/2006/main">
            <a:r>
              <a:t>Nguồn nội bộ: reports/evaluation/model_ranking_cv.csv; reports/modeling_hyperparameter_tuning.md mục 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60s]</a:t>
            </a:r>
          </a:p>
          <a:p xmlns:a="http://schemas.openxmlformats.org/drawingml/2006/main">
            <a:r>
              <a:t>Đọc ba chỉ số chính, sau đó chỉ vào confusion matrix. Nhấn mạnh lớp Positive mạnh, Negative yếu và Accuracy trùng mức majority baseline.</a:t>
            </a:r>
          </a:p>
          <a:p xmlns:a="http://schemas.openxmlformats.org/drawingml/2006/main">
            <a:r>
              <a:t/>
            </a:r>
          </a:p>
          <a:p xmlns:a="http://schemas.openxmlformats.org/drawingml/2006/main">
            <a:r>
              <a:t>Nguồn nội bộ: reports/evaluation/final_test_metrics.csv; reports/evaluation/confusion_matrix.csv; reports/evaluation/final_test_per_class.csv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50s]</a:t>
            </a:r>
          </a:p>
          <a:p xmlns:a="http://schemas.openxmlformats.org/drawingml/2006/main">
            <a:r>
              <a:t>Giải thích ba nhóm lỗi đúng với 15 mẫu đã đọc thủ công. Không gọi review ngắn là nhóm chính vì báo cáo hiện tại không có nhóm đó.</a:t>
            </a:r>
          </a:p>
          <a:p xmlns:a="http://schemas.openxmlformats.org/drawingml/2006/main">
            <a:r>
              <a:t/>
            </a:r>
          </a:p>
          <a:p xmlns:a="http://schemas.openxmlformats.org/drawingml/2006/main">
            <a:r>
              <a:t>Nguồn nội bộ: reports/evaluation/error_analysis_15_samples.csv; reports/tv4_model_evaluation_error_analysis.md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55s]</a:t>
            </a:r>
          </a:p>
          <a:p xmlns:a="http://schemas.openxmlformats.org/drawingml/2006/main">
            <a:r>
              <a:t>Đọc biểu đồ theo hướng mô tả, không xếp hạng doanh nghiệp. Nêu salary &amp; benefits là điểm thấp nhất ở bốn công ty và VNG khác biệt ở khía cạnh quản lý.</a:t>
            </a:r>
          </a:p>
          <a:p xmlns:a="http://schemas.openxmlformats.org/drawingml/2006/main">
            <a:r>
              <a:t/>
            </a:r>
          </a:p>
          <a:p xmlns:a="http://schemas.openxmlformats.org/drawingml/2006/main">
            <a:r>
              <a:t>Nguồn nội bộ: reports/company_insights/company_sentiment_distribution.csv; reports/company_insights/company_aspect_summary.csv; reports/tv4_company_sentiment_insights.md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65s]</a:t>
            </a:r>
          </a:p>
          <a:p xmlns:a="http://schemas.openxmlformats.org/drawingml/2006/main">
            <a:r>
              <a:t>Giải thích biểu đồ token. Sửa cách gọi 'token kích hoạt quyết định': hiện app chỉ hiển thị TF-IDF, chưa nhân với hệ số theo lớp.</a:t>
            </a:r>
          </a:p>
          <a:p xmlns:a="http://schemas.openxmlformats.org/drawingml/2006/main">
            <a:r>
              <a:t/>
            </a:r>
          </a:p>
          <a:p xmlns:a="http://schemas.openxmlformats.org/drawingml/2006/main">
            <a:r>
              <a:t>Nguồn nội bộ: src/tv4_analysis.py; app_pages/predict.py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55s]</a:t>
            </a:r>
          </a:p>
          <a:p xmlns:a="http://schemas.openxmlformats.org/drawingml/2006/main">
            <a:r>
              <a:t>Tóm tắt thành tựu, bài học và hạn chế. Nêu khoảng cách CV–Final Test nhỏ nhưng không biến điều đó thành khẳng định mô hình đã giải quyết tốt lớp thiểu số.</a:t>
            </a:r>
          </a:p>
          <a:p xmlns:a="http://schemas.openxmlformats.org/drawingml/2006/main">
            <a:r>
              <a:t/>
            </a:r>
          </a:p>
          <a:p xmlns:a="http://schemas.openxmlformats.org/drawingml/2006/main">
            <a:r>
              <a:t>Nguồn nội bộ: reports/tv4_model_evaluation_error_analysis.md; reports/modeling_hyperparameter_tuning.md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35s]</a:t>
            </a:r>
          </a:p>
          <a:p xmlns:a="http://schemas.openxmlformats.org/drawingml/2006/main">
            <a:r>
              <a:t>Kết luận ngắn và chuyển thẳng sang live demo ở slide cuối. Phần Q&amp;A bắt đầu sau khi demo xong.</a:t>
            </a:r>
          </a:p>
          <a:p xmlns:a="http://schemas.openxmlformats.org/drawingml/2006/main">
            <a:r>
              <a:t/>
            </a:r>
          </a:p>
          <a:p xmlns:a="http://schemas.openxmlformats.org/drawingml/2006/main">
            <a:r>
              <a:t>Nguồn nội bộ: README.md; reports/final_report_outline.md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55s]</a:t>
            </a:r>
          </a:p>
          <a:p xmlns:a="http://schemas.openxmlformats.org/drawingml/2006/main">
            <a:r>
              <a:t>Dẫn dắt ngắn rồi chuyển sang ứng dụng. Bạn Nguyễn Duy Khang trình bày: nhập review, đọc nhãn và xác suất, sau đó kiểm tra văn bản đã xử lý và token nổi bật. Slide không hiển thị trước kết quả demo.</a:t>
            </a:r>
          </a:p>
          <a:p xmlns:a="http://schemas.openxmlformats.org/drawingml/2006/main">
            <a:r>
              <a:t/>
            </a:r>
          </a:p>
          <a:p xmlns:a="http://schemas.openxmlformats.org/drawingml/2006/main">
            <a:r>
              <a:t>Nguồn nội bộ: app_pages/predict.py; src/tv4_analysis.py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4e38f155a19496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de60e695fd7459d" /><Relationship Type="http://schemas.openxmlformats.org/officeDocument/2006/relationships/slideLayout" Target="/ppt/slideLayouts/slideLayout1.xml" Id="R3be85fd3db5f4c1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be85fd3db5f4c1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f888ce03d394b47" /><Relationship Type="http://schemas.openxmlformats.org/officeDocument/2006/relationships/image" Target="/ppt/media/image.png" Id="R0ae0c801f1aa4049" /><Relationship Type="http://schemas.openxmlformats.org/officeDocument/2006/relationships/image" Target="/ppt/media/image.svg" Id="R09b57f759bc44400" /><Relationship Type="http://schemas.openxmlformats.org/officeDocument/2006/relationships/notesSlide" Target="/ppt/notesSlides/notesSlide1.xml" Id="R932418565b1c492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4b4ed5099ff4656" /><Relationship Type="http://schemas.openxmlformats.org/officeDocument/2006/relationships/chart" Target="/ppt/slides/charts/chart1.xml" Id="R8918c08e884f4be7" /><Relationship Type="http://schemas.openxmlformats.org/officeDocument/2006/relationships/notesSlide" Target="/ppt/notesSlides/notesSlide2.xml" Id="R21ca7407592b4ca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ee36eb10f7c43da" /><Relationship Type="http://schemas.openxmlformats.org/officeDocument/2006/relationships/notesSlide" Target="/ppt/notesSlides/notesSlide3.xml" Id="Rb889b66a38ae4c3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9fede8f782f4300" /><Relationship Type="http://schemas.openxmlformats.org/officeDocument/2006/relationships/notesSlide" Target="/ppt/notesSlides/notesSlide4.xml" Id="R49807f52ee934ff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7e81623210147b4" /><Relationship Type="http://schemas.openxmlformats.org/officeDocument/2006/relationships/image" Target="/ppt/media/image2.png" Id="R24c4fc687c6a45b2" /><Relationship Type="http://schemas.openxmlformats.org/officeDocument/2006/relationships/notesSlide" Target="/ppt/notesSlides/notesSlide5.xml" Id="R9ce35f8d08074cc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98f836366ba4ed3" /><Relationship Type="http://schemas.openxmlformats.org/officeDocument/2006/relationships/chart" Target="/ppt/slides/charts/chart2.xml" Id="R480fe374566c4e0a" /><Relationship Type="http://schemas.openxmlformats.org/officeDocument/2006/relationships/notesSlide" Target="/ppt/notesSlides/notesSlide6.xml" Id="R746636e20459485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f4ccd58c8b241b7" /><Relationship Type="http://schemas.openxmlformats.org/officeDocument/2006/relationships/notesSlide" Target="/ppt/notesSlides/notesSlide7.xml" Id="R6576b0c147e544e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cdd51a96ed146dc" /><Relationship Type="http://schemas.openxmlformats.org/officeDocument/2006/relationships/chart" Target="/ppt/slides/charts/chart3.xml" Id="Rf75e587044bc4591" /><Relationship Type="http://schemas.openxmlformats.org/officeDocument/2006/relationships/notesSlide" Target="/ppt/notesSlides/notesSlide8.xml" Id="R62f3073bd5464e4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2210ff192d2491f" /><Relationship Type="http://schemas.openxmlformats.org/officeDocument/2006/relationships/chart" Target="/ppt/slides/charts/chart4.xml" Id="R3bdb6c4fcc8f4b63" /><Relationship Type="http://schemas.openxmlformats.org/officeDocument/2006/relationships/notesSlide" Target="/ppt/notesSlides/notesSlide9.xml" Id="R0acc181ce9a042f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d8f64e5405f4c5e" /><Relationship Type="http://schemas.openxmlformats.org/officeDocument/2006/relationships/notesSlide" Target="/ppt/notesSlides/notesSlide10.xml" Id="R84cd92b425624f8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9ceb744d780404d" /><Relationship Type="http://schemas.openxmlformats.org/officeDocument/2006/relationships/chart" Target="/ppt/slides/charts/chart5.xml" Id="R381f9b6847f64fac" /><Relationship Type="http://schemas.openxmlformats.org/officeDocument/2006/relationships/notesSlide" Target="/ppt/notesSlides/notesSlide11.xml" Id="Rf043c44a3928410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b017094ae814c2c" /><Relationship Type="http://schemas.openxmlformats.org/officeDocument/2006/relationships/chart" Target="/ppt/slides/charts/chart6.xml" Id="Rbc55fee72ab84298" /><Relationship Type="http://schemas.openxmlformats.org/officeDocument/2006/relationships/notesSlide" Target="/ppt/notesSlides/notesSlide12.xml" Id="R0aff12f9aa2547f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357b9759a2249d2" /><Relationship Type="http://schemas.openxmlformats.org/officeDocument/2006/relationships/notesSlide" Target="/ppt/notesSlides/notesSlide13.xml" Id="R4abd368991984c6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6423bf7ee0e49fa" /><Relationship Type="http://schemas.openxmlformats.org/officeDocument/2006/relationships/notesSlide" Target="/ppt/notesSlides/notesSlide14.xml" Id="R4c52e12c105d4fc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175cc7359e2a40f8" /><Relationship Type="http://schemas.openxmlformats.org/officeDocument/2006/relationships/notesSlide" Target="/ppt/notesSlides/notesSlide15.xml" Id="R2b1b5648f5e34c16" /></Relationships>
</file>

<file path=ppt/slides/charts/chart1.xml><?xml version="1.0" encoding="utf-8"?>
<c:chartSpace xmlns:c="http://schemas.openxmlformats.org/drawingml/2006/chart">
  <c:lang val="en-US"/>
  <c:chart>
    <c:plotArea>
      <c:barChart>
        <c:barDir val="bar"/>
        <c:grouping val="stacked"/>
        <c:varyColors val="0"/>
        <c:ser>
          <c:idx val="0"/>
          <c:order val="0"/>
          <c:tx>
            <c:v>Positive</c:v>
          </c:tx>
          <c:spPr>
            <a:solidFill xmlns:a="http://schemas.openxmlformats.org/drawingml/2006/main">
              <a:srgbClr val="45D9A0"/>
            </a:solidFill>
          </c:spPr>
          <c:cat>
            <c:strLit>
              <c:ptCount val="1"/>
              <c:pt idx="0">
                <c:v>8.417 review</c:v>
              </c:pt>
            </c:strLit>
          </c:cat>
          <c:val>
            <c:numLit>
              <c:formatCode>0</c:formatCode>
              <c:ptCount val="1"/>
              <c:pt idx="0">
                <c:v>73.76</c:v>
              </c:pt>
            </c:numLit>
          </c:val>
        </c:ser>
        <c:ser>
          <c:idx val="1"/>
          <c:order val="1"/>
          <c:tx>
            <c:v>Neutral</c:v>
          </c:tx>
          <c:spPr>
            <a:solidFill xmlns:a="http://schemas.openxmlformats.org/drawingml/2006/main">
              <a:srgbClr val="F4D35E"/>
            </a:solidFill>
          </c:spPr>
          <c:cat>
            <c:strLit>
              <c:ptCount val="1"/>
              <c:pt idx="0">
                <c:v>8.417 review</c:v>
              </c:pt>
            </c:strLit>
          </c:cat>
          <c:val>
            <c:numLit>
              <c:formatCode>0</c:formatCode>
              <c:ptCount val="1"/>
              <c:pt idx="0">
                <c:v>19.47</c:v>
              </c:pt>
            </c:numLit>
          </c:val>
        </c:ser>
        <c:ser>
          <c:idx val="2"/>
          <c:order val="2"/>
          <c:tx>
            <c:v>Negative</c:v>
          </c:tx>
          <c:spPr>
            <a:solidFill xmlns:a="http://schemas.openxmlformats.org/drawingml/2006/main">
              <a:srgbClr val="FF667B"/>
            </a:solidFill>
          </c:spPr>
          <c:cat>
            <c:strLit>
              <c:ptCount val="1"/>
              <c:pt idx="0">
                <c:v>8.417 review</c:v>
              </c:pt>
            </c:strLit>
          </c:cat>
          <c:val>
            <c:numLit>
              <c:formatCode>0</c:formatCode>
              <c:ptCount val="1"/>
              <c:pt idx="0">
                <c:v>6.77</c:v>
              </c:pt>
            </c:numLit>
          </c:val>
        </c:ser>
        <c:dLbls>
          <c:txPr>
            <a:bodyPr xmlns:a="http://schemas.openxmlformats.org/drawingml/2006/main" anchorCtr="1"/>
            <a:lstStyle xmlns:a="http://schemas.openxmlformats.org/drawingml/2006/main"/>
            <a:p xmlns:a="http://schemas.openxmlformats.org/drawingml/2006/main">
              <a:pPr>
                <a:defRPr sz="1050" b="1">
                  <a:solidFill>
                    <a:srgbClr val="090D14"/>
                  </a:solidFill>
                  <a:latin typeface="Helvetica Neue"/>
                  <a:ea typeface="Helvetica Neue"/>
                  <a:cs typeface="Helvetica Neue"/>
                </a:defRPr>
              </a:pPr>
            </a:p>
          </c:txPr>
          <c:dLblPos val="ctr"/>
          <c:showLegendKey val="0"/>
          <c:showVal val="1"/>
          <c:showCatName val="0"/>
          <c:showSerName val="0"/>
          <c:showPercent val="0"/>
          <c:showBubbleSize val="0"/>
          <c:showLeaderLines val="0"/>
        </c:dLbls>
        <c:gapWidth val="55"/>
        <c:overlap val="10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125">
                <a:solidFill>
                  <a:srgbClr val="F4F7FB"/>
                </a:solidFill>
                <a:latin typeface="Helvetica Neue"/>
                <a:ea typeface="Helvetica Neue"/>
                <a:cs typeface="Helvetica Neue"/>
              </a:defRPr>
            </a:pPr>
          </a:p>
        </c:txPr>
        <c:crossAx val="48672768"/>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900">
                <a:solidFill>
                  <a:srgbClr val="A7B3C4"/>
                </a:solidFill>
                <a:latin typeface="Helvetica Neue"/>
                <a:ea typeface="Helvetica Neue"/>
                <a:cs typeface="Helvetica Neue"/>
              </a:defRPr>
            </a:pPr>
          </a:p>
        </c:txPr>
        <c:crossAx val="48650112"/>
        <c:crossBetween val="between"/>
        <c:majorUnit val="25"/>
      </c:valAx>
      <c:spPr>
        <a:solidFill xmlns:a="http://schemas.openxmlformats.org/drawingml/2006/main">
          <a:srgbClr val="121A26"/>
        </a:solidFill>
      </c:spPr>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F4F7FB"/>
              </a:solidFill>
              <a:latin typeface="Helvetica Neue"/>
              <a:ea typeface="Helvetica Neue"/>
              <a:cs typeface="Helvetica Neue"/>
            </a:defRPr>
          </a:pPr>
        </a:p>
      </c:txPr>
    </c:legend>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charts/chart2.xml><?xml version="1.0" encoding="utf-8"?>
<c:chartSpace xmlns:c="http://schemas.openxmlformats.org/drawingml/2006/chart">
  <c:lang val="en-US"/>
  <c:chart>
    <c:plotArea>
      <c:barChart>
        <c:barDir val="bar"/>
        <c:grouping val="clustered"/>
        <c:varyColors val="0"/>
        <c:ser>
          <c:idx val="0"/>
          <c:order val="0"/>
          <c:tx>
            <c:v>CV Macro F1 (%)</c:v>
          </c:tx>
          <c:spPr>
            <a:solidFill xmlns:a="http://schemas.openxmlformats.org/drawingml/2006/main">
              <a:srgbClr val="78A7FF"/>
            </a:solidFill>
          </c:spPr>
          <c:dPt>
            <c:idx val="1"/>
            <c:invertIfNegative val="0"/>
            <c:spPr>
              <a:solidFill xmlns:a="http://schemas.openxmlformats.org/drawingml/2006/main">
                <a:srgbClr val="45D9A0"/>
              </a:solidFill>
            </c:spPr>
          </c:dPt>
          <c:cat>
            <c:strLit>
              <c:ptCount val="2"/>
              <c:pt idx="0">
                <c:v>Unigram (1,1)</c:v>
              </c:pt>
              <c:pt idx="1">
                <c:v>Unigram + bigram (1,2)</c:v>
              </c:pt>
            </c:strLit>
          </c:cat>
          <c:val>
            <c:numLit>
              <c:formatCode>General</c:formatCode>
              <c:ptCount val="2"/>
              <c:pt idx="0">
                <c:v>55.69</c:v>
              </c:pt>
              <c:pt idx="1">
                <c:v>57.22</c:v>
              </c:pt>
            </c:numLit>
          </c:val>
        </c:ser>
        <c:dLbls>
          <c:txPr>
            <a:bodyPr xmlns:a="http://schemas.openxmlformats.org/drawingml/2006/main" anchorCtr="1"/>
            <a:lstStyle xmlns:a="http://schemas.openxmlformats.org/drawingml/2006/main"/>
            <a:p xmlns:a="http://schemas.openxmlformats.org/drawingml/2006/main">
              <a:pPr>
                <a:defRPr sz="1200" b="1">
                  <a:solidFill>
                    <a:srgbClr val="F4F7FB"/>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l"/>
        <c:majorGridlines>
          <c:spPr>
            <a:ln xmlns:a="http://schemas.openxmlformats.org/drawingml/2006/main" w="9525">
              <a:solidFill>
                <a:srgbClr val="2A3B52"/>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A7B3C4"/>
                </a:solidFill>
                <a:latin typeface="Helvetica Neue"/>
                <a:ea typeface="Helvetica Neue"/>
                <a:cs typeface="Helvetica Neue"/>
              </a:defRPr>
            </a:pPr>
          </a:p>
        </c:txPr>
        <c:crossAx val="48672768"/>
      </c:catAx>
      <c:valAx>
        <c:axId val="48672768"/>
        <c:scaling>
          <c:orientation val="minMax"/>
        </c:scaling>
        <c:delete val="0"/>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75">
                <a:solidFill>
                  <a:srgbClr val="F4F7FB"/>
                </a:solidFill>
                <a:latin typeface="Helvetica Neue"/>
                <a:ea typeface="Helvetica Neue"/>
                <a:cs typeface="Helvetica Neue"/>
              </a:defRPr>
            </a:pPr>
          </a:p>
        </c:txPr>
        <c:crossAx val="48650112"/>
        <c:crossBetween val="between"/>
      </c:valAx>
      <c:spPr>
        <a:solidFill xmlns:a="http://schemas.openxmlformats.org/drawingml/2006/main">
          <a:srgbClr val="121A26"/>
        </a:solidFill>
      </c:spPr>
    </c:plotArea>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charts/chart3.xml><?xml version="1.0" encoding="utf-8"?>
<c:chartSpace xmlns:c="http://schemas.openxmlformats.org/drawingml/2006/chart">
  <c:lang val="en-US"/>
  <c:chart>
    <c:plotArea>
      <c:barChart>
        <c:barDir val="bar"/>
        <c:grouping val="clustered"/>
        <c:varyColors val="0"/>
        <c:ser>
          <c:idx val="0"/>
          <c:order val="0"/>
          <c:tx>
            <c:v>CV Macro F1 (%)</c:v>
          </c:tx>
          <c:spPr>
            <a:solidFill xmlns:a="http://schemas.openxmlformats.org/drawingml/2006/main">
              <a:srgbClr val="78A7FF"/>
            </a:solidFill>
          </c:spPr>
          <c:dPt>
            <c:idx val="0"/>
            <c:invertIfNegative val="0"/>
            <c:spPr>
              <a:solidFill xmlns:a="http://schemas.openxmlformats.org/drawingml/2006/main">
                <a:srgbClr val="45D9A0"/>
              </a:solidFill>
            </c:spPr>
          </c:dPt>
          <c:cat>
            <c:strLit>
              <c:ptCount val="5"/>
              <c:pt idx="0">
                <c:v>Logistic Regression</c:v>
              </c:pt>
              <c:pt idx="1">
                <c:v>Linear SVM</c:v>
              </c:pt>
              <c:pt idx="2">
                <c:v>Random Forest</c:v>
              </c:pt>
              <c:pt idx="3">
                <c:v>Stacking</c:v>
              </c:pt>
              <c:pt idx="4">
                <c:v>Naive Bayes</c:v>
              </c:pt>
            </c:strLit>
          </c:cat>
          <c:val>
            <c:numLit>
              <c:formatCode>General</c:formatCode>
              <c:ptCount val="5"/>
              <c:pt idx="0">
                <c:v>57.27</c:v>
              </c:pt>
              <c:pt idx="1">
                <c:v>57.24</c:v>
              </c:pt>
              <c:pt idx="2">
                <c:v>56.64</c:v>
              </c:pt>
              <c:pt idx="3">
                <c:v>55.6</c:v>
              </c:pt>
              <c:pt idx="4">
                <c:v>55.34</c:v>
              </c:pt>
            </c:numLit>
          </c:val>
        </c:ser>
        <c:dLbls>
          <c:txPr>
            <a:bodyPr xmlns:a="http://schemas.openxmlformats.org/drawingml/2006/main" anchorCtr="1"/>
            <a:lstStyle xmlns:a="http://schemas.openxmlformats.org/drawingml/2006/main"/>
            <a:p xmlns:a="http://schemas.openxmlformats.org/drawingml/2006/main">
              <a:pPr>
                <a:defRPr sz="1050" b="1">
                  <a:solidFill>
                    <a:srgbClr val="F4F7FB"/>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45"/>
        <c:axId val="48650112"/>
        <c:axId val="48672768"/>
      </c:barChart>
      <c:catAx>
        <c:axId val="48650112"/>
        <c:scaling>
          <c:orientation val="minMax"/>
        </c:scaling>
        <c:delete val="0"/>
        <c:axPos val="l"/>
        <c:majorGridlines>
          <c:spPr>
            <a:ln xmlns:a="http://schemas.openxmlformats.org/drawingml/2006/main" w="9525">
              <a:solidFill>
                <a:srgbClr val="2A3B52"/>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A7B3C4"/>
                </a:solidFill>
                <a:latin typeface="Helvetica Neue"/>
                <a:ea typeface="Helvetica Neue"/>
                <a:cs typeface="Helvetica Neue"/>
              </a:defRPr>
            </a:pPr>
          </a:p>
        </c:txPr>
        <c:crossAx val="48672768"/>
      </c:catAx>
      <c:valAx>
        <c:axId val="48672768"/>
        <c:scaling>
          <c:orientation val="minMax"/>
        </c:scaling>
        <c:delete val="0"/>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125">
                <a:solidFill>
                  <a:srgbClr val="F4F7FB"/>
                </a:solidFill>
                <a:latin typeface="Helvetica Neue"/>
                <a:ea typeface="Helvetica Neue"/>
                <a:cs typeface="Helvetica Neue"/>
              </a:defRPr>
            </a:pPr>
          </a:p>
        </c:txPr>
        <c:crossAx val="48650112"/>
        <c:crossBetween val="between"/>
      </c:valAx>
      <c:spPr>
        <a:solidFill xmlns:a="http://schemas.openxmlformats.org/drawingml/2006/main">
          <a:srgbClr val="121A26"/>
        </a:solidFill>
      </c:spPr>
    </c:plotArea>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charts/chart4.xml><?xml version="1.0" encoding="utf-8"?>
<c:chartSpace xmlns:c="http://schemas.openxmlformats.org/drawingml/2006/chart">
  <c:lang val="en-US"/>
  <c:chart>
    <c:plotArea>
      <c:barChart>
        <c:barDir val="bar"/>
        <c:grouping val="clustered"/>
        <c:varyColors val="0"/>
        <c:ser>
          <c:idx val="0"/>
          <c:order val="0"/>
          <c:tx>
            <c:v>F1 theo lớp (%)</c:v>
          </c:tx>
          <c:spPr>
            <a:solidFill xmlns:a="http://schemas.openxmlformats.org/drawingml/2006/main">
              <a:srgbClr val="FF667B"/>
            </a:solidFill>
          </c:spPr>
          <c:dPt>
            <c:idx val="1"/>
            <c:invertIfNegative val="0"/>
            <c:spPr>
              <a:solidFill xmlns:a="http://schemas.openxmlformats.org/drawingml/2006/main">
                <a:srgbClr val="F4D35E"/>
              </a:solidFill>
            </c:spPr>
          </c:dPt>
          <c:dPt>
            <c:idx val="2"/>
            <c:invertIfNegative val="0"/>
            <c:spPr>
              <a:solidFill xmlns:a="http://schemas.openxmlformats.org/drawingml/2006/main">
                <a:srgbClr val="45D9A0"/>
              </a:solidFill>
            </c:spPr>
          </c:dPt>
          <c:cat>
            <c:strLit>
              <c:ptCount val="3"/>
              <c:pt idx="0">
                <c:v>Negative</c:v>
              </c:pt>
              <c:pt idx="1">
                <c:v>Neutral</c:v>
              </c:pt>
              <c:pt idx="2">
                <c:v>Positive</c:v>
              </c:pt>
            </c:strLit>
          </c:cat>
          <c:val>
            <c:numLit>
              <c:formatCode>General</c:formatCode>
              <c:ptCount val="3"/>
              <c:pt idx="0">
                <c:v>38.06</c:v>
              </c:pt>
              <c:pt idx="1">
                <c:v>47.95</c:v>
              </c:pt>
              <c:pt idx="2">
                <c:v>85.39</c:v>
              </c:pt>
            </c:numLit>
          </c:val>
        </c:ser>
        <c:dLbls>
          <c:txPr>
            <a:bodyPr xmlns:a="http://schemas.openxmlformats.org/drawingml/2006/main" anchorCtr="1"/>
            <a:lstStyle xmlns:a="http://schemas.openxmlformats.org/drawingml/2006/main"/>
            <a:p xmlns:a="http://schemas.openxmlformats.org/drawingml/2006/main">
              <a:pPr>
                <a:defRPr sz="1050" b="1">
                  <a:solidFill>
                    <a:srgbClr val="F4F7FB"/>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l"/>
        <c:majorGridlines>
          <c:spPr>
            <a:ln xmlns:a="http://schemas.openxmlformats.org/drawingml/2006/main" w="9525">
              <a:solidFill>
                <a:srgbClr val="2A3B52"/>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A7B3C4"/>
                </a:solidFill>
                <a:latin typeface="Helvetica Neue"/>
                <a:ea typeface="Helvetica Neue"/>
                <a:cs typeface="Helvetica Neue"/>
              </a:defRPr>
            </a:pPr>
          </a:p>
        </c:txPr>
        <c:crossAx val="48672768"/>
      </c:catAx>
      <c:valAx>
        <c:axId val="48672768"/>
        <c:scaling>
          <c:orientation val="minMax"/>
        </c:scaling>
        <c:delete val="0"/>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050">
                <a:solidFill>
                  <a:srgbClr val="F4F7FB"/>
                </a:solidFill>
                <a:latin typeface="Helvetica Neue"/>
                <a:ea typeface="Helvetica Neue"/>
                <a:cs typeface="Helvetica Neue"/>
              </a:defRPr>
            </a:pPr>
          </a:p>
        </c:txPr>
        <c:crossAx val="48650112"/>
        <c:crossBetween val="between"/>
      </c:valAx>
      <c:spPr>
        <a:solidFill xmlns:a="http://schemas.openxmlformats.org/drawingml/2006/main">
          <a:srgbClr val="121A26"/>
        </a:solidFill>
      </c:spPr>
    </c:plotArea>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charts/chart5.xml><?xml version="1.0" encoding="utf-8"?>
<c:chartSpace xmlns:c="http://schemas.openxmlformats.org/drawingml/2006/chart">
  <c:lang val="en-US"/>
  <c:chart>
    <c:plotArea>
      <c:barChart>
        <c:barDir val="bar"/>
        <c:grouping val="stacked"/>
        <c:varyColors val="0"/>
        <c:ser>
          <c:idx val="0"/>
          <c:order val="0"/>
          <c:tx>
            <c:v>Positive</c:v>
          </c:tx>
          <c:spPr>
            <a:solidFill xmlns:a="http://schemas.openxmlformats.org/drawingml/2006/main">
              <a:srgbClr val="45D9A0"/>
            </a:solidFill>
          </c:spPr>
          <c:cat>
            <c:strLit>
              <c:ptCount val="5"/>
              <c:pt idx="0">
                <c:v>KMS</c:v>
              </c:pt>
              <c:pt idx="1">
                <c:v>VNG</c:v>
              </c:pt>
              <c:pt idx="2">
                <c:v>NashTech</c:v>
              </c:pt>
              <c:pt idx="3">
                <c:v>FPT</c:v>
              </c:pt>
              <c:pt idx="4">
                <c:v>Bosch</c:v>
              </c:pt>
            </c:strLit>
          </c:cat>
          <c:val>
            <c:numLit>
              <c:formatCode>0</c:formatCode>
              <c:ptCount val="5"/>
              <c:pt idx="0">
                <c:v>80.5</c:v>
              </c:pt>
              <c:pt idx="1">
                <c:v>75.7</c:v>
              </c:pt>
              <c:pt idx="2">
                <c:v>69.2</c:v>
              </c:pt>
              <c:pt idx="3">
                <c:v>57.7</c:v>
              </c:pt>
              <c:pt idx="4">
                <c:v>39.6</c:v>
              </c:pt>
            </c:numLit>
          </c:val>
        </c:ser>
        <c:ser>
          <c:idx val="1"/>
          <c:order val="1"/>
          <c:tx>
            <c:v>Neutral</c:v>
          </c:tx>
          <c:spPr>
            <a:solidFill xmlns:a="http://schemas.openxmlformats.org/drawingml/2006/main">
              <a:srgbClr val="F4D35E"/>
            </a:solidFill>
          </c:spPr>
          <c:cat>
            <c:strLit>
              <c:ptCount val="5"/>
              <c:pt idx="0">
                <c:v>KMS</c:v>
              </c:pt>
              <c:pt idx="1">
                <c:v>VNG</c:v>
              </c:pt>
              <c:pt idx="2">
                <c:v>NashTech</c:v>
              </c:pt>
              <c:pt idx="3">
                <c:v>FPT</c:v>
              </c:pt>
              <c:pt idx="4">
                <c:v>Bosch</c:v>
              </c:pt>
            </c:strLit>
          </c:cat>
          <c:val>
            <c:numLit>
              <c:formatCode>0</c:formatCode>
              <c:ptCount val="5"/>
              <c:pt idx="0">
                <c:v>14.7</c:v>
              </c:pt>
              <c:pt idx="1">
                <c:v>21.6</c:v>
              </c:pt>
              <c:pt idx="2">
                <c:v>26.3</c:v>
              </c:pt>
              <c:pt idx="3">
                <c:v>33.4</c:v>
              </c:pt>
              <c:pt idx="4">
                <c:v>45</c:v>
              </c:pt>
            </c:numLit>
          </c:val>
        </c:ser>
        <c:ser>
          <c:idx val="2"/>
          <c:order val="2"/>
          <c:tx>
            <c:v>Negative</c:v>
          </c:tx>
          <c:spPr>
            <a:solidFill xmlns:a="http://schemas.openxmlformats.org/drawingml/2006/main">
              <a:srgbClr val="FF667B"/>
            </a:solidFill>
          </c:spPr>
          <c:cat>
            <c:strLit>
              <c:ptCount val="5"/>
              <c:pt idx="0">
                <c:v>KMS</c:v>
              </c:pt>
              <c:pt idx="1">
                <c:v>VNG</c:v>
              </c:pt>
              <c:pt idx="2">
                <c:v>NashTech</c:v>
              </c:pt>
              <c:pt idx="3">
                <c:v>FPT</c:v>
              </c:pt>
              <c:pt idx="4">
                <c:v>Bosch</c:v>
              </c:pt>
            </c:strLit>
          </c:cat>
          <c:val>
            <c:numLit>
              <c:formatCode>0</c:formatCode>
              <c:ptCount val="5"/>
              <c:pt idx="0">
                <c:v>4.8</c:v>
              </c:pt>
              <c:pt idx="1">
                <c:v>2.7</c:v>
              </c:pt>
              <c:pt idx="2">
                <c:v>4.5</c:v>
              </c:pt>
              <c:pt idx="3">
                <c:v>8.9</c:v>
              </c:pt>
              <c:pt idx="4">
                <c:v>15.5</c:v>
              </c:pt>
            </c:numLit>
          </c:val>
        </c:ser>
        <c:dLbls>
          <c:txPr>
            <a:bodyPr xmlns:a="http://schemas.openxmlformats.org/drawingml/2006/main" anchorCtr="1"/>
            <a:lstStyle xmlns:a="http://schemas.openxmlformats.org/drawingml/2006/main"/>
            <a:p xmlns:a="http://schemas.openxmlformats.org/drawingml/2006/main">
              <a:pPr>
                <a:defRPr sz="975" b="1">
                  <a:solidFill>
                    <a:srgbClr val="090D14"/>
                  </a:solidFill>
                  <a:latin typeface="Helvetica Neue"/>
                  <a:ea typeface="Helvetica Neue"/>
                  <a:cs typeface="Helvetica Neue"/>
                </a:defRPr>
              </a:pPr>
            </a:p>
          </c:txPr>
          <c:dLblPos val="ctr"/>
          <c:showLegendKey val="0"/>
          <c:showVal val="1"/>
          <c:showCatName val="0"/>
          <c:showSerName val="0"/>
          <c:showPercent val="0"/>
          <c:showBubbleSize val="0"/>
          <c:showLeaderLines val="0"/>
        </c:dLbls>
        <c:gapWidth val="38"/>
        <c:overlap val="10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00">
                <a:solidFill>
                  <a:srgbClr val="F4F7FB"/>
                </a:solidFill>
                <a:latin typeface="Helvetica Neue"/>
                <a:ea typeface="Helvetica Neue"/>
                <a:cs typeface="Helvetica Neue"/>
              </a:defRPr>
            </a:pPr>
          </a:p>
        </c:txPr>
        <c:crossAx val="48672768"/>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975">
                <a:solidFill>
                  <a:srgbClr val="A7B3C4"/>
                </a:solidFill>
                <a:latin typeface="Helvetica Neue"/>
                <a:ea typeface="Helvetica Neue"/>
                <a:cs typeface="Helvetica Neue"/>
              </a:defRPr>
            </a:pPr>
          </a:p>
        </c:txPr>
        <c:crossAx val="48650112"/>
        <c:crossBetween val="between"/>
        <c:majorUnit val="25"/>
      </c:valAx>
      <c:spPr>
        <a:solidFill xmlns:a="http://schemas.openxmlformats.org/drawingml/2006/main">
          <a:srgbClr val="121A26"/>
        </a:solidFill>
      </c:spPr>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F4F7FB"/>
              </a:solidFill>
              <a:latin typeface="Helvetica Neue"/>
              <a:ea typeface="Helvetica Neue"/>
              <a:cs typeface="Helvetica Neue"/>
            </a:defRPr>
          </a:pPr>
        </a:p>
      </c:txPr>
    </c:legend>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charts/chart6.xml><?xml version="1.0" encoding="utf-8"?>
<c:chartSpace xmlns:c="http://schemas.openxmlformats.org/drawingml/2006/chart">
  <c:lang val="en-US"/>
  <c:chart>
    <c:plotArea>
      <c:barChart>
        <c:barDir val="bar"/>
        <c:grouping val="clustered"/>
        <c:varyColors val="0"/>
        <c:ser>
          <c:idx val="0"/>
          <c:order val="0"/>
          <c:tx>
            <c:v>TF-IDF (%)</c:v>
          </c:tx>
          <c:spPr>
            <a:solidFill xmlns:a="http://schemas.openxmlformats.org/drawingml/2006/main">
              <a:srgbClr val="FF667B"/>
            </a:solidFill>
          </c:spPr>
          <c:cat>
            <c:strLit>
              <c:ptCount val="5"/>
              <c:pt idx="0">
                <c:v>xuyên</c:v>
              </c:pt>
              <c:pt idx="1">
                <c:v>lý</c:v>
              </c:pt>
              <c:pt idx="2">
                <c:v>không lương</c:v>
              </c:pt>
              <c:pt idx="3">
                <c:v>lương</c:v>
              </c:pt>
              <c:pt idx="4">
                <c:v>không</c:v>
              </c:pt>
            </c:strLit>
          </c:cat>
          <c:val>
            <c:numLit>
              <c:formatCode>General</c:formatCode>
              <c:ptCount val="5"/>
              <c:pt idx="0">
                <c:v>61.5</c:v>
              </c:pt>
              <c:pt idx="1">
                <c:v>60.6</c:v>
              </c:pt>
              <c:pt idx="2">
                <c:v>38.4</c:v>
              </c:pt>
              <c:pt idx="3">
                <c:v>29.6</c:v>
              </c:pt>
              <c:pt idx="4">
                <c:v>13.8</c:v>
              </c:pt>
            </c:numLit>
          </c:val>
        </c:ser>
        <c:dLbls>
          <c:txPr>
            <a:bodyPr xmlns:a="http://schemas.openxmlformats.org/drawingml/2006/main" anchorCtr="1"/>
            <a:lstStyle xmlns:a="http://schemas.openxmlformats.org/drawingml/2006/main"/>
            <a:p xmlns:a="http://schemas.openxmlformats.org/drawingml/2006/main">
              <a:pPr>
                <a:defRPr sz="1050" b="1">
                  <a:solidFill>
                    <a:srgbClr val="F4F7FB"/>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42"/>
        <c:axId val="48650112"/>
        <c:axId val="48672768"/>
      </c:barChart>
      <c:catAx>
        <c:axId val="48650112"/>
        <c:scaling>
          <c:orientation val="minMax"/>
        </c:scaling>
        <c:delete val="0"/>
        <c:axPos val="l"/>
        <c:majorGridlines>
          <c:spPr>
            <a:ln xmlns:a="http://schemas.openxmlformats.org/drawingml/2006/main" w="9525">
              <a:solidFill>
                <a:srgbClr val="2A3B52"/>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A7B3C4"/>
                </a:solidFill>
                <a:latin typeface="Helvetica Neue"/>
                <a:ea typeface="Helvetica Neue"/>
                <a:cs typeface="Helvetica Neue"/>
              </a:defRPr>
            </a:pPr>
          </a:p>
        </c:txPr>
        <c:crossAx val="48672768"/>
      </c:catAx>
      <c:valAx>
        <c:axId val="48672768"/>
        <c:scaling>
          <c:orientation val="minMax"/>
        </c:scaling>
        <c:delete val="0"/>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00">
                <a:solidFill>
                  <a:srgbClr val="F4F7FB"/>
                </a:solidFill>
                <a:latin typeface="Helvetica Neue"/>
                <a:ea typeface="Helvetica Neue"/>
                <a:cs typeface="Helvetica Neue"/>
              </a:defRPr>
            </a:pPr>
          </a:p>
        </c:txPr>
        <c:crossAx val="48650112"/>
        <c:crossBetween val="between"/>
      </c:valAx>
      <c:spPr>
        <a:solidFill xmlns:a="http://schemas.openxmlformats.org/drawingml/2006/main">
          <a:srgbClr val="121A26"/>
        </a:solidFill>
      </c:spPr>
    </c:plotArea>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slide1.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45BB2EF-A34F-4796-AA91-2D0F8ADBA12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45D9A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D9AFCBC-3538-44C9-914A-A2CDD7996E2A}"/>
              </a:ext>
            </a:extLst>
          </p:cNvPr>
          <p:cNvSpPr>
            <a:spLocks xmlns:a="http://schemas.openxmlformats.org/drawingml/2006/main" noGrp="1"/>
          </p:cNvSpPr>
          <p:nvPr/>
        </p:nvSpPr>
        <p:spPr>
          <a:xfrm xmlns:a="http://schemas.openxmlformats.org/drawingml/2006/main">
            <a:off x="685800" y="704850"/>
            <a:ext cx="5905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833"/>
          </a:bodyPr>
          <a:lstStyle xmlns:a="http://schemas.openxmlformats.org/drawingml/2006/main"/>
          <a:p xmlns:a="http://schemas.openxmlformats.org/drawingml/2006/main">
            <a:pPr algn="l">
              <a:defRPr sz="1200" b="1">
                <a:solidFill>
                  <a:srgbClr val="78A7FF"/>
                </a:solidFill>
                <a:latin typeface="Helvetica Neue"/>
                <a:ea typeface="Helvetica Neue"/>
                <a:cs typeface="Helvetica Neue"/>
              </a:defRPr>
            </a:pPr>
            <a:r>
              <a:rPr sz="1200" b="1">
                <a:solidFill>
                  <a:srgbClr val="78A7FF"/>
                </a:solidFill>
                <a:latin typeface="Helvetica Neue"/>
                <a:ea typeface="Helvetica Neue"/>
                <a:cs typeface="Helvetica Neue"/>
              </a:rPr>
              <a:t>ĐỒ ÁN MÔN HỌC MÁY HỌC</a:t>
            </a:r>
          </a:p>
        </p:txBody>
      </p:sp>
      <p:sp>
        <p:nvSpPr>
          <p:cNvPr id="3" name="">
            <a:extLst xmlns:a="http://schemas.openxmlformats.org/drawingml/2006/main">
              <a:ext uri="{FF2B5EF4-FFF2-40B4-BE49-F238E27FC236}">
                <a16:creationId xmlns:a16="http://schemas.microsoft.com/office/drawing/2014/main" id="{007F7D84-52FB-4509-9927-0F0C22FA36C1}"/>
              </a:ext>
            </a:extLst>
          </p:cNvPr>
          <p:cNvSpPr>
            <a:spLocks xmlns:a="http://schemas.openxmlformats.org/drawingml/2006/main" noGrp="1"/>
          </p:cNvSpPr>
          <p:nvPr/>
        </p:nvSpPr>
        <p:spPr>
          <a:xfrm xmlns:a="http://schemas.openxmlformats.org/drawingml/2006/main">
            <a:off x="685800" y="1257300"/>
            <a:ext cx="75247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750" b="1">
                <a:solidFill>
                  <a:srgbClr val="F4F7FB"/>
                </a:solidFill>
                <a:latin typeface="Helvetica Neue"/>
                <a:ea typeface="Helvetica Neue"/>
                <a:cs typeface="Helvetica Neue"/>
              </a:defRPr>
            </a:pPr>
            <a:r>
              <a:rPr sz="3750" b="1">
                <a:solidFill>
                  <a:srgbClr val="F4F7FB"/>
                </a:solidFill>
                <a:latin typeface="Helvetica Neue"/>
                <a:ea typeface="Helvetica Neue"/>
                <a:cs typeface="Helvetica Neue"/>
              </a:rPr>
              <a:t>PHÂN TÍCH CẢM XÚC</a:t>
            </a:r>
          </a:p>
          <a:p xmlns:a="http://schemas.openxmlformats.org/drawingml/2006/main">
            <a:pPr algn="l">
              <a:defRPr sz="3750" b="1">
                <a:solidFill>
                  <a:srgbClr val="F4F7FB"/>
                </a:solidFill>
                <a:latin typeface="Helvetica Neue"/>
                <a:ea typeface="Helvetica Neue"/>
                <a:cs typeface="Helvetica Neue"/>
              </a:defRPr>
            </a:pPr>
            <a:r>
              <a:rPr sz="3750" b="1">
                <a:solidFill>
                  <a:srgbClr val="F4F7FB"/>
                </a:solidFill>
                <a:latin typeface="Helvetica Neue"/>
                <a:ea typeface="Helvetica Neue"/>
                <a:cs typeface="Helvetica Neue"/>
              </a:rPr>
              <a:t>ĐÁNH GIÁ CÔNG TY ITVIEC</a:t>
            </a:r>
          </a:p>
        </p:txBody>
      </p:sp>
      <p:sp>
        <p:nvSpPr>
          <p:cNvPr id="4" name="">
            <a:extLst xmlns:a="http://schemas.openxmlformats.org/drawingml/2006/main">
              <a:ext uri="{FF2B5EF4-FFF2-40B4-BE49-F238E27FC236}">
                <a16:creationId xmlns:a16="http://schemas.microsoft.com/office/drawing/2014/main" id="{2B840CCB-35CD-423C-B68F-69362198B394}"/>
              </a:ext>
            </a:extLst>
          </p:cNvPr>
          <p:cNvSpPr>
            <a:spLocks xmlns:a="http://schemas.openxmlformats.org/drawingml/2006/main" noGrp="1"/>
          </p:cNvSpPr>
          <p:nvPr/>
        </p:nvSpPr>
        <p:spPr>
          <a:xfrm xmlns:a="http://schemas.openxmlformats.org/drawingml/2006/main">
            <a:off x="685800" y="3143250"/>
            <a:ext cx="685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063"/>
          </a:bodyPr>
          <a:lstStyle xmlns:a="http://schemas.openxmlformats.org/drawingml/2006/main"/>
          <a:p xmlns:a="http://schemas.openxmlformats.org/drawingml/2006/main">
            <a:pPr algn="l">
              <a:defRPr sz="1725" b="0">
                <a:solidFill>
                  <a:srgbClr val="A7B3C4"/>
                </a:solidFill>
                <a:latin typeface="Helvetica Neue"/>
                <a:ea typeface="Helvetica Neue"/>
                <a:cs typeface="Helvetica Neue"/>
              </a:defRPr>
            </a:pPr>
            <a:r>
              <a:rPr sz="1725" b="0">
                <a:solidFill>
                  <a:srgbClr val="A7B3C4"/>
                </a:solidFill>
                <a:latin typeface="Helvetica Neue"/>
                <a:ea typeface="Helvetica Neue"/>
                <a:cs typeface="Helvetica Neue"/>
              </a:rPr>
              <a:t>Phân loại ba lớp từ review tiếng Việt bằng TF-IDF và mô hình học máy</a:t>
            </a:r>
          </a:p>
        </p:txBody>
      </p:sp>
      <p:sp>
        <p:nvSpPr>
          <p:cNvPr id="5" name="">
            <a:extLst xmlns:a="http://schemas.openxmlformats.org/drawingml/2006/main">
              <a:ext uri="{FF2B5EF4-FFF2-40B4-BE49-F238E27FC236}">
                <a16:creationId xmlns:a16="http://schemas.microsoft.com/office/drawing/2014/main" id="{2420D9A8-C848-4EBC-83B9-52F26EB647CF}"/>
              </a:ext>
            </a:extLst>
          </p:cNvPr>
          <p:cNvSpPr>
            <a:spLocks xmlns:a="http://schemas.openxmlformats.org/drawingml/2006/main" noGrp="1"/>
          </p:cNvSpPr>
          <p:nvPr/>
        </p:nvSpPr>
        <p:spPr>
          <a:xfrm xmlns:a="http://schemas.openxmlformats.org/drawingml/2006/main">
            <a:off x="685800" y="4000500"/>
            <a:ext cx="657225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ADC0643-2823-4012-BDBD-59C7FEC5F267}"/>
              </a:ext>
            </a:extLst>
          </p:cNvPr>
          <p:cNvSpPr>
            <a:spLocks xmlns:a="http://schemas.openxmlformats.org/drawingml/2006/main" noGrp="1"/>
          </p:cNvSpPr>
          <p:nvPr/>
        </p:nvSpPr>
        <p:spPr>
          <a:xfrm xmlns:a="http://schemas.openxmlformats.org/drawingml/2006/main">
            <a:off x="685800" y="4238625"/>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defRPr sz="975" b="1">
                <a:solidFill>
                  <a:srgbClr val="78A7FF"/>
                </a:solidFill>
                <a:latin typeface="Helvetica Neue"/>
                <a:ea typeface="Helvetica Neue"/>
                <a:cs typeface="Helvetica Neue"/>
              </a:defRPr>
            </a:pPr>
            <a:r>
              <a:rPr sz="975" b="1">
                <a:solidFill>
                  <a:srgbClr val="78A7FF"/>
                </a:solidFill>
                <a:latin typeface="Helvetica Neue"/>
                <a:ea typeface="Helvetica Neue"/>
                <a:cs typeface="Helvetica Neue"/>
              </a:rPr>
              <a:t>GIẢNG VIÊN HƯỚNG DẪN</a:t>
            </a:r>
          </a:p>
        </p:txBody>
      </p:sp>
      <p:sp>
        <p:nvSpPr>
          <p:cNvPr id="7" name="">
            <a:extLst xmlns:a="http://schemas.openxmlformats.org/drawingml/2006/main">
              <a:ext uri="{FF2B5EF4-FFF2-40B4-BE49-F238E27FC236}">
                <a16:creationId xmlns:a16="http://schemas.microsoft.com/office/drawing/2014/main" id="{6B361795-E170-4788-B1AC-C7125097509A}"/>
              </a:ext>
            </a:extLst>
          </p:cNvPr>
          <p:cNvSpPr>
            <a:spLocks xmlns:a="http://schemas.openxmlformats.org/drawingml/2006/main" noGrp="1"/>
          </p:cNvSpPr>
          <p:nvPr/>
        </p:nvSpPr>
        <p:spPr>
          <a:xfrm xmlns:a="http://schemas.openxmlformats.org/drawingml/2006/main">
            <a:off x="685800" y="4476750"/>
            <a:ext cx="685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026"/>
          </a:bodyPr>
          <a:lstStyle xmlns:a="http://schemas.openxmlformats.org/drawingml/2006/main"/>
          <a:p xmlns:a="http://schemas.openxmlformats.org/drawingml/2006/main">
            <a:pPr algn="l">
              <a:defRPr sz="1950" b="1">
                <a:solidFill>
                  <a:srgbClr val="F4F7FB"/>
                </a:solidFill>
                <a:latin typeface="Helvetica Neue"/>
                <a:ea typeface="Helvetica Neue"/>
                <a:cs typeface="Helvetica Neue"/>
              </a:defRPr>
            </a:pPr>
            <a:r>
              <a:rPr sz="1950" b="1">
                <a:solidFill>
                  <a:srgbClr val="F4F7FB"/>
                </a:solidFill>
                <a:latin typeface="Helvetica Neue"/>
                <a:ea typeface="Helvetica Neue"/>
                <a:cs typeface="Helvetica Neue"/>
              </a:rPr>
              <a:t>Thầy Cáp Phạm Đình Thăng</a:t>
            </a:r>
          </a:p>
        </p:txBody>
      </p:sp>
      <p:sp>
        <p:nvSpPr>
          <p:cNvPr id="8" name="">
            <a:extLst xmlns:a="http://schemas.openxmlformats.org/drawingml/2006/main">
              <a:ext uri="{FF2B5EF4-FFF2-40B4-BE49-F238E27FC236}">
                <a16:creationId xmlns:a16="http://schemas.microsoft.com/office/drawing/2014/main" id="{76571FE6-32B1-4C54-B65D-9945BE143075}"/>
              </a:ext>
            </a:extLst>
          </p:cNvPr>
          <p:cNvSpPr>
            <a:spLocks xmlns:a="http://schemas.openxmlformats.org/drawingml/2006/main" noGrp="1"/>
          </p:cNvSpPr>
          <p:nvPr/>
        </p:nvSpPr>
        <p:spPr>
          <a:xfrm xmlns:a="http://schemas.openxmlformats.org/drawingml/2006/main">
            <a:off x="685800" y="4857750"/>
            <a:ext cx="685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702"/>
          </a:bodyPr>
          <a:lstStyle xmlns:a="http://schemas.openxmlformats.org/drawingml/2006/main"/>
          <a:p xmlns:a="http://schemas.openxmlformats.org/drawingml/2006/main">
            <a:pPr algn="l">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Khoa Khoa học Máy tính</a:t>
            </a:r>
          </a:p>
        </p:txBody>
      </p:sp>
      <p:sp>
        <p:nvSpPr>
          <p:cNvPr id="9" name="">
            <a:extLst xmlns:a="http://schemas.openxmlformats.org/drawingml/2006/main">
              <a:ext uri="{FF2B5EF4-FFF2-40B4-BE49-F238E27FC236}">
                <a16:creationId xmlns:a16="http://schemas.microsoft.com/office/drawing/2014/main" id="{6566BD4B-1749-4D69-B69C-4897674C4B66}"/>
              </a:ext>
            </a:extLst>
          </p:cNvPr>
          <p:cNvSpPr>
            <a:spLocks xmlns:a="http://schemas.openxmlformats.org/drawingml/2006/main" noGrp="1"/>
          </p:cNvSpPr>
          <p:nvPr/>
        </p:nvSpPr>
        <p:spPr>
          <a:xfrm xmlns:a="http://schemas.openxmlformats.org/drawingml/2006/main">
            <a:off x="685800" y="5286375"/>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defRPr sz="975" b="1">
                <a:solidFill>
                  <a:srgbClr val="78A7FF"/>
                </a:solidFill>
                <a:latin typeface="Helvetica Neue"/>
                <a:ea typeface="Helvetica Neue"/>
                <a:cs typeface="Helvetica Neue"/>
              </a:defRPr>
            </a:pPr>
            <a:r>
              <a:rPr sz="975" b="1">
                <a:solidFill>
                  <a:srgbClr val="78A7FF"/>
                </a:solidFill>
                <a:latin typeface="Helvetica Neue"/>
                <a:ea typeface="Helvetica Neue"/>
                <a:cs typeface="Helvetica Neue"/>
              </a:rPr>
              <a:t>SINH VIÊN THỰC HIỆN</a:t>
            </a:r>
          </a:p>
        </p:txBody>
      </p:sp>
      <p:sp>
        <p:nvSpPr>
          <p:cNvPr id="10" name="">
            <a:extLst xmlns:a="http://schemas.openxmlformats.org/drawingml/2006/main">
              <a:ext uri="{FF2B5EF4-FFF2-40B4-BE49-F238E27FC236}">
                <a16:creationId xmlns:a16="http://schemas.microsoft.com/office/drawing/2014/main" id="{AABF2EE9-47F6-491A-983B-D78AB187388A}"/>
              </a:ext>
            </a:extLst>
          </p:cNvPr>
          <p:cNvSpPr>
            <a:spLocks xmlns:a="http://schemas.openxmlformats.org/drawingml/2006/main" noGrp="1"/>
          </p:cNvSpPr>
          <p:nvPr/>
        </p:nvSpPr>
        <p:spPr>
          <a:xfrm xmlns:a="http://schemas.openxmlformats.org/drawingml/2006/main">
            <a:off x="685800" y="5524500"/>
            <a:ext cx="685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1">
                <a:solidFill>
                  <a:srgbClr val="F4F7FB"/>
                </a:solidFill>
                <a:latin typeface="Helvetica Neue"/>
                <a:ea typeface="Helvetica Neue"/>
                <a:cs typeface="Helvetica Neue"/>
              </a:defRPr>
            </a:pPr>
            <a:r>
              <a:rPr sz="1275" b="1">
                <a:solidFill>
                  <a:srgbClr val="F4F7FB"/>
                </a:solidFill>
                <a:latin typeface="Helvetica Neue"/>
                <a:ea typeface="Helvetica Neue"/>
                <a:cs typeface="Helvetica Neue"/>
              </a:rPr>
              <a:t>Hoàng Hôn · Văn Duy · Duy Khang · Thành Trung</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0ae0c801f1aa4049">
            <a:extLst>
              <a:ext uri="{96DAC541-7B7A-43D3-8B79-37D633B846F1}">
                <asvg:svgBlip xmlns:asvg="http://schemas.microsoft.com/office/drawing/2016/SVG/main" r:embed="R09b57f759bc44400"/>
              </a:ext>
            </a:extLst>
          </a:blip>
          <a:stretch xmlns:a="http://schemas.openxmlformats.org/drawingml/2006/main"/>
        </p:blipFill>
        <p:spPr>
          <a:xfrm xmlns:a="http://schemas.openxmlformats.org/drawingml/2006/main">
            <a:off x="8239125" y="1476375"/>
            <a:ext cx="3095625" cy="3095625"/>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D49A222F-539C-4112-B149-0A1DCA8C989B}"/>
              </a:ext>
            </a:extLst>
          </p:cNvPr>
          <p:cNvSpPr>
            <a:spLocks xmlns:a="http://schemas.openxmlformats.org/drawingml/2006/main" noGrp="1"/>
          </p:cNvSpPr>
          <p:nvPr/>
        </p:nvSpPr>
        <p:spPr>
          <a:xfrm xmlns:a="http://schemas.openxmlformats.org/drawingml/2006/main">
            <a:off x="685800" y="6153150"/>
            <a:ext cx="781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5000"/>
          </a:bodyPr>
          <a:lstStyle xmlns:a="http://schemas.openxmlformats.org/drawingml/2006/main"/>
          <a:p xmlns:a="http://schemas.openxmlformats.org/drawingml/2006/main">
            <a:pPr algn="l">
              <a:defRPr sz="1200" b="0">
                <a:solidFill>
                  <a:srgbClr val="45D9A0"/>
                </a:solidFill>
                <a:latin typeface="Helvetica Neue"/>
                <a:ea typeface="Helvetica Neue"/>
                <a:cs typeface="Helvetica Neue"/>
              </a:defRPr>
            </a:pPr>
            <a:r>
              <a:rPr sz="1200" b="0">
                <a:solidFill>
                  <a:srgbClr val="45D9A0"/>
                </a:solidFill>
                <a:latin typeface="Helvetica Neue"/>
                <a:ea typeface="Helvetica Neue"/>
                <a:cs typeface="Helvetica Neue"/>
              </a:rPr>
              <a:t>8.417 review nguồn  |  8.414 review mô hình hóa  |  3 lớp cảm xúc</a:t>
            </a:r>
          </a:p>
        </p:txBody>
      </p:sp>
    </p:spTree>
    <p:extLst>
      <p:ext uri="{BB962C8B-B14F-4D97-AF65-F5344CB8AC3E}">
        <p14:creationId xmlns:p14="http://schemas.microsoft.com/office/powerpoint/2010/main" val="2138715498"/>
      </p:ext>
    </p:extLst>
  </p:cSld>
</p:sld>
</file>

<file path=ppt/slides/slide2.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EC5F624-8A58-49BC-A4F0-A3546886CF6C}"/>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01 · BÀI TOÁN</a:t>
            </a:r>
          </a:p>
        </p:txBody>
      </p:sp>
      <p:sp>
        <p:nvSpPr>
          <p:cNvPr id="2" name="">
            <a:extLst xmlns:a="http://schemas.openxmlformats.org/drawingml/2006/main">
              <a:ext uri="{FF2B5EF4-FFF2-40B4-BE49-F238E27FC236}">
                <a16:creationId xmlns:a16="http://schemas.microsoft.com/office/drawing/2014/main" id="{FCD36A58-C1A7-4769-911E-81E39CDE7C74}"/>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Dữ liệu lệch mạnh và nhãn chỉ là nhãn yếu</a:t>
            </a:r>
          </a:p>
        </p:txBody>
      </p:sp>
      <p:sp>
        <p:nvSpPr>
          <p:cNvPr id="3" name="">
            <a:extLst xmlns:a="http://schemas.openxmlformats.org/drawingml/2006/main">
              <a:ext uri="{FF2B5EF4-FFF2-40B4-BE49-F238E27FC236}">
                <a16:creationId xmlns:a16="http://schemas.microsoft.com/office/drawing/2014/main" id="{0427D931-6E15-470F-9C55-AA3DC2DEE690}"/>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BCD5C35-908F-4FD1-9591-7F83B4851693}"/>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02 / 15</a:t>
            </a:r>
          </a:p>
        </p:txBody>
      </p:sp>
      <p:sp>
        <p:nvSpPr>
          <p:cNvPr id="5" name="">
            <a:extLst xmlns:a="http://schemas.openxmlformats.org/drawingml/2006/main">
              <a:ext uri="{FF2B5EF4-FFF2-40B4-BE49-F238E27FC236}">
                <a16:creationId xmlns:a16="http://schemas.microsoft.com/office/drawing/2014/main" id="{A137458A-9EF1-46A8-A9D3-68951FB8B4FD}"/>
              </a:ext>
            </a:extLst>
          </p:cNvPr>
          <p:cNvSpPr>
            <a:spLocks xmlns:a="http://schemas.openxmlformats.org/drawingml/2006/main" noGrp="1"/>
          </p:cNvSpPr>
          <p:nvPr/>
        </p:nvSpPr>
        <p:spPr>
          <a:xfrm xmlns:a="http://schemas.openxmlformats.org/drawingml/2006/main">
            <a:off x="666750" y="1762125"/>
            <a:ext cx="247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defRPr sz="975" b="1">
                <a:solidFill>
                  <a:srgbClr val="FF9C5A"/>
                </a:solidFill>
                <a:latin typeface="Helvetica Neue"/>
                <a:ea typeface="Helvetica Neue"/>
                <a:cs typeface="Helvetica Neue"/>
              </a:defRPr>
            </a:pPr>
            <a:r>
              <a:rPr sz="975" b="1">
                <a:solidFill>
                  <a:srgbClr val="FF9C5A"/>
                </a:solidFill>
                <a:latin typeface="Helvetica Neue"/>
                <a:ea typeface="Helvetica Neue"/>
                <a:cs typeface="Helvetica Neue"/>
              </a:rPr>
              <a:t>POSITIVE : NEGATIVE</a:t>
            </a:r>
          </a:p>
        </p:txBody>
      </p:sp>
      <p:sp>
        <p:nvSpPr>
          <p:cNvPr id="6" name="">
            <a:extLst xmlns:a="http://schemas.openxmlformats.org/drawingml/2006/main">
              <a:ext uri="{FF2B5EF4-FFF2-40B4-BE49-F238E27FC236}">
                <a16:creationId xmlns:a16="http://schemas.microsoft.com/office/drawing/2014/main" id="{685A82A1-1C27-43B5-8CBC-1A382AB7B7DF}"/>
              </a:ext>
            </a:extLst>
          </p:cNvPr>
          <p:cNvSpPr>
            <a:spLocks xmlns:a="http://schemas.openxmlformats.org/drawingml/2006/main" noGrp="1"/>
          </p:cNvSpPr>
          <p:nvPr/>
        </p:nvSpPr>
        <p:spPr>
          <a:xfrm xmlns:a="http://schemas.openxmlformats.org/drawingml/2006/main">
            <a:off x="666750" y="2028825"/>
            <a:ext cx="247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10,9 : 1</a:t>
            </a:r>
          </a:p>
        </p:txBody>
      </p:sp>
      <p:sp>
        <p:nvSpPr>
          <p:cNvPr id="7" name="">
            <a:extLst xmlns:a="http://schemas.openxmlformats.org/drawingml/2006/main">
              <a:ext uri="{FF2B5EF4-FFF2-40B4-BE49-F238E27FC236}">
                <a16:creationId xmlns:a16="http://schemas.microsoft.com/office/drawing/2014/main" id="{F55158EB-9801-4ED4-8797-8730452F93F6}"/>
              </a:ext>
            </a:extLst>
          </p:cNvPr>
          <p:cNvSpPr>
            <a:spLocks xmlns:a="http://schemas.openxmlformats.org/drawingml/2006/main" noGrp="1"/>
          </p:cNvSpPr>
          <p:nvPr/>
        </p:nvSpPr>
        <p:spPr>
          <a:xfrm xmlns:a="http://schemas.openxmlformats.org/drawingml/2006/main">
            <a:off x="666750" y="2714625"/>
            <a:ext cx="2857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Nếu luôn đoán Positive, Accuracy đã gần 73,8%. Vì vậy, dự án chọn Macro F1 làm thước đo chính.</a:t>
            </a:r>
          </a:p>
        </p:txBody>
      </p:sp>
      <p:graphicFrame>
        <p:nvGraphicFramePr>
          <p:cNvPr id="26" name="Chart"/>
          <p:cNvGraphicFramePr/>
          <p:nvPr/>
        </p:nvGraphicFramePr>
        <p:xfrm>
          <a:off xmlns:a="http://schemas.openxmlformats.org/drawingml/2006/main" x="3857625" y="1695450"/>
          <a:ext xmlns:a="http://schemas.openxmlformats.org/drawingml/2006/main" cx="7381875" cy="1714500"/>
        </p:xfrm>
        <a:graphic xmlns:a="http://schemas.openxmlformats.org/drawingml/2006/main">
          <a:graphicData uri="http://schemas.openxmlformats.org/drawingml/2006/chart">
            <c:chart xmlns:r="http://schemas.openxmlformats.org/officeDocument/2006/relationships" xmlns:c="http://schemas.openxmlformats.org/drawingml/2006/chart" r:id="R8918c08e884f4be7"/>
          </a:graphicData>
        </a:graphic>
      </p:graphicFrame>
      <p:sp>
        <p:nvSpPr>
          <p:cNvPr id="9" name="">
            <a:extLst xmlns:a="http://schemas.openxmlformats.org/drawingml/2006/main">
              <a:ext uri="{FF2B5EF4-FFF2-40B4-BE49-F238E27FC236}">
                <a16:creationId xmlns:a16="http://schemas.microsoft.com/office/drawing/2014/main" id="{5E7EFBDA-A88B-4E5E-A7FB-FA6B9CE41650}"/>
              </a:ext>
            </a:extLst>
          </p:cNvPr>
          <p:cNvSpPr>
            <a:spLocks xmlns:a="http://schemas.openxmlformats.org/drawingml/2006/main" noGrp="1"/>
          </p:cNvSpPr>
          <p:nvPr/>
        </p:nvSpPr>
        <p:spPr>
          <a:xfrm xmlns:a="http://schemas.openxmlformats.org/drawingml/2006/main">
            <a:off x="4000500" y="1790700"/>
            <a:ext cx="114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222"/>
          </a:bodyPr>
          <a:lstStyle xmlns:a="http://schemas.openxmlformats.org/drawingml/2006/main"/>
          <a:p xmlns:a="http://schemas.openxmlformats.org/drawingml/2006/main">
            <a:pPr algn="l">
              <a:defRPr sz="900" b="1">
                <a:solidFill>
                  <a:srgbClr val="A7B3C4"/>
                </a:solidFill>
                <a:latin typeface="Helvetica Neue"/>
                <a:ea typeface="Helvetica Neue"/>
                <a:cs typeface="Helvetica Neue"/>
              </a:defRPr>
            </a:pPr>
            <a:r>
              <a:rPr sz="900" b="1">
                <a:solidFill>
                  <a:srgbClr val="A7B3C4"/>
                </a:solidFill>
                <a:latin typeface="Helvetica Neue"/>
                <a:ea typeface="Helvetica Neue"/>
                <a:cs typeface="Helvetica Neue"/>
              </a:rPr>
              <a:t>TỶ LỆ (%)</a:t>
            </a:r>
          </a:p>
        </p:txBody>
      </p:sp>
      <p:sp>
        <p:nvSpPr>
          <p:cNvPr id="10" name="">
            <a:extLst xmlns:a="http://schemas.openxmlformats.org/drawingml/2006/main">
              <a:ext uri="{FF2B5EF4-FFF2-40B4-BE49-F238E27FC236}">
                <a16:creationId xmlns:a16="http://schemas.microsoft.com/office/drawing/2014/main" id="{D2321B1A-4939-4350-9700-7A39C80922F9}"/>
              </a:ext>
            </a:extLst>
          </p:cNvPr>
          <p:cNvSpPr>
            <a:spLocks xmlns:a="http://schemas.openxmlformats.org/drawingml/2006/main" noGrp="1"/>
          </p:cNvSpPr>
          <p:nvPr/>
        </p:nvSpPr>
        <p:spPr>
          <a:xfrm xmlns:a="http://schemas.openxmlformats.org/drawingml/2006/main">
            <a:off x="3857625" y="3857625"/>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38D88D1-C216-4957-9C6D-9F6ED4C284CF}"/>
              </a:ext>
            </a:extLst>
          </p:cNvPr>
          <p:cNvSpPr>
            <a:spLocks xmlns:a="http://schemas.openxmlformats.org/drawingml/2006/main" noGrp="1"/>
          </p:cNvSpPr>
          <p:nvPr/>
        </p:nvSpPr>
        <p:spPr>
          <a:xfrm xmlns:a="http://schemas.openxmlformats.org/drawingml/2006/main">
            <a:off x="4048125" y="3790950"/>
            <a:ext cx="714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Ngôn ngữ pha trộn</a:t>
            </a:r>
          </a:p>
        </p:txBody>
      </p:sp>
      <p:sp>
        <p:nvSpPr>
          <p:cNvPr id="12" name="">
            <a:extLst xmlns:a="http://schemas.openxmlformats.org/drawingml/2006/main">
              <a:ext uri="{FF2B5EF4-FFF2-40B4-BE49-F238E27FC236}">
                <a16:creationId xmlns:a16="http://schemas.microsoft.com/office/drawing/2014/main" id="{EC2B5D0E-7D55-4034-B7B3-59AACAEEDD7C}"/>
              </a:ext>
            </a:extLst>
          </p:cNvPr>
          <p:cNvSpPr>
            <a:spLocks xmlns:a="http://schemas.openxmlformats.org/drawingml/2006/main" noGrp="1"/>
          </p:cNvSpPr>
          <p:nvPr/>
        </p:nvSpPr>
        <p:spPr>
          <a:xfrm xmlns:a="http://schemas.openxmlformats.org/drawingml/2006/main">
            <a:off x="4048125" y="4076700"/>
            <a:ext cx="714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Review dùng tiếng Việt, thuật ngữ IT, teencode và emoji.</a:t>
            </a:r>
          </a:p>
        </p:txBody>
      </p:sp>
      <p:sp>
        <p:nvSpPr>
          <p:cNvPr id="13" name="">
            <a:extLst xmlns:a="http://schemas.openxmlformats.org/drawingml/2006/main">
              <a:ext uri="{FF2B5EF4-FFF2-40B4-BE49-F238E27FC236}">
                <a16:creationId xmlns:a16="http://schemas.microsoft.com/office/drawing/2014/main" id="{A42DB84C-FEDF-46BB-AC7A-7D539A32C88C}"/>
              </a:ext>
            </a:extLst>
          </p:cNvPr>
          <p:cNvSpPr>
            <a:spLocks xmlns:a="http://schemas.openxmlformats.org/drawingml/2006/main" noGrp="1"/>
          </p:cNvSpPr>
          <p:nvPr/>
        </p:nvSpPr>
        <p:spPr>
          <a:xfrm xmlns:a="http://schemas.openxmlformats.org/drawingml/2006/main">
            <a:off x="3857625" y="4581525"/>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809A09B-CF50-4680-B8F3-787374560FD8}"/>
              </a:ext>
            </a:extLst>
          </p:cNvPr>
          <p:cNvSpPr>
            <a:spLocks xmlns:a="http://schemas.openxmlformats.org/drawingml/2006/main" noGrp="1"/>
          </p:cNvSpPr>
          <p:nvPr/>
        </p:nvSpPr>
        <p:spPr>
          <a:xfrm xmlns:a="http://schemas.openxmlformats.org/drawingml/2006/main">
            <a:off x="4048125" y="4514850"/>
            <a:ext cx="714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Cảm xúc lẫn lộn</a:t>
            </a:r>
          </a:p>
        </p:txBody>
      </p:sp>
      <p:sp>
        <p:nvSpPr>
          <p:cNvPr id="15" name="">
            <a:extLst xmlns:a="http://schemas.openxmlformats.org/drawingml/2006/main">
              <a:ext uri="{FF2B5EF4-FFF2-40B4-BE49-F238E27FC236}">
                <a16:creationId xmlns:a16="http://schemas.microsoft.com/office/drawing/2014/main" id="{ACEE9513-1453-48A3-8279-D4F6CCEEEB57}"/>
              </a:ext>
            </a:extLst>
          </p:cNvPr>
          <p:cNvSpPr>
            <a:spLocks xmlns:a="http://schemas.openxmlformats.org/drawingml/2006/main" noGrp="1"/>
          </p:cNvSpPr>
          <p:nvPr/>
        </p:nvSpPr>
        <p:spPr>
          <a:xfrm xmlns:a="http://schemas.openxmlformats.org/drawingml/2006/main">
            <a:off x="4048125" y="4800600"/>
            <a:ext cx="714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Một review thường khen môi trường nhưng chê lương, OT hoặc quản lý.</a:t>
            </a:r>
          </a:p>
        </p:txBody>
      </p:sp>
      <p:sp>
        <p:nvSpPr>
          <p:cNvPr id="16" name="">
            <a:extLst xmlns:a="http://schemas.openxmlformats.org/drawingml/2006/main">
              <a:ext uri="{FF2B5EF4-FFF2-40B4-BE49-F238E27FC236}">
                <a16:creationId xmlns:a16="http://schemas.microsoft.com/office/drawing/2014/main" id="{62909BB6-754D-43DB-9C1C-3069764353D2}"/>
              </a:ext>
            </a:extLst>
          </p:cNvPr>
          <p:cNvSpPr>
            <a:spLocks xmlns:a="http://schemas.openxmlformats.org/drawingml/2006/main" noGrp="1"/>
          </p:cNvSpPr>
          <p:nvPr/>
        </p:nvSpPr>
        <p:spPr>
          <a:xfrm xmlns:a="http://schemas.openxmlformats.org/drawingml/2006/main">
            <a:off x="3857625" y="5305425"/>
            <a:ext cx="57150" cy="304800"/>
          </a:xfrm>
          <a:prstGeom xmlns:a="http://schemas.openxmlformats.org/drawingml/2006/main" prst="roundRect">
            <a:avLst>
              <a:gd name="adj" fmla="val 50000"/>
            </a:avLst>
          </a:prstGeom>
          <a:solidFill xmlns:a="http://schemas.openxmlformats.org/drawingml/2006/main">
            <a:srgbClr val="FF667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FB8DF2DD-4C34-4FB7-812D-B6B250EAD267}"/>
              </a:ext>
            </a:extLst>
          </p:cNvPr>
          <p:cNvSpPr>
            <a:spLocks xmlns:a="http://schemas.openxmlformats.org/drawingml/2006/main" noGrp="1"/>
          </p:cNvSpPr>
          <p:nvPr/>
        </p:nvSpPr>
        <p:spPr>
          <a:xfrm xmlns:a="http://schemas.openxmlformats.org/drawingml/2006/main">
            <a:off x="4048125" y="5238750"/>
            <a:ext cx="714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Nhãn suy ra từ rating</a:t>
            </a:r>
          </a:p>
        </p:txBody>
      </p:sp>
      <p:sp>
        <p:nvSpPr>
          <p:cNvPr id="18" name="">
            <a:extLst xmlns:a="http://schemas.openxmlformats.org/drawingml/2006/main">
              <a:ext uri="{FF2B5EF4-FFF2-40B4-BE49-F238E27FC236}">
                <a16:creationId xmlns:a16="http://schemas.microsoft.com/office/drawing/2014/main" id="{80E436AE-9E03-406B-9779-1BEA5BA32B0F}"/>
              </a:ext>
            </a:extLst>
          </p:cNvPr>
          <p:cNvSpPr>
            <a:spLocks xmlns:a="http://schemas.openxmlformats.org/drawingml/2006/main" noGrp="1"/>
          </p:cNvSpPr>
          <p:nvPr/>
        </p:nvSpPr>
        <p:spPr>
          <a:xfrm xmlns:a="http://schemas.openxmlformats.org/drawingml/2006/main">
            <a:off x="4048125" y="5524500"/>
            <a:ext cx="714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Rating 1–5 sao tạo nhãn weak label, không phải nhãn vàng do chuyên gia gán.</a:t>
            </a:r>
          </a:p>
        </p:txBody>
      </p:sp>
    </p:spTree>
    <p:extLst>
      <p:ext uri="{BB962C8B-B14F-4D97-AF65-F5344CB8AC3E}">
        <p14:creationId xmlns:p14="http://schemas.microsoft.com/office/powerpoint/2010/main" val="787731041"/>
      </p:ext>
    </p:extLst>
  </p:cSld>
</p:sld>
</file>

<file path=ppt/slides/slide3.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7DBBE772-9D3B-46FA-A2CB-0735D1A200B4}"/>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02 · KIẾN TRÚC</a:t>
            </a:r>
          </a:p>
        </p:txBody>
      </p:sp>
      <p:sp>
        <p:nvSpPr>
          <p:cNvPr id="2" name="">
            <a:extLst xmlns:a="http://schemas.openxmlformats.org/drawingml/2006/main">
              <a:ext uri="{FF2B5EF4-FFF2-40B4-BE49-F238E27FC236}">
                <a16:creationId xmlns:a16="http://schemas.microsoft.com/office/drawing/2014/main" id="{18831197-4A6B-48D7-BC20-2560D6ED58A4}"/>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Pipeline từ dữ liệu nguồn đến ứng dụng</a:t>
            </a:r>
          </a:p>
        </p:txBody>
      </p:sp>
      <p:sp>
        <p:nvSpPr>
          <p:cNvPr id="3" name="">
            <a:extLst xmlns:a="http://schemas.openxmlformats.org/drawingml/2006/main">
              <a:ext uri="{FF2B5EF4-FFF2-40B4-BE49-F238E27FC236}">
                <a16:creationId xmlns:a16="http://schemas.microsoft.com/office/drawing/2014/main" id="{67E50C9B-8442-421D-8C16-4D91222711FF}"/>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6594738-FD32-428F-AA9F-7AE33AD10DF7}"/>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03 / 15</a:t>
            </a:r>
          </a:p>
        </p:txBody>
      </p:sp>
      <p:sp>
        <p:nvSpPr>
          <p:cNvPr id="5" name="">
            <a:extLst xmlns:a="http://schemas.openxmlformats.org/drawingml/2006/main">
              <a:ext uri="{FF2B5EF4-FFF2-40B4-BE49-F238E27FC236}">
                <a16:creationId xmlns:a16="http://schemas.microsoft.com/office/drawing/2014/main" id="{EBC78CF2-4510-4054-B096-32C4BC792C46}"/>
              </a:ext>
            </a:extLst>
          </p:cNvPr>
          <p:cNvSpPr>
            <a:spLocks xmlns:a="http://schemas.openxmlformats.org/drawingml/2006/main" noGrp="1"/>
          </p:cNvSpPr>
          <p:nvPr/>
        </p:nvSpPr>
        <p:spPr>
          <a:xfrm xmlns:a="http://schemas.openxmlformats.org/drawingml/2006/main">
            <a:off x="609600" y="1790700"/>
            <a:ext cx="400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350" b="1">
                <a:solidFill>
                  <a:srgbClr val="78A7FF"/>
                </a:solidFill>
                <a:latin typeface="Helvetica Neue"/>
                <a:ea typeface="Helvetica Neue"/>
                <a:cs typeface="Helvetica Neue"/>
              </a:defRPr>
            </a:pPr>
            <a:r>
              <a:rPr sz="1350" b="1">
                <a:solidFill>
                  <a:srgbClr val="78A7FF"/>
                </a:solidFill>
                <a:latin typeface="Helvetica Neue"/>
                <a:ea typeface="Helvetica Neue"/>
                <a:cs typeface="Helvetica Neue"/>
              </a:rPr>
              <a:t>01</a:t>
            </a:r>
          </a:p>
        </p:txBody>
      </p:sp>
      <p:sp>
        <p:nvSpPr>
          <p:cNvPr id="6" name="">
            <a:extLst xmlns:a="http://schemas.openxmlformats.org/drawingml/2006/main">
              <a:ext uri="{FF2B5EF4-FFF2-40B4-BE49-F238E27FC236}">
                <a16:creationId xmlns:a16="http://schemas.microsoft.com/office/drawing/2014/main" id="{CF1E7BF0-F0B6-4F4F-A06F-77621EE1B935}"/>
              </a:ext>
            </a:extLst>
          </p:cNvPr>
          <p:cNvSpPr>
            <a:spLocks xmlns:a="http://schemas.openxmlformats.org/drawingml/2006/main" noGrp="1"/>
          </p:cNvSpPr>
          <p:nvPr/>
        </p:nvSpPr>
        <p:spPr>
          <a:xfrm xmlns:a="http://schemas.openxmlformats.org/drawingml/2006/main">
            <a:off x="609600" y="2266950"/>
            <a:ext cx="185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Dữ liệu</a:t>
            </a:r>
          </a:p>
        </p:txBody>
      </p:sp>
      <p:sp>
        <p:nvSpPr>
          <p:cNvPr id="7" name="">
            <a:extLst xmlns:a="http://schemas.openxmlformats.org/drawingml/2006/main">
              <a:ext uri="{FF2B5EF4-FFF2-40B4-BE49-F238E27FC236}">
                <a16:creationId xmlns:a16="http://schemas.microsoft.com/office/drawing/2014/main" id="{E357D004-C4FD-4127-AFE7-0EF3B44D9292}"/>
              </a:ext>
            </a:extLst>
          </p:cNvPr>
          <p:cNvSpPr>
            <a:spLocks xmlns:a="http://schemas.openxmlformats.org/drawingml/2006/main" noGrp="1"/>
          </p:cNvSpPr>
          <p:nvPr/>
        </p:nvSpPr>
        <p:spPr>
          <a:xfrm xmlns:a="http://schemas.openxmlformats.org/drawingml/2006/main">
            <a:off x="609600" y="2724150"/>
            <a:ext cx="1905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8.417 review</a:t>
            </a:r>
          </a:p>
          <a:p xmlns:a="http://schemas.openxmlformats.org/drawingml/2006/main">
            <a:pPr algn="l">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Title + Liked + Improvement</a:t>
            </a:r>
          </a:p>
        </p:txBody>
      </p:sp>
      <p:sp>
        <p:nvSpPr>
          <p:cNvPr id="8" name="">
            <a:extLst xmlns:a="http://schemas.openxmlformats.org/drawingml/2006/main">
              <a:ext uri="{FF2B5EF4-FFF2-40B4-BE49-F238E27FC236}">
                <a16:creationId xmlns:a16="http://schemas.microsoft.com/office/drawing/2014/main" id="{1AB466D9-E96C-4D80-A836-CC7A7FD4A3A0}"/>
              </a:ext>
            </a:extLst>
          </p:cNvPr>
          <p:cNvSpPr>
            <a:spLocks xmlns:a="http://schemas.openxmlformats.org/drawingml/2006/main" noGrp="1"/>
          </p:cNvSpPr>
          <p:nvPr/>
        </p:nvSpPr>
        <p:spPr>
          <a:xfrm xmlns:a="http://schemas.openxmlformats.org/drawingml/2006/main">
            <a:off x="609600" y="3638550"/>
            <a:ext cx="1790700" cy="762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CCDB7113-1CC8-4FB0-8B55-D2BA2E2724B3}"/>
              </a:ext>
            </a:extLst>
          </p:cNvPr>
          <p:cNvSpPr>
            <a:spLocks xmlns:a="http://schemas.openxmlformats.org/drawingml/2006/main" noGrp="1"/>
          </p:cNvSpPr>
          <p:nvPr/>
        </p:nvSpPr>
        <p:spPr>
          <a:xfrm xmlns:a="http://schemas.openxmlformats.org/drawingml/2006/main">
            <a:off x="2876550" y="1790700"/>
            <a:ext cx="400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350" b="1">
                <a:solidFill>
                  <a:srgbClr val="45D9A0"/>
                </a:solidFill>
                <a:latin typeface="Helvetica Neue"/>
                <a:ea typeface="Helvetica Neue"/>
                <a:cs typeface="Helvetica Neue"/>
              </a:defRPr>
            </a:pPr>
            <a:r>
              <a:rPr sz="1350" b="1">
                <a:solidFill>
                  <a:srgbClr val="45D9A0"/>
                </a:solidFill>
                <a:latin typeface="Helvetica Neue"/>
                <a:ea typeface="Helvetica Neue"/>
                <a:cs typeface="Helvetica Neue"/>
              </a:rPr>
              <a:t>02</a:t>
            </a:r>
          </a:p>
        </p:txBody>
      </p:sp>
      <p:sp>
        <p:nvSpPr>
          <p:cNvPr id="10" name="">
            <a:extLst xmlns:a="http://schemas.openxmlformats.org/drawingml/2006/main">
              <a:ext uri="{FF2B5EF4-FFF2-40B4-BE49-F238E27FC236}">
                <a16:creationId xmlns:a16="http://schemas.microsoft.com/office/drawing/2014/main" id="{25BA2F13-973B-469C-8222-4B53674E8DFA}"/>
              </a:ext>
            </a:extLst>
          </p:cNvPr>
          <p:cNvSpPr>
            <a:spLocks xmlns:a="http://schemas.openxmlformats.org/drawingml/2006/main" noGrp="1"/>
          </p:cNvSpPr>
          <p:nvPr/>
        </p:nvSpPr>
        <p:spPr>
          <a:xfrm xmlns:a="http://schemas.openxmlformats.org/drawingml/2006/main">
            <a:off x="2876550" y="2266950"/>
            <a:ext cx="185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Tiền xử lý</a:t>
            </a:r>
          </a:p>
        </p:txBody>
      </p:sp>
      <p:sp>
        <p:nvSpPr>
          <p:cNvPr id="11" name="">
            <a:extLst xmlns:a="http://schemas.openxmlformats.org/drawingml/2006/main">
              <a:ext uri="{FF2B5EF4-FFF2-40B4-BE49-F238E27FC236}">
                <a16:creationId xmlns:a16="http://schemas.microsoft.com/office/drawing/2014/main" id="{837ED5B2-E5A3-4450-B391-2024E664CEC9}"/>
              </a:ext>
            </a:extLst>
          </p:cNvPr>
          <p:cNvSpPr>
            <a:spLocks xmlns:a="http://schemas.openxmlformats.org/drawingml/2006/main" noGrp="1"/>
          </p:cNvSpPr>
          <p:nvPr/>
        </p:nvSpPr>
        <p:spPr>
          <a:xfrm xmlns:a="http://schemas.openxmlformats.org/drawingml/2006/main">
            <a:off x="2876550" y="2724150"/>
            <a:ext cx="1905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Unicode, emoji, teencode</a:t>
            </a:r>
          </a:p>
          <a:p xmlns:a="http://schemas.openxmlformats.org/drawingml/2006/main">
            <a:pPr algn="l">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và tách từ</a:t>
            </a:r>
          </a:p>
        </p:txBody>
      </p:sp>
      <p:sp>
        <p:nvSpPr>
          <p:cNvPr id="12" name="">
            <a:extLst xmlns:a="http://schemas.openxmlformats.org/drawingml/2006/main">
              <a:ext uri="{FF2B5EF4-FFF2-40B4-BE49-F238E27FC236}">
                <a16:creationId xmlns:a16="http://schemas.microsoft.com/office/drawing/2014/main" id="{5DB85CCC-FA0A-419E-BCF8-513764F7F720}"/>
              </a:ext>
            </a:extLst>
          </p:cNvPr>
          <p:cNvSpPr>
            <a:spLocks xmlns:a="http://schemas.openxmlformats.org/drawingml/2006/main" noGrp="1"/>
          </p:cNvSpPr>
          <p:nvPr/>
        </p:nvSpPr>
        <p:spPr>
          <a:xfrm xmlns:a="http://schemas.openxmlformats.org/drawingml/2006/main">
            <a:off x="2876550" y="3638550"/>
            <a:ext cx="1790700" cy="762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D8F8AD5-20F8-493E-93CF-9D6A65C861E3}"/>
              </a:ext>
            </a:extLst>
          </p:cNvPr>
          <p:cNvSpPr>
            <a:spLocks xmlns:a="http://schemas.openxmlformats.org/drawingml/2006/main" noGrp="1"/>
          </p:cNvSpPr>
          <p:nvPr/>
        </p:nvSpPr>
        <p:spPr>
          <a:xfrm xmlns:a="http://schemas.openxmlformats.org/drawingml/2006/main">
            <a:off x="5143500" y="1790700"/>
            <a:ext cx="400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350" b="1">
                <a:solidFill>
                  <a:srgbClr val="F4D35E"/>
                </a:solidFill>
                <a:latin typeface="Helvetica Neue"/>
                <a:ea typeface="Helvetica Neue"/>
                <a:cs typeface="Helvetica Neue"/>
              </a:defRPr>
            </a:pPr>
            <a:r>
              <a:rPr sz="1350" b="1">
                <a:solidFill>
                  <a:srgbClr val="F4D35E"/>
                </a:solidFill>
                <a:latin typeface="Helvetica Neue"/>
                <a:ea typeface="Helvetica Neue"/>
                <a:cs typeface="Helvetica Neue"/>
              </a:rPr>
              <a:t>03</a:t>
            </a:r>
          </a:p>
        </p:txBody>
      </p:sp>
      <p:sp>
        <p:nvSpPr>
          <p:cNvPr id="14" name="">
            <a:extLst xmlns:a="http://schemas.openxmlformats.org/drawingml/2006/main">
              <a:ext uri="{FF2B5EF4-FFF2-40B4-BE49-F238E27FC236}">
                <a16:creationId xmlns:a16="http://schemas.microsoft.com/office/drawing/2014/main" id="{80CADA06-3EB7-4D00-A366-091FA3F8A5C1}"/>
              </a:ext>
            </a:extLst>
          </p:cNvPr>
          <p:cNvSpPr>
            <a:spLocks xmlns:a="http://schemas.openxmlformats.org/drawingml/2006/main" noGrp="1"/>
          </p:cNvSpPr>
          <p:nvPr/>
        </p:nvSpPr>
        <p:spPr>
          <a:xfrm xmlns:a="http://schemas.openxmlformats.org/drawingml/2006/main">
            <a:off x="5143500" y="2266950"/>
            <a:ext cx="185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Đặc trưng</a:t>
            </a:r>
          </a:p>
        </p:txBody>
      </p:sp>
      <p:sp>
        <p:nvSpPr>
          <p:cNvPr id="15" name="">
            <a:extLst xmlns:a="http://schemas.openxmlformats.org/drawingml/2006/main">
              <a:ext uri="{FF2B5EF4-FFF2-40B4-BE49-F238E27FC236}">
                <a16:creationId xmlns:a16="http://schemas.microsoft.com/office/drawing/2014/main" id="{7799AFF3-C9AE-4FD6-B1D2-BBD281424600}"/>
              </a:ext>
            </a:extLst>
          </p:cNvPr>
          <p:cNvSpPr>
            <a:spLocks xmlns:a="http://schemas.openxmlformats.org/drawingml/2006/main" noGrp="1"/>
          </p:cNvSpPr>
          <p:nvPr/>
        </p:nvSpPr>
        <p:spPr>
          <a:xfrm xmlns:a="http://schemas.openxmlformats.org/drawingml/2006/main">
            <a:off x="5143500" y="2724150"/>
            <a:ext cx="1905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TF-IDF unigram + bigram</a:t>
            </a:r>
          </a:p>
          <a:p xmlns:a="http://schemas.openxmlformats.org/drawingml/2006/main">
            <a:pPr algn="l">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5.000 chiều</a:t>
            </a:r>
          </a:p>
        </p:txBody>
      </p:sp>
      <p:sp>
        <p:nvSpPr>
          <p:cNvPr id="16" name="">
            <a:extLst xmlns:a="http://schemas.openxmlformats.org/drawingml/2006/main">
              <a:ext uri="{FF2B5EF4-FFF2-40B4-BE49-F238E27FC236}">
                <a16:creationId xmlns:a16="http://schemas.microsoft.com/office/drawing/2014/main" id="{DA39511F-0C8A-44D9-84DF-EBE44609E4C6}"/>
              </a:ext>
            </a:extLst>
          </p:cNvPr>
          <p:cNvSpPr>
            <a:spLocks xmlns:a="http://schemas.openxmlformats.org/drawingml/2006/main" noGrp="1"/>
          </p:cNvSpPr>
          <p:nvPr/>
        </p:nvSpPr>
        <p:spPr>
          <a:xfrm xmlns:a="http://schemas.openxmlformats.org/drawingml/2006/main">
            <a:off x="5143500" y="3638550"/>
            <a:ext cx="1790700" cy="762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E6D8F489-041B-4095-9E29-DDB50ADFF482}"/>
              </a:ext>
            </a:extLst>
          </p:cNvPr>
          <p:cNvSpPr>
            <a:spLocks xmlns:a="http://schemas.openxmlformats.org/drawingml/2006/main" noGrp="1"/>
          </p:cNvSpPr>
          <p:nvPr/>
        </p:nvSpPr>
        <p:spPr>
          <a:xfrm xmlns:a="http://schemas.openxmlformats.org/drawingml/2006/main">
            <a:off x="7410450" y="1790700"/>
            <a:ext cx="400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350" b="1">
                <a:solidFill>
                  <a:srgbClr val="FF9C5A"/>
                </a:solidFill>
                <a:latin typeface="Helvetica Neue"/>
                <a:ea typeface="Helvetica Neue"/>
                <a:cs typeface="Helvetica Neue"/>
              </a:defRPr>
            </a:pPr>
            <a:r>
              <a:rPr sz="1350" b="1">
                <a:solidFill>
                  <a:srgbClr val="FF9C5A"/>
                </a:solidFill>
                <a:latin typeface="Helvetica Neue"/>
                <a:ea typeface="Helvetica Neue"/>
                <a:cs typeface="Helvetica Neue"/>
              </a:rPr>
              <a:t>04</a:t>
            </a:r>
          </a:p>
        </p:txBody>
      </p:sp>
      <p:sp>
        <p:nvSpPr>
          <p:cNvPr id="18" name="">
            <a:extLst xmlns:a="http://schemas.openxmlformats.org/drawingml/2006/main">
              <a:ext uri="{FF2B5EF4-FFF2-40B4-BE49-F238E27FC236}">
                <a16:creationId xmlns:a16="http://schemas.microsoft.com/office/drawing/2014/main" id="{B43F9813-5BB7-42F6-A7B1-AF3187992B59}"/>
              </a:ext>
            </a:extLst>
          </p:cNvPr>
          <p:cNvSpPr>
            <a:spLocks xmlns:a="http://schemas.openxmlformats.org/drawingml/2006/main" noGrp="1"/>
          </p:cNvSpPr>
          <p:nvPr/>
        </p:nvSpPr>
        <p:spPr>
          <a:xfrm xmlns:a="http://schemas.openxmlformats.org/drawingml/2006/main">
            <a:off x="7410450" y="2266950"/>
            <a:ext cx="185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Huấn luyện</a:t>
            </a:r>
          </a:p>
        </p:txBody>
      </p:sp>
      <p:sp>
        <p:nvSpPr>
          <p:cNvPr id="19" name="">
            <a:extLst xmlns:a="http://schemas.openxmlformats.org/drawingml/2006/main">
              <a:ext uri="{FF2B5EF4-FFF2-40B4-BE49-F238E27FC236}">
                <a16:creationId xmlns:a16="http://schemas.microsoft.com/office/drawing/2014/main" id="{64A48DCF-8A3A-416D-B807-40CD9AAFB95C}"/>
              </a:ext>
            </a:extLst>
          </p:cNvPr>
          <p:cNvSpPr>
            <a:spLocks xmlns:a="http://schemas.openxmlformats.org/drawingml/2006/main" noGrp="1"/>
          </p:cNvSpPr>
          <p:nvPr/>
        </p:nvSpPr>
        <p:spPr>
          <a:xfrm xmlns:a="http://schemas.openxmlformats.org/drawingml/2006/main">
            <a:off x="7410450" y="2724150"/>
            <a:ext cx="1905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5 mô hình</a:t>
            </a:r>
          </a:p>
          <a:p xmlns:a="http://schemas.openxmlformats.org/drawingml/2006/main">
            <a:pPr algn="l">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Stratified 5-fold CV</a:t>
            </a:r>
          </a:p>
        </p:txBody>
      </p:sp>
      <p:sp>
        <p:nvSpPr>
          <p:cNvPr id="20" name="">
            <a:extLst xmlns:a="http://schemas.openxmlformats.org/drawingml/2006/main">
              <a:ext uri="{FF2B5EF4-FFF2-40B4-BE49-F238E27FC236}">
                <a16:creationId xmlns:a16="http://schemas.microsoft.com/office/drawing/2014/main" id="{031D793D-74D5-4307-BD6F-717755BEE513}"/>
              </a:ext>
            </a:extLst>
          </p:cNvPr>
          <p:cNvSpPr>
            <a:spLocks xmlns:a="http://schemas.openxmlformats.org/drawingml/2006/main" noGrp="1"/>
          </p:cNvSpPr>
          <p:nvPr/>
        </p:nvSpPr>
        <p:spPr>
          <a:xfrm xmlns:a="http://schemas.openxmlformats.org/drawingml/2006/main">
            <a:off x="7410450" y="3638550"/>
            <a:ext cx="1790700" cy="762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5D8989C-D8AB-4BED-92C5-E45F2C4F353D}"/>
              </a:ext>
            </a:extLst>
          </p:cNvPr>
          <p:cNvSpPr>
            <a:spLocks xmlns:a="http://schemas.openxmlformats.org/drawingml/2006/main" noGrp="1"/>
          </p:cNvSpPr>
          <p:nvPr/>
        </p:nvSpPr>
        <p:spPr>
          <a:xfrm xmlns:a="http://schemas.openxmlformats.org/drawingml/2006/main">
            <a:off x="9677400" y="1790700"/>
            <a:ext cx="400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350" b="1">
                <a:solidFill>
                  <a:srgbClr val="FF667B"/>
                </a:solidFill>
                <a:latin typeface="Helvetica Neue"/>
                <a:ea typeface="Helvetica Neue"/>
                <a:cs typeface="Helvetica Neue"/>
              </a:defRPr>
            </a:pPr>
            <a:r>
              <a:rPr sz="1350" b="1">
                <a:solidFill>
                  <a:srgbClr val="FF667B"/>
                </a:solidFill>
                <a:latin typeface="Helvetica Neue"/>
                <a:ea typeface="Helvetica Neue"/>
                <a:cs typeface="Helvetica Neue"/>
              </a:rPr>
              <a:t>05</a:t>
            </a:r>
          </a:p>
        </p:txBody>
      </p:sp>
      <p:sp>
        <p:nvSpPr>
          <p:cNvPr id="22" name="">
            <a:extLst xmlns:a="http://schemas.openxmlformats.org/drawingml/2006/main">
              <a:ext uri="{FF2B5EF4-FFF2-40B4-BE49-F238E27FC236}">
                <a16:creationId xmlns:a16="http://schemas.microsoft.com/office/drawing/2014/main" id="{4EEE3434-9DEC-431B-AD37-4C13B29FB255}"/>
              </a:ext>
            </a:extLst>
          </p:cNvPr>
          <p:cNvSpPr>
            <a:spLocks xmlns:a="http://schemas.openxmlformats.org/drawingml/2006/main" noGrp="1"/>
          </p:cNvSpPr>
          <p:nvPr/>
        </p:nvSpPr>
        <p:spPr>
          <a:xfrm xmlns:a="http://schemas.openxmlformats.org/drawingml/2006/main">
            <a:off x="9677400" y="2266950"/>
            <a:ext cx="185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Ứng dụng</a:t>
            </a:r>
          </a:p>
        </p:txBody>
      </p:sp>
      <p:sp>
        <p:nvSpPr>
          <p:cNvPr id="23" name="">
            <a:extLst xmlns:a="http://schemas.openxmlformats.org/drawingml/2006/main">
              <a:ext uri="{FF2B5EF4-FFF2-40B4-BE49-F238E27FC236}">
                <a16:creationId xmlns:a16="http://schemas.microsoft.com/office/drawing/2014/main" id="{E8C21206-35B4-437C-993F-CC73E923EFD4}"/>
              </a:ext>
            </a:extLst>
          </p:cNvPr>
          <p:cNvSpPr>
            <a:spLocks xmlns:a="http://schemas.openxmlformats.org/drawingml/2006/main" noGrp="1"/>
          </p:cNvSpPr>
          <p:nvPr/>
        </p:nvSpPr>
        <p:spPr>
          <a:xfrm xmlns:a="http://schemas.openxmlformats.org/drawingml/2006/main">
            <a:off x="9677400" y="2724150"/>
            <a:ext cx="1905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Đánh giá, insight</a:t>
            </a:r>
          </a:p>
          <a:p xmlns:a="http://schemas.openxmlformats.org/drawingml/2006/main">
            <a:pPr algn="l">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và Streamlit</a:t>
            </a:r>
          </a:p>
        </p:txBody>
      </p:sp>
      <p:sp>
        <p:nvSpPr>
          <p:cNvPr id="24" name="">
            <a:extLst xmlns:a="http://schemas.openxmlformats.org/drawingml/2006/main">
              <a:ext uri="{FF2B5EF4-FFF2-40B4-BE49-F238E27FC236}">
                <a16:creationId xmlns:a16="http://schemas.microsoft.com/office/drawing/2014/main" id="{673C9797-B44F-4229-83EA-C42272305002}"/>
              </a:ext>
            </a:extLst>
          </p:cNvPr>
          <p:cNvSpPr>
            <a:spLocks xmlns:a="http://schemas.openxmlformats.org/drawingml/2006/main" noGrp="1"/>
          </p:cNvSpPr>
          <p:nvPr/>
        </p:nvSpPr>
        <p:spPr>
          <a:xfrm xmlns:a="http://schemas.openxmlformats.org/drawingml/2006/main">
            <a:off x="9677400" y="3638550"/>
            <a:ext cx="1790700" cy="76200"/>
          </a:xfrm>
          <a:prstGeom xmlns:a="http://schemas.openxmlformats.org/drawingml/2006/main" prst="roundRect">
            <a:avLst>
              <a:gd name="adj" fmla="val 50000"/>
            </a:avLst>
          </a:prstGeom>
          <a:solidFill xmlns:a="http://schemas.openxmlformats.org/drawingml/2006/main">
            <a:srgbClr val="FF667B"/>
          </a:solidFill>
          <a:ln xmlns:a="http://schemas.openxmlformats.org/drawingml/2006/main" w="0">
            <a:noFill/>
            <a:prstDash val="solid"/>
          </a:ln>
        </p:spPr>
      </p:sp>
      <p:cxnSp>
        <p:nvCxnSpPr>
          <p:cNvPr id="58" name=""/>
          <p:cNvCxnSpPr>
            <a:stCxn xmlns:a="http://schemas.openxmlformats.org/drawingml/2006/main" id="8" idx="3"/>
            <a:endCxn xmlns:a="http://schemas.openxmlformats.org/drawingml/2006/main" id="12" idx="1"/>
          </p:cNvCxnSpPr>
          <p:nvPr/>
        </p:nvCxnSpPr>
        <p:spPr>
          <a:xfrm xmlns:a="http://schemas.openxmlformats.org/drawingml/2006/main">
            <a:off x="2400300" y="3676650"/>
            <a:ext cx="47625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cxnSp>
        <p:nvCxnSpPr>
          <p:cNvPr id="59" name=""/>
          <p:cNvCxnSpPr>
            <a:stCxn xmlns:a="http://schemas.openxmlformats.org/drawingml/2006/main" id="12" idx="3"/>
            <a:endCxn xmlns:a="http://schemas.openxmlformats.org/drawingml/2006/main" id="16" idx="1"/>
          </p:cNvCxnSpPr>
          <p:nvPr/>
        </p:nvCxnSpPr>
        <p:spPr>
          <a:xfrm xmlns:a="http://schemas.openxmlformats.org/drawingml/2006/main">
            <a:off x="4667250" y="3676650"/>
            <a:ext cx="47625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cxnSp>
        <p:nvCxnSpPr>
          <p:cNvPr id="60" name=""/>
          <p:cNvCxnSpPr>
            <a:stCxn xmlns:a="http://schemas.openxmlformats.org/drawingml/2006/main" id="16" idx="3"/>
            <a:endCxn xmlns:a="http://schemas.openxmlformats.org/drawingml/2006/main" id="20" idx="1"/>
          </p:cNvCxnSpPr>
          <p:nvPr/>
        </p:nvCxnSpPr>
        <p:spPr>
          <a:xfrm xmlns:a="http://schemas.openxmlformats.org/drawingml/2006/main">
            <a:off x="6934200" y="3676650"/>
            <a:ext cx="47625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cxnSp>
        <p:nvCxnSpPr>
          <p:cNvPr id="61" name=""/>
          <p:cNvCxnSpPr>
            <a:stCxn xmlns:a="http://schemas.openxmlformats.org/drawingml/2006/main" id="20" idx="3"/>
            <a:endCxn xmlns:a="http://schemas.openxmlformats.org/drawingml/2006/main" id="24" idx="1"/>
          </p:cNvCxnSpPr>
          <p:nvPr/>
        </p:nvCxnSpPr>
        <p:spPr>
          <a:xfrm xmlns:a="http://schemas.openxmlformats.org/drawingml/2006/main">
            <a:off x="9201150" y="3676650"/>
            <a:ext cx="47625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sp>
        <p:nvSpPr>
          <p:cNvPr id="29" name="">
            <a:extLst xmlns:a="http://schemas.openxmlformats.org/drawingml/2006/main">
              <a:ext uri="{FF2B5EF4-FFF2-40B4-BE49-F238E27FC236}">
                <a16:creationId xmlns:a16="http://schemas.microsoft.com/office/drawing/2014/main" id="{9786EFB7-D2B7-4ADA-BDB8-347F085F0E3E}"/>
              </a:ext>
            </a:extLst>
          </p:cNvPr>
          <p:cNvSpPr>
            <a:spLocks xmlns:a="http://schemas.openxmlformats.org/drawingml/2006/main" noGrp="1"/>
          </p:cNvSpPr>
          <p:nvPr/>
        </p:nvSpPr>
        <p:spPr>
          <a:xfrm xmlns:a="http://schemas.openxmlformats.org/drawingml/2006/main">
            <a:off x="609600" y="4476750"/>
            <a:ext cx="10972800" cy="1143000"/>
          </a:xfrm>
          <a:prstGeom xmlns:a="http://schemas.openxmlformats.org/drawingml/2006/main" prst="roundRect">
            <a:avLst>
              <a:gd name="adj" fmla="val 13333"/>
            </a:avLst>
          </a:prstGeom>
          <a:solidFill xmlns:a="http://schemas.openxmlformats.org/drawingml/2006/main">
            <a:srgbClr val="121A26"/>
          </a:solidFill>
          <a:ln xmlns:a="http://schemas.openxmlformats.org/drawingml/2006/main" w="9525">
            <a:solidFill>
              <a:srgbClr val="2A3B52"/>
            </a:solidFill>
            <a:prstDash val="solid"/>
          </a:ln>
        </p:spPr>
      </p:sp>
      <p:sp>
        <p:nvSpPr>
          <p:cNvPr id="30" name="">
            <a:extLst xmlns:a="http://schemas.openxmlformats.org/drawingml/2006/main">
              <a:ext uri="{FF2B5EF4-FFF2-40B4-BE49-F238E27FC236}">
                <a16:creationId xmlns:a16="http://schemas.microsoft.com/office/drawing/2014/main" id="{F312553B-51BE-4DA6-AFA5-CE35BDE8DCBD}"/>
              </a:ext>
            </a:extLst>
          </p:cNvPr>
          <p:cNvSpPr>
            <a:spLocks xmlns:a="http://schemas.openxmlformats.org/drawingml/2006/main" noGrp="1"/>
          </p:cNvSpPr>
          <p:nvPr/>
        </p:nvSpPr>
        <p:spPr>
          <a:xfrm xmlns:a="http://schemas.openxmlformats.org/drawingml/2006/main">
            <a:off x="857250" y="4714875"/>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833"/>
          </a:bodyPr>
          <a:lstStyle xmlns:a="http://schemas.openxmlformats.org/drawingml/2006/main"/>
          <a:p xmlns:a="http://schemas.openxmlformats.org/drawingml/2006/main">
            <a:pPr algn="l">
              <a:defRPr sz="1200" b="1">
                <a:solidFill>
                  <a:srgbClr val="78A7FF"/>
                </a:solidFill>
                <a:latin typeface="Helvetica Neue"/>
                <a:ea typeface="Helvetica Neue"/>
                <a:cs typeface="Helvetica Neue"/>
              </a:defRPr>
            </a:pPr>
            <a:r>
              <a:rPr sz="1200" b="1">
                <a:solidFill>
                  <a:srgbClr val="78A7FF"/>
                </a:solidFill>
                <a:latin typeface="Helvetica Neue"/>
                <a:ea typeface="Helvetica Neue"/>
                <a:cs typeface="Helvetica Neue"/>
              </a:rPr>
              <a:t>Kết quả cuối</a:t>
            </a:r>
          </a:p>
        </p:txBody>
      </p:sp>
      <p:sp>
        <p:nvSpPr>
          <p:cNvPr id="31" name="">
            <a:extLst xmlns:a="http://schemas.openxmlformats.org/drawingml/2006/main">
              <a:ext uri="{FF2B5EF4-FFF2-40B4-BE49-F238E27FC236}">
                <a16:creationId xmlns:a16="http://schemas.microsoft.com/office/drawing/2014/main" id="{96DAE4F5-B8B6-43BC-BCF0-E49DAB0F5554}"/>
              </a:ext>
            </a:extLst>
          </p:cNvPr>
          <p:cNvSpPr>
            <a:spLocks xmlns:a="http://schemas.openxmlformats.org/drawingml/2006/main" noGrp="1"/>
          </p:cNvSpPr>
          <p:nvPr/>
        </p:nvSpPr>
        <p:spPr>
          <a:xfrm xmlns:a="http://schemas.openxmlformats.org/drawingml/2006/main">
            <a:off x="857250" y="5067300"/>
            <a:ext cx="3619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026"/>
          </a:bodyPr>
          <a:lstStyle xmlns:a="http://schemas.openxmlformats.org/drawingml/2006/main"/>
          <a:p xmlns:a="http://schemas.openxmlformats.org/drawingml/2006/main">
            <a:pPr algn="l">
              <a:defRPr sz="1950" b="1">
                <a:solidFill>
                  <a:srgbClr val="45D9A0"/>
                </a:solidFill>
                <a:latin typeface="Helvetica Neue"/>
                <a:ea typeface="Helvetica Neue"/>
                <a:cs typeface="Helvetica Neue"/>
              </a:defRPr>
            </a:pPr>
            <a:r>
              <a:rPr sz="1950" b="1">
                <a:solidFill>
                  <a:srgbClr val="45D9A0"/>
                </a:solidFill>
                <a:latin typeface="Helvetica Neue"/>
                <a:ea typeface="Helvetica Neue"/>
                <a:cs typeface="Helvetica Neue"/>
              </a:rPr>
              <a:t>Logistic Regression + SMOTE</a:t>
            </a:r>
          </a:p>
        </p:txBody>
      </p:sp>
      <p:sp>
        <p:nvSpPr>
          <p:cNvPr id="32" name="">
            <a:extLst xmlns:a="http://schemas.openxmlformats.org/drawingml/2006/main">
              <a:ext uri="{FF2B5EF4-FFF2-40B4-BE49-F238E27FC236}">
                <a16:creationId xmlns:a16="http://schemas.microsoft.com/office/drawing/2014/main" id="{D8DE7B0B-5812-4197-9124-7AC5723D3144}"/>
              </a:ext>
            </a:extLst>
          </p:cNvPr>
          <p:cNvSpPr>
            <a:spLocks xmlns:a="http://schemas.openxmlformats.org/drawingml/2006/main" noGrp="1"/>
          </p:cNvSpPr>
          <p:nvPr/>
        </p:nvSpPr>
        <p:spPr>
          <a:xfrm xmlns:a="http://schemas.openxmlformats.org/drawingml/2006/main">
            <a:off x="4762500" y="5067300"/>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667"/>
          </a:bodyPr>
          <a:lstStyle xmlns:a="http://schemas.openxmlformats.org/drawingml/2006/main"/>
          <a:p xmlns:a="http://schemas.openxmlformats.org/drawingml/2006/main">
            <a:pPr algn="l">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Final Test: Macro F1 0,5714</a:t>
            </a:r>
          </a:p>
        </p:txBody>
      </p:sp>
      <p:sp>
        <p:nvSpPr>
          <p:cNvPr id="33" name="">
            <a:extLst xmlns:a="http://schemas.openxmlformats.org/drawingml/2006/main">
              <a:ext uri="{FF2B5EF4-FFF2-40B4-BE49-F238E27FC236}">
                <a16:creationId xmlns:a16="http://schemas.microsoft.com/office/drawing/2014/main" id="{ACC6F12F-FC6E-4A03-A354-44AD96E7058F}"/>
              </a:ext>
            </a:extLst>
          </p:cNvPr>
          <p:cNvSpPr>
            <a:spLocks xmlns:a="http://schemas.openxmlformats.org/drawingml/2006/main" noGrp="1"/>
          </p:cNvSpPr>
          <p:nvPr/>
        </p:nvSpPr>
        <p:spPr>
          <a:xfrm xmlns:a="http://schemas.openxmlformats.org/drawingml/2006/main">
            <a:off x="8048625" y="5067300"/>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3450"/>
          </a:bodyPr>
          <a:lstStyle xmlns:a="http://schemas.openxmlformats.org/drawingml/2006/main"/>
          <a:p xmlns:a="http://schemas.openxmlformats.org/drawingml/2006/main">
            <a:pPr algn="l">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Web demo dự đoán theo thời gian thực</a:t>
            </a:r>
          </a:p>
        </p:txBody>
      </p:sp>
    </p:spTree>
    <p:extLst>
      <p:ext uri="{BB962C8B-B14F-4D97-AF65-F5344CB8AC3E}">
        <p14:creationId xmlns:p14="http://schemas.microsoft.com/office/powerpoint/2010/main" val="1751698290"/>
      </p:ext>
    </p:extLst>
  </p:cSld>
</p:sld>
</file>

<file path=ppt/slides/slide4.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FAB5AAD9-9882-4F64-915D-17535A772D92}"/>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03 · TIỀN XỬ LÝ</a:t>
            </a:r>
          </a:p>
        </p:txBody>
      </p:sp>
      <p:sp>
        <p:nvSpPr>
          <p:cNvPr id="2" name="">
            <a:extLst xmlns:a="http://schemas.openxmlformats.org/drawingml/2006/main">
              <a:ext uri="{FF2B5EF4-FFF2-40B4-BE49-F238E27FC236}">
                <a16:creationId xmlns:a16="http://schemas.microsoft.com/office/drawing/2014/main" id="{34203F13-7403-4363-915A-8DD7CD41F4DA}"/>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Làm sạch văn bản tiếng Việt theo hai tầng</a:t>
            </a:r>
          </a:p>
        </p:txBody>
      </p:sp>
      <p:sp>
        <p:nvSpPr>
          <p:cNvPr id="3" name="">
            <a:extLst xmlns:a="http://schemas.openxmlformats.org/drawingml/2006/main">
              <a:ext uri="{FF2B5EF4-FFF2-40B4-BE49-F238E27FC236}">
                <a16:creationId xmlns:a16="http://schemas.microsoft.com/office/drawing/2014/main" id="{9295BC80-DED8-4243-8CE7-9563E56F4542}"/>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71EBCAA-3444-426B-AE47-439D60377548}"/>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04 / 15</a:t>
            </a:r>
          </a:p>
        </p:txBody>
      </p:sp>
      <p:sp>
        <p:nvSpPr>
          <p:cNvPr id="5" name="">
            <a:extLst xmlns:a="http://schemas.openxmlformats.org/drawingml/2006/main">
              <a:ext uri="{FF2B5EF4-FFF2-40B4-BE49-F238E27FC236}">
                <a16:creationId xmlns:a16="http://schemas.microsoft.com/office/drawing/2014/main" id="{3EC9DEBC-7606-43BC-BD73-FC4CEAFF7A01}"/>
              </a:ext>
            </a:extLst>
          </p:cNvPr>
          <p:cNvSpPr>
            <a:spLocks xmlns:a="http://schemas.openxmlformats.org/drawingml/2006/main" noGrp="1"/>
          </p:cNvSpPr>
          <p:nvPr/>
        </p:nvSpPr>
        <p:spPr>
          <a:xfrm xmlns:a="http://schemas.openxmlformats.org/drawingml/2006/main">
            <a:off x="666750" y="1819275"/>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85FAAAC-2734-4E08-8D4F-2DB173D5A11B}"/>
              </a:ext>
            </a:extLst>
          </p:cNvPr>
          <p:cNvSpPr>
            <a:spLocks xmlns:a="http://schemas.openxmlformats.org/drawingml/2006/main" noGrp="1"/>
          </p:cNvSpPr>
          <p:nvPr/>
        </p:nvSpPr>
        <p:spPr>
          <a:xfrm xmlns:a="http://schemas.openxmlformats.org/drawingml/2006/main">
            <a:off x="857250" y="1752600"/>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defRPr sz="1725" b="1">
                <a:solidFill>
                  <a:srgbClr val="F4F7FB"/>
                </a:solidFill>
                <a:latin typeface="Helvetica Neue"/>
                <a:ea typeface="Helvetica Neue"/>
                <a:cs typeface="Helvetica Neue"/>
              </a:defRPr>
            </a:pPr>
            <a:r>
              <a:rPr sz="1725" b="1">
                <a:solidFill>
                  <a:srgbClr val="F4F7FB"/>
                </a:solidFill>
                <a:latin typeface="Helvetica Neue"/>
                <a:ea typeface="Helvetica Neue"/>
                <a:cs typeface="Helvetica Neue"/>
              </a:rPr>
              <a:t>Chuẩn hóa cơ bản</a:t>
            </a:r>
          </a:p>
        </p:txBody>
      </p:sp>
      <p:sp>
        <p:nvSpPr>
          <p:cNvPr id="7" name="">
            <a:extLst xmlns:a="http://schemas.openxmlformats.org/drawingml/2006/main">
              <a:ext uri="{FF2B5EF4-FFF2-40B4-BE49-F238E27FC236}">
                <a16:creationId xmlns:a16="http://schemas.microsoft.com/office/drawing/2014/main" id="{3BA83F2F-F270-44A1-AAFD-96C663221B0D}"/>
              </a:ext>
            </a:extLst>
          </p:cNvPr>
          <p:cNvSpPr>
            <a:spLocks xmlns:a="http://schemas.openxmlformats.org/drawingml/2006/main" noGrp="1"/>
          </p:cNvSpPr>
          <p:nvPr/>
        </p:nvSpPr>
        <p:spPr>
          <a:xfrm xmlns:a="http://schemas.openxmlformats.org/drawingml/2006/main">
            <a:off x="857250" y="203835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Unicode NFC, URL, email và chữ thường.</a:t>
            </a:r>
          </a:p>
        </p:txBody>
      </p:sp>
      <p:sp>
        <p:nvSpPr>
          <p:cNvPr id="8" name="">
            <a:extLst xmlns:a="http://schemas.openxmlformats.org/drawingml/2006/main">
              <a:ext uri="{FF2B5EF4-FFF2-40B4-BE49-F238E27FC236}">
                <a16:creationId xmlns:a16="http://schemas.microsoft.com/office/drawing/2014/main" id="{10BC76EE-0863-4897-BD29-4CA698387204}"/>
              </a:ext>
            </a:extLst>
          </p:cNvPr>
          <p:cNvSpPr>
            <a:spLocks xmlns:a="http://schemas.openxmlformats.org/drawingml/2006/main" noGrp="1"/>
          </p:cNvSpPr>
          <p:nvPr/>
        </p:nvSpPr>
        <p:spPr>
          <a:xfrm xmlns:a="http://schemas.openxmlformats.org/drawingml/2006/main">
            <a:off x="666750" y="2771775"/>
            <a:ext cx="57150" cy="3048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0038207-F784-45C0-A53D-BD73E471B059}"/>
              </a:ext>
            </a:extLst>
          </p:cNvPr>
          <p:cNvSpPr>
            <a:spLocks xmlns:a="http://schemas.openxmlformats.org/drawingml/2006/main" noGrp="1"/>
          </p:cNvSpPr>
          <p:nvPr/>
        </p:nvSpPr>
        <p:spPr>
          <a:xfrm xmlns:a="http://schemas.openxmlformats.org/drawingml/2006/main">
            <a:off x="857250" y="2705100"/>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defRPr sz="1725" b="1">
                <a:solidFill>
                  <a:srgbClr val="F4F7FB"/>
                </a:solidFill>
                <a:latin typeface="Helvetica Neue"/>
                <a:ea typeface="Helvetica Neue"/>
                <a:cs typeface="Helvetica Neue"/>
              </a:defRPr>
            </a:pPr>
            <a:r>
              <a:rPr sz="1725" b="1">
                <a:solidFill>
                  <a:srgbClr val="F4F7FB"/>
                </a:solidFill>
                <a:latin typeface="Helvetica Neue"/>
                <a:ea typeface="Helvetica Neue"/>
                <a:cs typeface="Helvetica Neue"/>
              </a:rPr>
              <a:t>Chuẩn hóa tín hiệu</a:t>
            </a:r>
          </a:p>
        </p:txBody>
      </p:sp>
      <p:sp>
        <p:nvSpPr>
          <p:cNvPr id="10" name="">
            <a:extLst xmlns:a="http://schemas.openxmlformats.org/drawingml/2006/main">
              <a:ext uri="{FF2B5EF4-FFF2-40B4-BE49-F238E27FC236}">
                <a16:creationId xmlns:a16="http://schemas.microsoft.com/office/drawing/2014/main" id="{C6E92361-A0E1-4297-A337-3FEAA9238CCB}"/>
              </a:ext>
            </a:extLst>
          </p:cNvPr>
          <p:cNvSpPr>
            <a:spLocks xmlns:a="http://schemas.openxmlformats.org/drawingml/2006/main" noGrp="1"/>
          </p:cNvSpPr>
          <p:nvPr/>
        </p:nvSpPr>
        <p:spPr>
          <a:xfrm xmlns:a="http://schemas.openxmlformats.org/drawingml/2006/main">
            <a:off x="857250" y="299085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Emoji, emojicon, teencode và thuật ngữ IT.</a:t>
            </a:r>
          </a:p>
        </p:txBody>
      </p:sp>
      <p:sp>
        <p:nvSpPr>
          <p:cNvPr id="11" name="">
            <a:extLst xmlns:a="http://schemas.openxmlformats.org/drawingml/2006/main">
              <a:ext uri="{FF2B5EF4-FFF2-40B4-BE49-F238E27FC236}">
                <a16:creationId xmlns:a16="http://schemas.microsoft.com/office/drawing/2014/main" id="{1C556FBB-37DA-41DA-AFFD-085449D355EF}"/>
              </a:ext>
            </a:extLst>
          </p:cNvPr>
          <p:cNvSpPr>
            <a:spLocks xmlns:a="http://schemas.openxmlformats.org/drawingml/2006/main" noGrp="1"/>
          </p:cNvSpPr>
          <p:nvPr/>
        </p:nvSpPr>
        <p:spPr>
          <a:xfrm xmlns:a="http://schemas.openxmlformats.org/drawingml/2006/main">
            <a:off x="666750" y="3724275"/>
            <a:ext cx="57150" cy="3048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23CA30F-9F70-4FCA-89EB-D50480DAB584}"/>
              </a:ext>
            </a:extLst>
          </p:cNvPr>
          <p:cNvSpPr>
            <a:spLocks xmlns:a="http://schemas.openxmlformats.org/drawingml/2006/main" noGrp="1"/>
          </p:cNvSpPr>
          <p:nvPr/>
        </p:nvSpPr>
        <p:spPr>
          <a:xfrm xmlns:a="http://schemas.openxmlformats.org/drawingml/2006/main">
            <a:off x="857250" y="3657600"/>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defRPr sz="1725" b="1">
                <a:solidFill>
                  <a:srgbClr val="F4F7FB"/>
                </a:solidFill>
                <a:latin typeface="Helvetica Neue"/>
                <a:ea typeface="Helvetica Neue"/>
                <a:cs typeface="Helvetica Neue"/>
              </a:defRPr>
            </a:pPr>
            <a:r>
              <a:rPr sz="1725" b="1">
                <a:solidFill>
                  <a:srgbClr val="F4F7FB"/>
                </a:solidFill>
                <a:latin typeface="Helvetica Neue"/>
                <a:ea typeface="Helvetica Neue"/>
                <a:cs typeface="Helvetica Neue"/>
              </a:rPr>
              <a:t>Tách từ</a:t>
            </a:r>
          </a:p>
        </p:txBody>
      </p:sp>
      <p:sp>
        <p:nvSpPr>
          <p:cNvPr id="13" name="">
            <a:extLst xmlns:a="http://schemas.openxmlformats.org/drawingml/2006/main">
              <a:ext uri="{FF2B5EF4-FFF2-40B4-BE49-F238E27FC236}">
                <a16:creationId xmlns:a16="http://schemas.microsoft.com/office/drawing/2014/main" id="{AC684033-F02F-4D2C-865D-3094590AB0E2}"/>
              </a:ext>
            </a:extLst>
          </p:cNvPr>
          <p:cNvSpPr>
            <a:spLocks xmlns:a="http://schemas.openxmlformats.org/drawingml/2006/main" noGrp="1"/>
          </p:cNvSpPr>
          <p:nvPr/>
        </p:nvSpPr>
        <p:spPr>
          <a:xfrm xmlns:a="http://schemas.openxmlformats.org/drawingml/2006/main">
            <a:off x="857250" y="394335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Ưu tiên underthesea, dùng pyvi khi cần fallback.</a:t>
            </a:r>
          </a:p>
        </p:txBody>
      </p:sp>
      <p:sp>
        <p:nvSpPr>
          <p:cNvPr id="14" name="">
            <a:extLst xmlns:a="http://schemas.openxmlformats.org/drawingml/2006/main">
              <a:ext uri="{FF2B5EF4-FFF2-40B4-BE49-F238E27FC236}">
                <a16:creationId xmlns:a16="http://schemas.microsoft.com/office/drawing/2014/main" id="{8C0D534B-8CF4-465A-89D8-341F7981A5DD}"/>
              </a:ext>
            </a:extLst>
          </p:cNvPr>
          <p:cNvSpPr>
            <a:spLocks xmlns:a="http://schemas.openxmlformats.org/drawingml/2006/main" noGrp="1"/>
          </p:cNvSpPr>
          <p:nvPr/>
        </p:nvSpPr>
        <p:spPr>
          <a:xfrm xmlns:a="http://schemas.openxmlformats.org/drawingml/2006/main">
            <a:off x="666750" y="4676775"/>
            <a:ext cx="57150" cy="304800"/>
          </a:xfrm>
          <a:prstGeom xmlns:a="http://schemas.openxmlformats.org/drawingml/2006/main" prst="roundRect">
            <a:avLst>
              <a:gd name="adj" fmla="val 50000"/>
            </a:avLst>
          </a:prstGeom>
          <a:solidFill xmlns:a="http://schemas.openxmlformats.org/drawingml/2006/main">
            <a:srgbClr val="FF667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9A99B5A-58F3-4391-9242-376B0C2988BA}"/>
              </a:ext>
            </a:extLst>
          </p:cNvPr>
          <p:cNvSpPr>
            <a:spLocks xmlns:a="http://schemas.openxmlformats.org/drawingml/2006/main" noGrp="1"/>
          </p:cNvSpPr>
          <p:nvPr/>
        </p:nvSpPr>
        <p:spPr>
          <a:xfrm xmlns:a="http://schemas.openxmlformats.org/drawingml/2006/main">
            <a:off x="857250" y="4610100"/>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defRPr sz="1725" b="1">
                <a:solidFill>
                  <a:srgbClr val="F4F7FB"/>
                </a:solidFill>
                <a:latin typeface="Helvetica Neue"/>
                <a:ea typeface="Helvetica Neue"/>
                <a:cs typeface="Helvetica Neue"/>
              </a:defRPr>
            </a:pPr>
            <a:r>
              <a:rPr sz="1725" b="1">
                <a:solidFill>
                  <a:srgbClr val="F4F7FB"/>
                </a:solidFill>
                <a:latin typeface="Helvetica Neue"/>
                <a:ea typeface="Helvetica Neue"/>
                <a:cs typeface="Helvetica Neue"/>
              </a:rPr>
              <a:t>Lọc từ dừng</a:t>
            </a:r>
          </a:p>
        </p:txBody>
      </p:sp>
      <p:sp>
        <p:nvSpPr>
          <p:cNvPr id="16" name="">
            <a:extLst xmlns:a="http://schemas.openxmlformats.org/drawingml/2006/main">
              <a:ext uri="{FF2B5EF4-FFF2-40B4-BE49-F238E27FC236}">
                <a16:creationId xmlns:a16="http://schemas.microsoft.com/office/drawing/2014/main" id="{38C506EE-0C2A-43D8-ADAA-79024F0D0F07}"/>
              </a:ext>
            </a:extLst>
          </p:cNvPr>
          <p:cNvSpPr>
            <a:spLocks xmlns:a="http://schemas.openxmlformats.org/drawingml/2006/main" noGrp="1"/>
          </p:cNvSpPr>
          <p:nvPr/>
        </p:nvSpPr>
        <p:spPr>
          <a:xfrm xmlns:a="http://schemas.openxmlformats.org/drawingml/2006/main">
            <a:off x="857250" y="489585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Giữ các từ phủ định có ảnh hưởng đến sắc thái.</a:t>
            </a:r>
          </a:p>
        </p:txBody>
      </p:sp>
      <p:sp>
        <p:nvSpPr>
          <p:cNvPr id="17" name="">
            <a:extLst xmlns:a="http://schemas.openxmlformats.org/drawingml/2006/main">
              <a:ext uri="{FF2B5EF4-FFF2-40B4-BE49-F238E27FC236}">
                <a16:creationId xmlns:a16="http://schemas.microsoft.com/office/drawing/2014/main" id="{1569691C-0782-4729-81DA-08D16FA4BD9A}"/>
              </a:ext>
            </a:extLst>
          </p:cNvPr>
          <p:cNvSpPr>
            <a:spLocks xmlns:a="http://schemas.openxmlformats.org/drawingml/2006/main" noGrp="1"/>
          </p:cNvSpPr>
          <p:nvPr/>
        </p:nvSpPr>
        <p:spPr>
          <a:xfrm xmlns:a="http://schemas.openxmlformats.org/drawingml/2006/main">
            <a:off x="5715000" y="1666875"/>
            <a:ext cx="5524500" cy="3714750"/>
          </a:xfrm>
          <a:prstGeom xmlns:a="http://schemas.openxmlformats.org/drawingml/2006/main" prst="roundRect">
            <a:avLst>
              <a:gd name="adj" fmla="val 4615"/>
            </a:avLst>
          </a:prstGeom>
          <a:solidFill xmlns:a="http://schemas.openxmlformats.org/drawingml/2006/main">
            <a:srgbClr val="121A26"/>
          </a:solidFill>
          <a:ln xmlns:a="http://schemas.openxmlformats.org/drawingml/2006/main" w="9525">
            <a:solidFill>
              <a:srgbClr val="2A3B52"/>
            </a:solidFill>
            <a:prstDash val="solid"/>
          </a:ln>
        </p:spPr>
      </p:sp>
      <p:sp>
        <p:nvSpPr>
          <p:cNvPr id="18" name="">
            <a:extLst xmlns:a="http://schemas.openxmlformats.org/drawingml/2006/main">
              <a:ext uri="{FF2B5EF4-FFF2-40B4-BE49-F238E27FC236}">
                <a16:creationId xmlns:a16="http://schemas.microsoft.com/office/drawing/2014/main" id="{F532047D-EA1D-4FB7-9FBA-C948EDC22EAE}"/>
              </a:ext>
            </a:extLst>
          </p:cNvPr>
          <p:cNvSpPr>
            <a:spLocks xmlns:a="http://schemas.openxmlformats.org/drawingml/2006/main" noGrp="1"/>
          </p:cNvSpPr>
          <p:nvPr/>
        </p:nvSpPr>
        <p:spPr>
          <a:xfrm xmlns:a="http://schemas.openxmlformats.org/drawingml/2006/main">
            <a:off x="6000750" y="1952625"/>
            <a:ext cx="190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defRPr sz="1050" b="1">
                <a:solidFill>
                  <a:srgbClr val="FF667B"/>
                </a:solidFill>
                <a:latin typeface="Helvetica Neue"/>
                <a:ea typeface="Helvetica Neue"/>
                <a:cs typeface="Helvetica Neue"/>
              </a:defRPr>
            </a:pPr>
            <a:r>
              <a:rPr sz="1050" b="1">
                <a:solidFill>
                  <a:srgbClr val="FF667B"/>
                </a:solidFill>
                <a:latin typeface="Helvetica Neue"/>
                <a:ea typeface="Helvetica Neue"/>
                <a:cs typeface="Helvetica Neue"/>
              </a:rPr>
              <a:t>REVIEW GỐC</a:t>
            </a:r>
          </a:p>
        </p:txBody>
      </p:sp>
      <p:sp>
        <p:nvSpPr>
          <p:cNvPr id="19" name="">
            <a:extLst xmlns:a="http://schemas.openxmlformats.org/drawingml/2006/main">
              <a:ext uri="{FF2B5EF4-FFF2-40B4-BE49-F238E27FC236}">
                <a16:creationId xmlns:a16="http://schemas.microsoft.com/office/drawing/2014/main" id="{7105B755-6A38-48CE-9738-78725D741D05}"/>
              </a:ext>
            </a:extLst>
          </p:cNvPr>
          <p:cNvSpPr>
            <a:spLocks xmlns:a="http://schemas.openxmlformats.org/drawingml/2006/main" noGrp="1"/>
          </p:cNvSpPr>
          <p:nvPr/>
        </p:nvSpPr>
        <p:spPr>
          <a:xfrm xmlns:a="http://schemas.openxmlformats.org/drawingml/2006/main">
            <a:off x="6000750" y="2324100"/>
            <a:ext cx="48101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725" b="0">
                <a:solidFill>
                  <a:srgbClr val="F4F7FB"/>
                </a:solidFill>
                <a:latin typeface="Helvetica Neue"/>
                <a:ea typeface="Helvetica Neue"/>
                <a:cs typeface="Helvetica Neue"/>
              </a:defRPr>
            </a:pPr>
            <a:r>
              <a:rPr sz="1725" b="0">
                <a:solidFill>
                  <a:srgbClr val="F4F7FB"/>
                </a:solidFill>
                <a:latin typeface="Helvetica Neue"/>
                <a:ea typeface="Helvetica Neue"/>
                <a:cs typeface="Helvetica Neue"/>
              </a:rPr>
              <a:t>Lương thấp, quản lý thiếu minh bạch và thường xuyên phải OT không lương.</a:t>
            </a:r>
          </a:p>
        </p:txBody>
      </p:sp>
      <p:sp>
        <p:nvSpPr>
          <p:cNvPr id="20" name="">
            <a:extLst xmlns:a="http://schemas.openxmlformats.org/drawingml/2006/main">
              <a:ext uri="{FF2B5EF4-FFF2-40B4-BE49-F238E27FC236}">
                <a16:creationId xmlns:a16="http://schemas.microsoft.com/office/drawing/2014/main" id="{9110E748-4790-435E-978E-5CDFA9A722C2}"/>
              </a:ext>
            </a:extLst>
          </p:cNvPr>
          <p:cNvSpPr>
            <a:spLocks xmlns:a="http://schemas.openxmlformats.org/drawingml/2006/main" noGrp="1"/>
          </p:cNvSpPr>
          <p:nvPr/>
        </p:nvSpPr>
        <p:spPr>
          <a:xfrm xmlns:a="http://schemas.openxmlformats.org/drawingml/2006/main">
            <a:off x="6000750" y="3371850"/>
            <a:ext cx="4810125"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C277FD2-B9CE-4C74-926A-E441A827FE19}"/>
              </a:ext>
            </a:extLst>
          </p:cNvPr>
          <p:cNvSpPr>
            <a:spLocks xmlns:a="http://schemas.openxmlformats.org/drawingml/2006/main" noGrp="1"/>
          </p:cNvSpPr>
          <p:nvPr/>
        </p:nvSpPr>
        <p:spPr>
          <a:xfrm xmlns:a="http://schemas.openxmlformats.org/drawingml/2006/main">
            <a:off x="6000750" y="3638550"/>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defRPr sz="1050" b="1">
                <a:solidFill>
                  <a:srgbClr val="45D9A0"/>
                </a:solidFill>
                <a:latin typeface="Helvetica Neue"/>
                <a:ea typeface="Helvetica Neue"/>
                <a:cs typeface="Helvetica Neue"/>
              </a:defRPr>
            </a:pPr>
            <a:r>
              <a:rPr sz="1050" b="1">
                <a:solidFill>
                  <a:srgbClr val="45D9A0"/>
                </a:solidFill>
                <a:latin typeface="Helvetica Neue"/>
                <a:ea typeface="Helvetica Neue"/>
                <a:cs typeface="Helvetica Neue"/>
              </a:rPr>
              <a:t>SAU TIỀN XỬ LÝ</a:t>
            </a:r>
          </a:p>
        </p:txBody>
      </p:sp>
      <p:sp>
        <p:nvSpPr>
          <p:cNvPr id="22" name="">
            <a:extLst xmlns:a="http://schemas.openxmlformats.org/drawingml/2006/main">
              <a:ext uri="{FF2B5EF4-FFF2-40B4-BE49-F238E27FC236}">
                <a16:creationId xmlns:a16="http://schemas.microsoft.com/office/drawing/2014/main" id="{D1D7F89F-CCC3-46A9-A243-98B118AC7748}"/>
              </a:ext>
            </a:extLst>
          </p:cNvPr>
          <p:cNvSpPr>
            <a:spLocks xmlns:a="http://schemas.openxmlformats.org/drawingml/2006/main" noGrp="1"/>
          </p:cNvSpPr>
          <p:nvPr/>
        </p:nvSpPr>
        <p:spPr>
          <a:xfrm xmlns:a="http://schemas.openxmlformats.org/drawingml/2006/main">
            <a:off x="6000750" y="4019550"/>
            <a:ext cx="48101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725" b="1">
                <a:solidFill>
                  <a:srgbClr val="45D9A0"/>
                </a:solidFill>
                <a:latin typeface="Helvetica Neue"/>
                <a:ea typeface="Helvetica Neue"/>
                <a:cs typeface="Helvetica Neue"/>
              </a:defRPr>
            </a:pPr>
            <a:r>
              <a:rPr sz="1725" b="1">
                <a:solidFill>
                  <a:srgbClr val="45D9A0"/>
                </a:solidFill>
                <a:latin typeface="Helvetica Neue"/>
                <a:ea typeface="Helvetica Neue"/>
                <a:cs typeface="Helvetica Neue"/>
              </a:rPr>
              <a:t>lương quản lý minh bạch xuyên không lương</a:t>
            </a:r>
          </a:p>
        </p:txBody>
      </p:sp>
      <p:sp>
        <p:nvSpPr>
          <p:cNvPr id="23" name="">
            <a:extLst xmlns:a="http://schemas.openxmlformats.org/drawingml/2006/main">
              <a:ext uri="{FF2B5EF4-FFF2-40B4-BE49-F238E27FC236}">
                <a16:creationId xmlns:a16="http://schemas.microsoft.com/office/drawing/2014/main" id="{5AD4EDFE-3741-4BD4-AB60-CB4FCD8335DC}"/>
              </a:ext>
            </a:extLst>
          </p:cNvPr>
          <p:cNvSpPr>
            <a:spLocks xmlns:a="http://schemas.openxmlformats.org/drawingml/2006/main" noGrp="1"/>
          </p:cNvSpPr>
          <p:nvPr/>
        </p:nvSpPr>
        <p:spPr>
          <a:xfrm xmlns:a="http://schemas.openxmlformats.org/drawingml/2006/main">
            <a:off x="6000750" y="4905375"/>
            <a:ext cx="4810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5000"/>
          </a:bodyPr>
          <a:lstStyle xmlns:a="http://schemas.openxmlformats.org/drawingml/2006/main"/>
          <a:p xmlns:a="http://schemas.openxmlformats.org/drawingml/2006/main">
            <a:pPr algn="l">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Ví dụ được kiểm chứng bằng đúng pipeline triển khai hiện tại.</a:t>
            </a:r>
          </a:p>
        </p:txBody>
      </p:sp>
      <p:sp>
        <p:nvSpPr>
          <p:cNvPr id="24" name="">
            <a:extLst xmlns:a="http://schemas.openxmlformats.org/drawingml/2006/main">
              <a:ext uri="{FF2B5EF4-FFF2-40B4-BE49-F238E27FC236}">
                <a16:creationId xmlns:a16="http://schemas.microsoft.com/office/drawing/2014/main" id="{CAAF7C12-EBC6-4CD8-9A5A-4DA4D8414F3E}"/>
              </a:ext>
            </a:extLst>
          </p:cNvPr>
          <p:cNvSpPr>
            <a:spLocks xmlns:a="http://schemas.openxmlformats.org/drawingml/2006/main" noGrp="1"/>
          </p:cNvSpPr>
          <p:nvPr/>
        </p:nvSpPr>
        <p:spPr>
          <a:xfrm xmlns:a="http://schemas.openxmlformats.org/drawingml/2006/main">
            <a:off x="666750" y="5905500"/>
            <a:ext cx="10382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Đầu ra clean_basic_text giữ cấu trúc tự nhiên. clean_advance_text phục vụ các mô hình ML.</a:t>
            </a:r>
          </a:p>
        </p:txBody>
      </p:sp>
    </p:spTree>
    <p:extLst>
      <p:ext uri="{BB962C8B-B14F-4D97-AF65-F5344CB8AC3E}">
        <p14:creationId xmlns:p14="http://schemas.microsoft.com/office/powerpoint/2010/main" val="332985770"/>
      </p:ext>
    </p:extLst>
  </p:cSld>
</p:sld>
</file>

<file path=ppt/slides/slide5.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01346FB-9883-4B84-9B52-E79A6B2C27BB}"/>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04 · EDA</a:t>
            </a:r>
          </a:p>
        </p:txBody>
      </p:sp>
      <p:sp>
        <p:nvSpPr>
          <p:cNvPr id="2" name="">
            <a:extLst xmlns:a="http://schemas.openxmlformats.org/drawingml/2006/main">
              <a:ext uri="{FF2B5EF4-FFF2-40B4-BE49-F238E27FC236}">
                <a16:creationId xmlns:a16="http://schemas.microsoft.com/office/drawing/2014/main" id="{33878350-1E79-415E-B6DF-F3CB2EC54B40}"/>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Quản lý và lương liên hệ mạnh nhất với rating</a:t>
            </a:r>
          </a:p>
        </p:txBody>
      </p:sp>
      <p:sp>
        <p:nvSpPr>
          <p:cNvPr id="3" name="">
            <a:extLst xmlns:a="http://schemas.openxmlformats.org/drawingml/2006/main">
              <a:ext uri="{FF2B5EF4-FFF2-40B4-BE49-F238E27FC236}">
                <a16:creationId xmlns:a16="http://schemas.microsoft.com/office/drawing/2014/main" id="{30696153-3FF8-4361-9C51-72CC3478D7E2}"/>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39ECD4F-2F1F-4A0D-B791-34670FBE7BA7}"/>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05 / 15</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24c4fc687c6a45b2"/>
          <a:stretch xmlns:a="http://schemas.openxmlformats.org/drawingml/2006/main"/>
        </p:blipFill>
        <p:spPr>
          <a:xfrm xmlns:a="http://schemas.openxmlformats.org/drawingml/2006/main">
            <a:off x="1405805" y="1619250"/>
            <a:ext cx="4979840" cy="43338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A2F7041F-4DC4-41C0-AB5E-7705729BE32C}"/>
              </a:ext>
            </a:extLst>
          </p:cNvPr>
          <p:cNvSpPr>
            <a:spLocks xmlns:a="http://schemas.openxmlformats.org/drawingml/2006/main" noGrp="1"/>
          </p:cNvSpPr>
          <p:nvPr/>
        </p:nvSpPr>
        <p:spPr>
          <a:xfrm xmlns:a="http://schemas.openxmlformats.org/drawingml/2006/main">
            <a:off x="7810500" y="179070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defRPr sz="975" b="1">
                <a:solidFill>
                  <a:srgbClr val="45D9A0"/>
                </a:solidFill>
                <a:latin typeface="Helvetica Neue"/>
                <a:ea typeface="Helvetica Neue"/>
                <a:cs typeface="Helvetica Neue"/>
              </a:defRPr>
            </a:pPr>
            <a:r>
              <a:rPr sz="975" b="1">
                <a:solidFill>
                  <a:srgbClr val="45D9A0"/>
                </a:solidFill>
                <a:latin typeface="Helvetica Neue"/>
                <a:ea typeface="Helvetica Neue"/>
                <a:cs typeface="Helvetica Neue"/>
              </a:rPr>
              <a:t>MANAGEMENT VS RATING</a:t>
            </a:r>
          </a:p>
        </p:txBody>
      </p:sp>
      <p:sp>
        <p:nvSpPr>
          <p:cNvPr id="7" name="">
            <a:extLst xmlns:a="http://schemas.openxmlformats.org/drawingml/2006/main">
              <a:ext uri="{FF2B5EF4-FFF2-40B4-BE49-F238E27FC236}">
                <a16:creationId xmlns:a16="http://schemas.microsoft.com/office/drawing/2014/main" id="{C3C7E627-7A9E-4B74-A067-2326AA9A11CA}"/>
              </a:ext>
            </a:extLst>
          </p:cNvPr>
          <p:cNvSpPr>
            <a:spLocks xmlns:a="http://schemas.openxmlformats.org/drawingml/2006/main" noGrp="1"/>
          </p:cNvSpPr>
          <p:nvPr/>
        </p:nvSpPr>
        <p:spPr>
          <a:xfrm xmlns:a="http://schemas.openxmlformats.org/drawingml/2006/main">
            <a:off x="7810500" y="2057400"/>
            <a:ext cx="304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0,7368</a:t>
            </a:r>
          </a:p>
        </p:txBody>
      </p:sp>
      <p:sp>
        <p:nvSpPr>
          <p:cNvPr id="8" name="">
            <a:extLst xmlns:a="http://schemas.openxmlformats.org/drawingml/2006/main">
              <a:ext uri="{FF2B5EF4-FFF2-40B4-BE49-F238E27FC236}">
                <a16:creationId xmlns:a16="http://schemas.microsoft.com/office/drawing/2014/main" id="{B68D05DA-E07F-431A-B6F1-05E0A53E7085}"/>
              </a:ext>
            </a:extLst>
          </p:cNvPr>
          <p:cNvSpPr>
            <a:spLocks xmlns:a="http://schemas.openxmlformats.org/drawingml/2006/main" noGrp="1"/>
          </p:cNvSpPr>
          <p:nvPr/>
        </p:nvSpPr>
        <p:spPr>
          <a:xfrm xmlns:a="http://schemas.openxmlformats.org/drawingml/2006/main">
            <a:off x="7810500" y="278130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defRPr sz="975" b="1">
                <a:solidFill>
                  <a:srgbClr val="78A7FF"/>
                </a:solidFill>
                <a:latin typeface="Helvetica Neue"/>
                <a:ea typeface="Helvetica Neue"/>
                <a:cs typeface="Helvetica Neue"/>
              </a:defRPr>
            </a:pPr>
            <a:r>
              <a:rPr sz="975" b="1">
                <a:solidFill>
                  <a:srgbClr val="78A7FF"/>
                </a:solidFill>
                <a:latin typeface="Helvetica Neue"/>
                <a:ea typeface="Helvetica Neue"/>
                <a:cs typeface="Helvetica Neue"/>
              </a:rPr>
              <a:t>SALARY VS RATING</a:t>
            </a:r>
          </a:p>
        </p:txBody>
      </p:sp>
      <p:sp>
        <p:nvSpPr>
          <p:cNvPr id="9" name="">
            <a:extLst xmlns:a="http://schemas.openxmlformats.org/drawingml/2006/main">
              <a:ext uri="{FF2B5EF4-FFF2-40B4-BE49-F238E27FC236}">
                <a16:creationId xmlns:a16="http://schemas.microsoft.com/office/drawing/2014/main" id="{37214B89-FDBB-45BD-821A-5B592B9454FD}"/>
              </a:ext>
            </a:extLst>
          </p:cNvPr>
          <p:cNvSpPr>
            <a:spLocks xmlns:a="http://schemas.openxmlformats.org/drawingml/2006/main" noGrp="1"/>
          </p:cNvSpPr>
          <p:nvPr/>
        </p:nvSpPr>
        <p:spPr>
          <a:xfrm xmlns:a="http://schemas.openxmlformats.org/drawingml/2006/main">
            <a:off x="7810500" y="3048000"/>
            <a:ext cx="304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0,7343</a:t>
            </a:r>
          </a:p>
        </p:txBody>
      </p:sp>
      <p:sp>
        <p:nvSpPr>
          <p:cNvPr id="10" name="">
            <a:extLst xmlns:a="http://schemas.openxmlformats.org/drawingml/2006/main">
              <a:ext uri="{FF2B5EF4-FFF2-40B4-BE49-F238E27FC236}">
                <a16:creationId xmlns:a16="http://schemas.microsoft.com/office/drawing/2014/main" id="{94C804C6-3018-4620-AFE7-7233228ABAF2}"/>
              </a:ext>
            </a:extLst>
          </p:cNvPr>
          <p:cNvSpPr>
            <a:spLocks xmlns:a="http://schemas.openxmlformats.org/drawingml/2006/main" noGrp="1"/>
          </p:cNvSpPr>
          <p:nvPr/>
        </p:nvSpPr>
        <p:spPr>
          <a:xfrm xmlns:a="http://schemas.openxmlformats.org/drawingml/2006/main">
            <a:off x="7810500" y="377190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defRPr sz="975" b="1">
                <a:solidFill>
                  <a:srgbClr val="F4D35E"/>
                </a:solidFill>
                <a:latin typeface="Helvetica Neue"/>
                <a:ea typeface="Helvetica Neue"/>
                <a:cs typeface="Helvetica Neue"/>
              </a:defRPr>
            </a:pPr>
            <a:r>
              <a:rPr sz="975" b="1">
                <a:solidFill>
                  <a:srgbClr val="F4D35E"/>
                </a:solidFill>
                <a:latin typeface="Helvetica Neue"/>
                <a:ea typeface="Helvetica Neue"/>
                <a:cs typeface="Helvetica Neue"/>
              </a:rPr>
              <a:t>OFFICE VS RATING</a:t>
            </a:r>
          </a:p>
        </p:txBody>
      </p:sp>
      <p:sp>
        <p:nvSpPr>
          <p:cNvPr id="11" name="">
            <a:extLst xmlns:a="http://schemas.openxmlformats.org/drawingml/2006/main">
              <a:ext uri="{FF2B5EF4-FFF2-40B4-BE49-F238E27FC236}">
                <a16:creationId xmlns:a16="http://schemas.microsoft.com/office/drawing/2014/main" id="{740B3EE6-2A9A-4D56-B368-9400F3A1BB33}"/>
              </a:ext>
            </a:extLst>
          </p:cNvPr>
          <p:cNvSpPr>
            <a:spLocks xmlns:a="http://schemas.openxmlformats.org/drawingml/2006/main" noGrp="1"/>
          </p:cNvSpPr>
          <p:nvPr/>
        </p:nvSpPr>
        <p:spPr>
          <a:xfrm xmlns:a="http://schemas.openxmlformats.org/drawingml/2006/main">
            <a:off x="7810500" y="4038600"/>
            <a:ext cx="304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0,5423</a:t>
            </a:r>
          </a:p>
        </p:txBody>
      </p:sp>
      <p:sp>
        <p:nvSpPr>
          <p:cNvPr id="12" name="">
            <a:extLst xmlns:a="http://schemas.openxmlformats.org/drawingml/2006/main">
              <a:ext uri="{FF2B5EF4-FFF2-40B4-BE49-F238E27FC236}">
                <a16:creationId xmlns:a16="http://schemas.microsoft.com/office/drawing/2014/main" id="{36BF3FC0-34CF-4DB0-8F26-78F5A2929D13}"/>
              </a:ext>
            </a:extLst>
          </p:cNvPr>
          <p:cNvSpPr>
            <a:spLocks xmlns:a="http://schemas.openxmlformats.org/drawingml/2006/main" noGrp="1"/>
          </p:cNvSpPr>
          <p:nvPr/>
        </p:nvSpPr>
        <p:spPr>
          <a:xfrm xmlns:a="http://schemas.openxmlformats.org/drawingml/2006/main">
            <a:off x="7810500" y="4781550"/>
            <a:ext cx="3238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002"/>
          </a:bodyPr>
          <a:lstStyle xmlns:a="http://schemas.openxmlformats.org/drawingml/2006/main"/>
          <a:p xmlns:a="http://schemas.openxmlformats.org/drawingml/2006/main">
            <a:pPr algn="l">
              <a:defRPr sz="1500" b="0">
                <a:solidFill>
                  <a:srgbClr val="A7B3C4"/>
                </a:solidFill>
                <a:latin typeface="Helvetica Neue"/>
                <a:ea typeface="Helvetica Neue"/>
                <a:cs typeface="Helvetica Neue"/>
              </a:defRPr>
            </a:pPr>
            <a:r>
              <a:rPr sz="1500" b="0">
                <a:solidFill>
                  <a:srgbClr val="A7B3C4"/>
                </a:solidFill>
                <a:latin typeface="Helvetica Neue"/>
                <a:ea typeface="Helvetica Neue"/>
                <a:cs typeface="Helvetica Neue"/>
              </a:rPr>
              <a:t>Các điểm khía cạnh là tín hiệu dự báo rất mạnh nhưng không có ở đầu vào dự đoán review tự do. Dự án chỉ dùng chúng cho phân tích chẩn đoán.</a:t>
            </a:r>
          </a:p>
        </p:txBody>
      </p:sp>
    </p:spTree>
    <p:extLst>
      <p:ext uri="{BB962C8B-B14F-4D97-AF65-F5344CB8AC3E}">
        <p14:creationId xmlns:p14="http://schemas.microsoft.com/office/powerpoint/2010/main" val="962885509"/>
      </p:ext>
    </p:extLst>
  </p:cSld>
</p:sld>
</file>

<file path=ppt/slides/slide6.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07919C34-ADEE-4835-8862-80CB7F3112F7}"/>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05 · ĐẶC TRƯNG</a:t>
            </a:r>
          </a:p>
        </p:txBody>
      </p:sp>
      <p:sp>
        <p:nvSpPr>
          <p:cNvPr id="2" name="">
            <a:extLst xmlns:a="http://schemas.openxmlformats.org/drawingml/2006/main">
              <a:ext uri="{FF2B5EF4-FFF2-40B4-BE49-F238E27FC236}">
                <a16:creationId xmlns:a16="http://schemas.microsoft.com/office/drawing/2014/main" id="{4DC38D30-9B20-4D3F-88A7-CAE362430629}"/>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Bigram cải thiện Macro F1 thêm 0,0153</a:t>
            </a:r>
          </a:p>
        </p:txBody>
      </p:sp>
      <p:sp>
        <p:nvSpPr>
          <p:cNvPr id="3" name="">
            <a:extLst xmlns:a="http://schemas.openxmlformats.org/drawingml/2006/main">
              <a:ext uri="{FF2B5EF4-FFF2-40B4-BE49-F238E27FC236}">
                <a16:creationId xmlns:a16="http://schemas.microsoft.com/office/drawing/2014/main" id="{FB81D325-5003-4C7F-9562-B2C7B7FE58C6}"/>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66DC1FE-228F-4F1B-A686-D79BDC92F421}"/>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06 / 15</a:t>
            </a:r>
          </a:p>
        </p:txBody>
      </p:sp>
      <p:graphicFrame>
        <p:nvGraphicFramePr>
          <p:cNvPr id="24" name="Chart"/>
          <p:cNvGraphicFramePr/>
          <p:nvPr/>
        </p:nvGraphicFramePr>
        <p:xfrm>
          <a:off xmlns:a="http://schemas.openxmlformats.org/drawingml/2006/main" x="609600" y="1666875"/>
          <a:ext xmlns:a="http://schemas.openxmlformats.org/drawingml/2006/main" cx="6572250" cy="3810000"/>
        </p:xfrm>
        <a:graphic xmlns:a="http://schemas.openxmlformats.org/drawingml/2006/main">
          <a:graphicData uri="http://schemas.openxmlformats.org/drawingml/2006/chart">
            <c:chart xmlns:r="http://schemas.openxmlformats.org/officeDocument/2006/relationships" xmlns:c="http://schemas.openxmlformats.org/drawingml/2006/chart" r:id="R480fe374566c4e0a"/>
          </a:graphicData>
        </a:graphic>
      </p:graphicFrame>
      <p:sp>
        <p:nvSpPr>
          <p:cNvPr id="6" name="">
            <a:extLst xmlns:a="http://schemas.openxmlformats.org/drawingml/2006/main">
              <a:ext uri="{FF2B5EF4-FFF2-40B4-BE49-F238E27FC236}">
                <a16:creationId xmlns:a16="http://schemas.microsoft.com/office/drawing/2014/main" id="{3A489022-9F1A-40B7-BC4B-FCC8855A61E8}"/>
              </a:ext>
            </a:extLst>
          </p:cNvPr>
          <p:cNvSpPr>
            <a:spLocks xmlns:a="http://schemas.openxmlformats.org/drawingml/2006/main" noGrp="1"/>
          </p:cNvSpPr>
          <p:nvPr/>
        </p:nvSpPr>
        <p:spPr>
          <a:xfrm xmlns:a="http://schemas.openxmlformats.org/drawingml/2006/main">
            <a:off x="6096000" y="1771650"/>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222"/>
          </a:bodyPr>
          <a:lstStyle xmlns:a="http://schemas.openxmlformats.org/drawingml/2006/main"/>
          <a:p xmlns:a="http://schemas.openxmlformats.org/drawingml/2006/main">
            <a:pPr algn="r">
              <a:defRPr sz="900" b="1">
                <a:solidFill>
                  <a:srgbClr val="A7B3C4"/>
                </a:solidFill>
                <a:latin typeface="Helvetica Neue"/>
                <a:ea typeface="Helvetica Neue"/>
                <a:cs typeface="Helvetica Neue"/>
              </a:defRPr>
            </a:pPr>
            <a:r>
              <a:rPr sz="900" b="1">
                <a:solidFill>
                  <a:srgbClr val="A7B3C4"/>
                </a:solidFill>
                <a:latin typeface="Helvetica Neue"/>
                <a:ea typeface="Helvetica Neue"/>
                <a:cs typeface="Helvetica Neue"/>
              </a:rPr>
              <a:t>MACRO F1 (%)</a:t>
            </a:r>
          </a:p>
        </p:txBody>
      </p:sp>
      <p:sp>
        <p:nvSpPr>
          <p:cNvPr id="7" name="">
            <a:extLst xmlns:a="http://schemas.openxmlformats.org/drawingml/2006/main">
              <a:ext uri="{FF2B5EF4-FFF2-40B4-BE49-F238E27FC236}">
                <a16:creationId xmlns:a16="http://schemas.microsoft.com/office/drawing/2014/main" id="{23CCDB39-4652-4ECD-B90E-9D82B9C4ED3D}"/>
              </a:ext>
            </a:extLst>
          </p:cNvPr>
          <p:cNvSpPr>
            <a:spLocks xmlns:a="http://schemas.openxmlformats.org/drawingml/2006/main" noGrp="1"/>
          </p:cNvSpPr>
          <p:nvPr/>
        </p:nvSpPr>
        <p:spPr>
          <a:xfrm xmlns:a="http://schemas.openxmlformats.org/drawingml/2006/main">
            <a:off x="7762875" y="1828800"/>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9A98F35-398F-4A65-A9BE-08D5B392C3CC}"/>
              </a:ext>
            </a:extLst>
          </p:cNvPr>
          <p:cNvSpPr>
            <a:spLocks xmlns:a="http://schemas.openxmlformats.org/drawingml/2006/main" noGrp="1"/>
          </p:cNvSpPr>
          <p:nvPr/>
        </p:nvSpPr>
        <p:spPr>
          <a:xfrm xmlns:a="http://schemas.openxmlformats.org/drawingml/2006/main">
            <a:off x="7953375" y="1762125"/>
            <a:ext cx="3095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5.000 đặc trưng</a:t>
            </a:r>
          </a:p>
        </p:txBody>
      </p:sp>
      <p:sp>
        <p:nvSpPr>
          <p:cNvPr id="9" name="">
            <a:extLst xmlns:a="http://schemas.openxmlformats.org/drawingml/2006/main">
              <a:ext uri="{FF2B5EF4-FFF2-40B4-BE49-F238E27FC236}">
                <a16:creationId xmlns:a16="http://schemas.microsoft.com/office/drawing/2014/main" id="{BAD2D221-5B6F-47A6-8467-6E20D16C3D12}"/>
              </a:ext>
            </a:extLst>
          </p:cNvPr>
          <p:cNvSpPr>
            <a:spLocks xmlns:a="http://schemas.openxmlformats.org/drawingml/2006/main" noGrp="1"/>
          </p:cNvSpPr>
          <p:nvPr/>
        </p:nvSpPr>
        <p:spPr>
          <a:xfrm xmlns:a="http://schemas.openxmlformats.org/drawingml/2006/main">
            <a:off x="7953375" y="2047875"/>
            <a:ext cx="3095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Giới hạn từ vựng để giữ ma trận gọn.</a:t>
            </a:r>
          </a:p>
        </p:txBody>
      </p:sp>
      <p:sp>
        <p:nvSpPr>
          <p:cNvPr id="10" name="">
            <a:extLst xmlns:a="http://schemas.openxmlformats.org/drawingml/2006/main">
              <a:ext uri="{FF2B5EF4-FFF2-40B4-BE49-F238E27FC236}">
                <a16:creationId xmlns:a16="http://schemas.microsoft.com/office/drawing/2014/main" id="{49000E1E-260B-4F2B-B098-855433C1E962}"/>
              </a:ext>
            </a:extLst>
          </p:cNvPr>
          <p:cNvSpPr>
            <a:spLocks xmlns:a="http://schemas.openxmlformats.org/drawingml/2006/main" noGrp="1"/>
          </p:cNvSpPr>
          <p:nvPr/>
        </p:nvSpPr>
        <p:spPr>
          <a:xfrm xmlns:a="http://schemas.openxmlformats.org/drawingml/2006/main">
            <a:off x="7762875" y="2705100"/>
            <a:ext cx="57150" cy="3048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FEF9411C-A339-469E-9A23-F766DA93F86B}"/>
              </a:ext>
            </a:extLst>
          </p:cNvPr>
          <p:cNvSpPr>
            <a:spLocks xmlns:a="http://schemas.openxmlformats.org/drawingml/2006/main" noGrp="1"/>
          </p:cNvSpPr>
          <p:nvPr/>
        </p:nvSpPr>
        <p:spPr>
          <a:xfrm xmlns:a="http://schemas.openxmlformats.org/drawingml/2006/main">
            <a:off x="7953375" y="2638425"/>
            <a:ext cx="3095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sublinear_tf = True</a:t>
            </a:r>
          </a:p>
        </p:txBody>
      </p:sp>
      <p:sp>
        <p:nvSpPr>
          <p:cNvPr id="12" name="">
            <a:extLst xmlns:a="http://schemas.openxmlformats.org/drawingml/2006/main">
              <a:ext uri="{FF2B5EF4-FFF2-40B4-BE49-F238E27FC236}">
                <a16:creationId xmlns:a16="http://schemas.microsoft.com/office/drawing/2014/main" id="{D953DAF8-7181-4AA6-B3BF-BAC9452A933B}"/>
              </a:ext>
            </a:extLst>
          </p:cNvPr>
          <p:cNvSpPr>
            <a:spLocks xmlns:a="http://schemas.openxmlformats.org/drawingml/2006/main" noGrp="1"/>
          </p:cNvSpPr>
          <p:nvPr/>
        </p:nvSpPr>
        <p:spPr>
          <a:xfrm xmlns:a="http://schemas.openxmlformats.org/drawingml/2006/main">
            <a:off x="7953375" y="2924175"/>
            <a:ext cx="3095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Giảm ảnh hưởng của từ lặp nhiều lần.</a:t>
            </a:r>
          </a:p>
        </p:txBody>
      </p:sp>
      <p:sp>
        <p:nvSpPr>
          <p:cNvPr id="13" name="">
            <a:extLst xmlns:a="http://schemas.openxmlformats.org/drawingml/2006/main">
              <a:ext uri="{FF2B5EF4-FFF2-40B4-BE49-F238E27FC236}">
                <a16:creationId xmlns:a16="http://schemas.microsoft.com/office/drawing/2014/main" id="{7C392CD0-16E3-45AA-A6E5-FE237CC73DA4}"/>
              </a:ext>
            </a:extLst>
          </p:cNvPr>
          <p:cNvSpPr>
            <a:spLocks xmlns:a="http://schemas.openxmlformats.org/drawingml/2006/main" noGrp="1"/>
          </p:cNvSpPr>
          <p:nvPr/>
        </p:nvSpPr>
        <p:spPr>
          <a:xfrm xmlns:a="http://schemas.openxmlformats.org/drawingml/2006/main">
            <a:off x="7762875" y="3581400"/>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349E707-6702-4146-9F93-83B38829A541}"/>
              </a:ext>
            </a:extLst>
          </p:cNvPr>
          <p:cNvSpPr>
            <a:spLocks xmlns:a="http://schemas.openxmlformats.org/drawingml/2006/main" noGrp="1"/>
          </p:cNvSpPr>
          <p:nvPr/>
        </p:nvSpPr>
        <p:spPr>
          <a:xfrm xmlns:a="http://schemas.openxmlformats.org/drawingml/2006/main">
            <a:off x="7953375" y="3514725"/>
            <a:ext cx="3095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min_df = 2</a:t>
            </a:r>
          </a:p>
        </p:txBody>
      </p:sp>
      <p:sp>
        <p:nvSpPr>
          <p:cNvPr id="15" name="">
            <a:extLst xmlns:a="http://schemas.openxmlformats.org/drawingml/2006/main">
              <a:ext uri="{FF2B5EF4-FFF2-40B4-BE49-F238E27FC236}">
                <a16:creationId xmlns:a16="http://schemas.microsoft.com/office/drawing/2014/main" id="{D6AA8A7C-F8D3-453D-B741-BB219B3FB5A6}"/>
              </a:ext>
            </a:extLst>
          </p:cNvPr>
          <p:cNvSpPr>
            <a:spLocks xmlns:a="http://schemas.openxmlformats.org/drawingml/2006/main" noGrp="1"/>
          </p:cNvSpPr>
          <p:nvPr/>
        </p:nvSpPr>
        <p:spPr>
          <a:xfrm xmlns:a="http://schemas.openxmlformats.org/drawingml/2006/main">
            <a:off x="7953375" y="3800475"/>
            <a:ext cx="3095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Loại các token chỉ xuất hiện một lần.</a:t>
            </a:r>
          </a:p>
        </p:txBody>
      </p:sp>
      <p:sp>
        <p:nvSpPr>
          <p:cNvPr id="16" name="">
            <a:extLst xmlns:a="http://schemas.openxmlformats.org/drawingml/2006/main">
              <a:ext uri="{FF2B5EF4-FFF2-40B4-BE49-F238E27FC236}">
                <a16:creationId xmlns:a16="http://schemas.microsoft.com/office/drawing/2014/main" id="{3E10CC3C-E96C-4F72-85D3-73B428CB337C}"/>
              </a:ext>
            </a:extLst>
          </p:cNvPr>
          <p:cNvSpPr>
            <a:spLocks xmlns:a="http://schemas.openxmlformats.org/drawingml/2006/main" noGrp="1"/>
          </p:cNvSpPr>
          <p:nvPr/>
        </p:nvSpPr>
        <p:spPr>
          <a:xfrm xmlns:a="http://schemas.openxmlformats.org/drawingml/2006/main">
            <a:off x="7762875" y="4457700"/>
            <a:ext cx="3286125"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97A2FCAB-3C22-467A-9D66-31C01E1D4D24}"/>
              </a:ext>
            </a:extLst>
          </p:cNvPr>
          <p:cNvSpPr>
            <a:spLocks xmlns:a="http://schemas.openxmlformats.org/drawingml/2006/main" noGrp="1"/>
          </p:cNvSpPr>
          <p:nvPr/>
        </p:nvSpPr>
        <p:spPr>
          <a:xfrm xmlns:a="http://schemas.openxmlformats.org/drawingml/2006/main">
            <a:off x="7762875" y="4714875"/>
            <a:ext cx="3286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667"/>
          </a:bodyPr>
          <a:lstStyle xmlns:a="http://schemas.openxmlformats.org/drawingml/2006/main"/>
          <a:p xmlns:a="http://schemas.openxmlformats.org/drawingml/2006/main">
            <a:pPr algn="l">
              <a:defRPr sz="1500" b="1">
                <a:solidFill>
                  <a:srgbClr val="F4F7FB"/>
                </a:solidFill>
                <a:latin typeface="Helvetica Neue"/>
                <a:ea typeface="Helvetica Neue"/>
                <a:cs typeface="Helvetica Neue"/>
              </a:defRPr>
            </a:pPr>
            <a:r>
              <a:rPr sz="1500" b="1">
                <a:solidFill>
                  <a:srgbClr val="F4F7FB"/>
                </a:solidFill>
                <a:latin typeface="Helvetica Neue"/>
                <a:ea typeface="Helvetica Neue"/>
                <a:cs typeface="Helvetica Neue"/>
              </a:rPr>
              <a:t>8.414 review mô hình hóa</a:t>
            </a:r>
          </a:p>
        </p:txBody>
      </p:sp>
      <p:sp>
        <p:nvSpPr>
          <p:cNvPr id="18" name="">
            <a:extLst xmlns:a="http://schemas.openxmlformats.org/drawingml/2006/main">
              <a:ext uri="{FF2B5EF4-FFF2-40B4-BE49-F238E27FC236}">
                <a16:creationId xmlns:a16="http://schemas.microsoft.com/office/drawing/2014/main" id="{F2B9C8E7-FFE5-4FE5-997D-6BB6A047C8CC}"/>
              </a:ext>
            </a:extLst>
          </p:cNvPr>
          <p:cNvSpPr>
            <a:spLocks xmlns:a="http://schemas.openxmlformats.org/drawingml/2006/main" noGrp="1"/>
          </p:cNvSpPr>
          <p:nvPr/>
        </p:nvSpPr>
        <p:spPr>
          <a:xfrm xmlns:a="http://schemas.openxmlformats.org/drawingml/2006/main">
            <a:off x="7762875" y="5095875"/>
            <a:ext cx="328612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Development 6.731  |  Final Test 1.683</a:t>
            </a:r>
          </a:p>
        </p:txBody>
      </p:sp>
      <p:sp>
        <p:nvSpPr>
          <p:cNvPr id="19" name="">
            <a:extLst xmlns:a="http://schemas.openxmlformats.org/drawingml/2006/main">
              <a:ext uri="{FF2B5EF4-FFF2-40B4-BE49-F238E27FC236}">
                <a16:creationId xmlns:a16="http://schemas.microsoft.com/office/drawing/2014/main" id="{A98A9D35-E666-4B42-8BC7-00C69787FF43}"/>
              </a:ext>
            </a:extLst>
          </p:cNvPr>
          <p:cNvSpPr>
            <a:spLocks xmlns:a="http://schemas.openxmlformats.org/drawingml/2006/main" noGrp="1"/>
          </p:cNvSpPr>
          <p:nvPr/>
        </p:nvSpPr>
        <p:spPr>
          <a:xfrm xmlns:a="http://schemas.openxmlformats.org/drawingml/2006/main">
            <a:off x="7762875" y="5667375"/>
            <a:ext cx="3286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417"/>
          </a:bodyPr>
          <a:lstStyle xmlns:a="http://schemas.openxmlformats.org/drawingml/2006/main"/>
          <a:p xmlns:a="http://schemas.openxmlformats.org/drawingml/2006/main">
            <a:pPr algn="l">
              <a:defRPr sz="1200" b="0">
                <a:solidFill>
                  <a:srgbClr val="FF9C5A"/>
                </a:solidFill>
                <a:latin typeface="Helvetica Neue"/>
                <a:ea typeface="Helvetica Neue"/>
                <a:cs typeface="Helvetica Neue"/>
              </a:defRPr>
            </a:pPr>
            <a:r>
              <a:rPr sz="1200" b="0">
                <a:solidFill>
                  <a:srgbClr val="FF9C5A"/>
                </a:solidFill>
                <a:latin typeface="Helvetica Neue"/>
                <a:ea typeface="Helvetica Neue"/>
                <a:cs typeface="Helvetica Neue"/>
              </a:rPr>
              <a:t>Stratified split, seed 2026</a:t>
            </a:r>
          </a:p>
        </p:txBody>
      </p:sp>
    </p:spTree>
    <p:extLst>
      <p:ext uri="{BB962C8B-B14F-4D97-AF65-F5344CB8AC3E}">
        <p14:creationId xmlns:p14="http://schemas.microsoft.com/office/powerpoint/2010/main" val="1015209260"/>
      </p:ext>
    </p:extLst>
  </p:cSld>
</p:sld>
</file>

<file path=ppt/slides/slide7.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040B13F5-D9F5-48C0-A096-69402EC13162}"/>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06 · MÔ HÌNH</a:t>
            </a:r>
          </a:p>
        </p:txBody>
      </p:sp>
      <p:sp>
        <p:nvSpPr>
          <p:cNvPr id="2" name="">
            <a:extLst xmlns:a="http://schemas.openxmlformats.org/drawingml/2006/main">
              <a:ext uri="{FF2B5EF4-FFF2-40B4-BE49-F238E27FC236}">
                <a16:creationId xmlns:a16="http://schemas.microsoft.com/office/drawing/2014/main" id="{EE6778EC-E96C-47BF-8C69-088DACB26B45}"/>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Năm mô hình dùng cùng một contract TF-IDF</a:t>
            </a:r>
          </a:p>
        </p:txBody>
      </p:sp>
      <p:sp>
        <p:nvSpPr>
          <p:cNvPr id="3" name="">
            <a:extLst xmlns:a="http://schemas.openxmlformats.org/drawingml/2006/main">
              <a:ext uri="{FF2B5EF4-FFF2-40B4-BE49-F238E27FC236}">
                <a16:creationId xmlns:a16="http://schemas.microsoft.com/office/drawing/2014/main" id="{0AFE5E32-67A5-41A5-AB0D-3B45716F1597}"/>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B3E439A-5663-4312-9EC2-8D835E6B3882}"/>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07 / 15</a:t>
            </a:r>
          </a:p>
        </p:txBody>
      </p:sp>
      <p:sp>
        <p:nvSpPr>
          <p:cNvPr id="5" name="">
            <a:extLst xmlns:a="http://schemas.openxmlformats.org/drawingml/2006/main">
              <a:ext uri="{FF2B5EF4-FFF2-40B4-BE49-F238E27FC236}">
                <a16:creationId xmlns:a16="http://schemas.microsoft.com/office/drawing/2014/main" id="{9A8DC3DC-CD4E-49D1-A8DB-DD8097713D97}"/>
              </a:ext>
            </a:extLst>
          </p:cNvPr>
          <p:cNvSpPr>
            <a:spLocks xmlns:a="http://schemas.openxmlformats.org/drawingml/2006/main" noGrp="1"/>
          </p:cNvSpPr>
          <p:nvPr/>
        </p:nvSpPr>
        <p:spPr>
          <a:xfrm xmlns:a="http://schemas.openxmlformats.org/drawingml/2006/main">
            <a:off x="609600" y="16668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350" b="1">
                <a:solidFill>
                  <a:srgbClr val="78A7FF"/>
                </a:solidFill>
                <a:latin typeface="Helvetica Neue"/>
                <a:ea typeface="Helvetica Neue"/>
                <a:cs typeface="Helvetica Neue"/>
              </a:defRPr>
            </a:pPr>
            <a:r>
              <a:rPr sz="1350" b="1">
                <a:solidFill>
                  <a:srgbClr val="78A7FF"/>
                </a:solidFill>
                <a:latin typeface="Helvetica Neue"/>
                <a:ea typeface="Helvetica Neue"/>
                <a:cs typeface="Helvetica Neue"/>
              </a:rPr>
              <a:t>MNB</a:t>
            </a:r>
          </a:p>
        </p:txBody>
      </p:sp>
      <p:sp>
        <p:nvSpPr>
          <p:cNvPr id="6" name="">
            <a:extLst xmlns:a="http://schemas.openxmlformats.org/drawingml/2006/main">
              <a:ext uri="{FF2B5EF4-FFF2-40B4-BE49-F238E27FC236}">
                <a16:creationId xmlns:a16="http://schemas.microsoft.com/office/drawing/2014/main" id="{382A2AD6-7C22-4B7D-853D-52C4E789EEFB}"/>
              </a:ext>
            </a:extLst>
          </p:cNvPr>
          <p:cNvSpPr>
            <a:spLocks xmlns:a="http://schemas.openxmlformats.org/drawingml/2006/main" noGrp="1"/>
          </p:cNvSpPr>
          <p:nvPr/>
        </p:nvSpPr>
        <p:spPr>
          <a:xfrm xmlns:a="http://schemas.openxmlformats.org/drawingml/2006/main">
            <a:off x="609600" y="2057400"/>
            <a:ext cx="1952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Naive Bayes</a:t>
            </a:r>
          </a:p>
        </p:txBody>
      </p:sp>
      <p:sp>
        <p:nvSpPr>
          <p:cNvPr id="7" name="">
            <a:extLst xmlns:a="http://schemas.openxmlformats.org/drawingml/2006/main">
              <a:ext uri="{FF2B5EF4-FFF2-40B4-BE49-F238E27FC236}">
                <a16:creationId xmlns:a16="http://schemas.microsoft.com/office/drawing/2014/main" id="{3485766B-C78B-4573-9E41-2134A5231719}"/>
              </a:ext>
            </a:extLst>
          </p:cNvPr>
          <p:cNvSpPr>
            <a:spLocks xmlns:a="http://schemas.openxmlformats.org/drawingml/2006/main" noGrp="1"/>
          </p:cNvSpPr>
          <p:nvPr/>
        </p:nvSpPr>
        <p:spPr>
          <a:xfrm xmlns:a="http://schemas.openxmlformats.org/drawingml/2006/main">
            <a:off x="2819400" y="16668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350" b="1">
                <a:solidFill>
                  <a:srgbClr val="45D9A0"/>
                </a:solidFill>
                <a:latin typeface="Helvetica Neue"/>
                <a:ea typeface="Helvetica Neue"/>
                <a:cs typeface="Helvetica Neue"/>
              </a:defRPr>
            </a:pPr>
            <a:r>
              <a:rPr sz="1350" b="1">
                <a:solidFill>
                  <a:srgbClr val="45D9A0"/>
                </a:solidFill>
                <a:latin typeface="Helvetica Neue"/>
                <a:ea typeface="Helvetica Neue"/>
                <a:cs typeface="Helvetica Neue"/>
              </a:rPr>
              <a:t>LR</a:t>
            </a:r>
          </a:p>
        </p:txBody>
      </p:sp>
      <p:sp>
        <p:nvSpPr>
          <p:cNvPr id="8" name="">
            <a:extLst xmlns:a="http://schemas.openxmlformats.org/drawingml/2006/main">
              <a:ext uri="{FF2B5EF4-FFF2-40B4-BE49-F238E27FC236}">
                <a16:creationId xmlns:a16="http://schemas.microsoft.com/office/drawing/2014/main" id="{F72A841B-71C2-4C1D-949C-32962E598583}"/>
              </a:ext>
            </a:extLst>
          </p:cNvPr>
          <p:cNvSpPr>
            <a:spLocks xmlns:a="http://schemas.openxmlformats.org/drawingml/2006/main" noGrp="1"/>
          </p:cNvSpPr>
          <p:nvPr/>
        </p:nvSpPr>
        <p:spPr>
          <a:xfrm xmlns:a="http://schemas.openxmlformats.org/drawingml/2006/main">
            <a:off x="2819400" y="2057400"/>
            <a:ext cx="1952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3560"/>
          </a:bodyPr>
          <a:lstStyle xmlns:a="http://schemas.openxmlformats.org/drawingml/2006/main"/>
          <a:p xmlns:a="http://schemas.openxmlformats.org/drawingml/2006/main">
            <a:pPr algn="l">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Logistic Regression</a:t>
            </a:r>
          </a:p>
        </p:txBody>
      </p:sp>
      <p:sp>
        <p:nvSpPr>
          <p:cNvPr id="9" name="">
            <a:extLst xmlns:a="http://schemas.openxmlformats.org/drawingml/2006/main">
              <a:ext uri="{FF2B5EF4-FFF2-40B4-BE49-F238E27FC236}">
                <a16:creationId xmlns:a16="http://schemas.microsoft.com/office/drawing/2014/main" id="{5E241321-86DD-4C4E-8500-0C4246B53454}"/>
              </a:ext>
            </a:extLst>
          </p:cNvPr>
          <p:cNvSpPr>
            <a:spLocks xmlns:a="http://schemas.openxmlformats.org/drawingml/2006/main" noGrp="1"/>
          </p:cNvSpPr>
          <p:nvPr/>
        </p:nvSpPr>
        <p:spPr>
          <a:xfrm xmlns:a="http://schemas.openxmlformats.org/drawingml/2006/main">
            <a:off x="5029200" y="16668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350" b="1">
                <a:solidFill>
                  <a:srgbClr val="F4D35E"/>
                </a:solidFill>
                <a:latin typeface="Helvetica Neue"/>
                <a:ea typeface="Helvetica Neue"/>
                <a:cs typeface="Helvetica Neue"/>
              </a:defRPr>
            </a:pPr>
            <a:r>
              <a:rPr sz="1350" b="1">
                <a:solidFill>
                  <a:srgbClr val="F4D35E"/>
                </a:solidFill>
                <a:latin typeface="Helvetica Neue"/>
                <a:ea typeface="Helvetica Neue"/>
                <a:cs typeface="Helvetica Neue"/>
              </a:rPr>
              <a:t>SVM</a:t>
            </a:r>
          </a:p>
        </p:txBody>
      </p:sp>
      <p:sp>
        <p:nvSpPr>
          <p:cNvPr id="10" name="">
            <a:extLst xmlns:a="http://schemas.openxmlformats.org/drawingml/2006/main">
              <a:ext uri="{FF2B5EF4-FFF2-40B4-BE49-F238E27FC236}">
                <a16:creationId xmlns:a16="http://schemas.microsoft.com/office/drawing/2014/main" id="{48BE0261-C73F-4B14-8846-4BB758EF43AA}"/>
              </a:ext>
            </a:extLst>
          </p:cNvPr>
          <p:cNvSpPr>
            <a:spLocks xmlns:a="http://schemas.openxmlformats.org/drawingml/2006/main" noGrp="1"/>
          </p:cNvSpPr>
          <p:nvPr/>
        </p:nvSpPr>
        <p:spPr>
          <a:xfrm xmlns:a="http://schemas.openxmlformats.org/drawingml/2006/main">
            <a:off x="5029200" y="2057400"/>
            <a:ext cx="1952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Linear SVM</a:t>
            </a:r>
          </a:p>
        </p:txBody>
      </p:sp>
      <p:sp>
        <p:nvSpPr>
          <p:cNvPr id="11" name="">
            <a:extLst xmlns:a="http://schemas.openxmlformats.org/drawingml/2006/main">
              <a:ext uri="{FF2B5EF4-FFF2-40B4-BE49-F238E27FC236}">
                <a16:creationId xmlns:a16="http://schemas.microsoft.com/office/drawing/2014/main" id="{C4CA7619-7F06-448D-B49A-F3DC2EF501FD}"/>
              </a:ext>
            </a:extLst>
          </p:cNvPr>
          <p:cNvSpPr>
            <a:spLocks xmlns:a="http://schemas.openxmlformats.org/drawingml/2006/main" noGrp="1"/>
          </p:cNvSpPr>
          <p:nvPr/>
        </p:nvSpPr>
        <p:spPr>
          <a:xfrm xmlns:a="http://schemas.openxmlformats.org/drawingml/2006/main">
            <a:off x="7239000" y="16668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350" b="1">
                <a:solidFill>
                  <a:srgbClr val="FF9C5A"/>
                </a:solidFill>
                <a:latin typeface="Helvetica Neue"/>
                <a:ea typeface="Helvetica Neue"/>
                <a:cs typeface="Helvetica Neue"/>
              </a:defRPr>
            </a:pPr>
            <a:r>
              <a:rPr sz="1350" b="1">
                <a:solidFill>
                  <a:srgbClr val="FF9C5A"/>
                </a:solidFill>
                <a:latin typeface="Helvetica Neue"/>
                <a:ea typeface="Helvetica Neue"/>
                <a:cs typeface="Helvetica Neue"/>
              </a:rPr>
              <a:t>RF</a:t>
            </a:r>
          </a:p>
        </p:txBody>
      </p:sp>
      <p:sp>
        <p:nvSpPr>
          <p:cNvPr id="12" name="">
            <a:extLst xmlns:a="http://schemas.openxmlformats.org/drawingml/2006/main">
              <a:ext uri="{FF2B5EF4-FFF2-40B4-BE49-F238E27FC236}">
                <a16:creationId xmlns:a16="http://schemas.microsoft.com/office/drawing/2014/main" id="{CA1E7592-6E8F-4398-8F2E-4BFBEC9E1F21}"/>
              </a:ext>
            </a:extLst>
          </p:cNvPr>
          <p:cNvSpPr>
            <a:spLocks xmlns:a="http://schemas.openxmlformats.org/drawingml/2006/main" noGrp="1"/>
          </p:cNvSpPr>
          <p:nvPr/>
        </p:nvSpPr>
        <p:spPr>
          <a:xfrm xmlns:a="http://schemas.openxmlformats.org/drawingml/2006/main">
            <a:off x="7239000" y="2057400"/>
            <a:ext cx="1952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Random Forest</a:t>
            </a:r>
          </a:p>
        </p:txBody>
      </p:sp>
      <p:sp>
        <p:nvSpPr>
          <p:cNvPr id="13" name="">
            <a:extLst xmlns:a="http://schemas.openxmlformats.org/drawingml/2006/main">
              <a:ext uri="{FF2B5EF4-FFF2-40B4-BE49-F238E27FC236}">
                <a16:creationId xmlns:a16="http://schemas.microsoft.com/office/drawing/2014/main" id="{2326D813-C51A-49C7-B955-9EA670059C1C}"/>
              </a:ext>
            </a:extLst>
          </p:cNvPr>
          <p:cNvSpPr>
            <a:spLocks xmlns:a="http://schemas.openxmlformats.org/drawingml/2006/main" noGrp="1"/>
          </p:cNvSpPr>
          <p:nvPr/>
        </p:nvSpPr>
        <p:spPr>
          <a:xfrm xmlns:a="http://schemas.openxmlformats.org/drawingml/2006/main">
            <a:off x="9448800" y="16668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350" b="1">
                <a:solidFill>
                  <a:srgbClr val="FF667B"/>
                </a:solidFill>
                <a:latin typeface="Helvetica Neue"/>
                <a:ea typeface="Helvetica Neue"/>
                <a:cs typeface="Helvetica Neue"/>
              </a:defRPr>
            </a:pPr>
            <a:r>
              <a:rPr sz="1350" b="1">
                <a:solidFill>
                  <a:srgbClr val="FF667B"/>
                </a:solidFill>
                <a:latin typeface="Helvetica Neue"/>
                <a:ea typeface="Helvetica Neue"/>
                <a:cs typeface="Helvetica Neue"/>
              </a:rPr>
              <a:t>STK</a:t>
            </a:r>
          </a:p>
        </p:txBody>
      </p:sp>
      <p:sp>
        <p:nvSpPr>
          <p:cNvPr id="14" name="">
            <a:extLst xmlns:a="http://schemas.openxmlformats.org/drawingml/2006/main">
              <a:ext uri="{FF2B5EF4-FFF2-40B4-BE49-F238E27FC236}">
                <a16:creationId xmlns:a16="http://schemas.microsoft.com/office/drawing/2014/main" id="{4B6FACC5-A390-43B5-803A-819EFF1FFCB5}"/>
              </a:ext>
            </a:extLst>
          </p:cNvPr>
          <p:cNvSpPr>
            <a:spLocks xmlns:a="http://schemas.openxmlformats.org/drawingml/2006/main" noGrp="1"/>
          </p:cNvSpPr>
          <p:nvPr/>
        </p:nvSpPr>
        <p:spPr>
          <a:xfrm xmlns:a="http://schemas.openxmlformats.org/drawingml/2006/main">
            <a:off x="9448800" y="2057400"/>
            <a:ext cx="1952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Stacking</a:t>
            </a:r>
          </a:p>
        </p:txBody>
      </p:sp>
      <p:sp>
        <p:nvSpPr>
          <p:cNvPr id="15" name="">
            <a:extLst xmlns:a="http://schemas.openxmlformats.org/drawingml/2006/main">
              <a:ext uri="{FF2B5EF4-FFF2-40B4-BE49-F238E27FC236}">
                <a16:creationId xmlns:a16="http://schemas.microsoft.com/office/drawing/2014/main" id="{4BBD4B9F-E29D-4271-B173-2750814ACC1B}"/>
              </a:ext>
            </a:extLst>
          </p:cNvPr>
          <p:cNvSpPr>
            <a:spLocks xmlns:a="http://schemas.openxmlformats.org/drawingml/2006/main" noGrp="1"/>
          </p:cNvSpPr>
          <p:nvPr/>
        </p:nvSpPr>
        <p:spPr>
          <a:xfrm xmlns:a="http://schemas.openxmlformats.org/drawingml/2006/main">
            <a:off x="609600" y="27622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583F3BCF-F287-453B-A3A0-47CE64A1786A}"/>
              </a:ext>
            </a:extLst>
          </p:cNvPr>
          <p:cNvSpPr>
            <a:spLocks xmlns:a="http://schemas.openxmlformats.org/drawingml/2006/main" noGrp="1"/>
          </p:cNvSpPr>
          <p:nvPr/>
        </p:nvSpPr>
        <p:spPr>
          <a:xfrm xmlns:a="http://schemas.openxmlformats.org/drawingml/2006/main">
            <a:off x="609600" y="3086100"/>
            <a:ext cx="6191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556"/>
          </a:bodyPr>
          <a:lstStyle xmlns:a="http://schemas.openxmlformats.org/drawingml/2006/main"/>
          <a:p xmlns:a="http://schemas.openxmlformats.org/drawingml/2006/main">
            <a:pPr algn="l">
              <a:defRPr sz="2250" b="1">
                <a:solidFill>
                  <a:srgbClr val="F4F7FB"/>
                </a:solidFill>
                <a:latin typeface="Helvetica Neue"/>
                <a:ea typeface="Helvetica Neue"/>
                <a:cs typeface="Helvetica Neue"/>
              </a:defRPr>
            </a:pPr>
            <a:r>
              <a:rPr sz="2250" b="1">
                <a:solidFill>
                  <a:srgbClr val="F4F7FB"/>
                </a:solidFill>
                <a:latin typeface="Helvetica Neue"/>
                <a:ea typeface="Helvetica Neue"/>
                <a:cs typeface="Helvetica Neue"/>
              </a:rPr>
              <a:t>SMOTE nằm bên trong từng fold huấn luyện</a:t>
            </a:r>
          </a:p>
        </p:txBody>
      </p:sp>
      <p:sp>
        <p:nvSpPr>
          <p:cNvPr id="17" name="">
            <a:extLst xmlns:a="http://schemas.openxmlformats.org/drawingml/2006/main">
              <a:ext uri="{FF2B5EF4-FFF2-40B4-BE49-F238E27FC236}">
                <a16:creationId xmlns:a16="http://schemas.microsoft.com/office/drawing/2014/main" id="{866F7C38-39C5-4175-BD16-C7DAE4C35C39}"/>
              </a:ext>
            </a:extLst>
          </p:cNvPr>
          <p:cNvSpPr>
            <a:spLocks xmlns:a="http://schemas.openxmlformats.org/drawingml/2006/main" noGrp="1"/>
          </p:cNvSpPr>
          <p:nvPr/>
        </p:nvSpPr>
        <p:spPr>
          <a:xfrm xmlns:a="http://schemas.openxmlformats.org/drawingml/2006/main">
            <a:off x="666750" y="3857625"/>
            <a:ext cx="2247900" cy="1066800"/>
          </a:xfrm>
          <a:prstGeom xmlns:a="http://schemas.openxmlformats.org/drawingml/2006/main" prst="roundRect">
            <a:avLst>
              <a:gd name="adj" fmla="val 12500"/>
            </a:avLst>
          </a:prstGeom>
          <a:solidFill xmlns:a="http://schemas.openxmlformats.org/drawingml/2006/main">
            <a:srgbClr val="121A26"/>
          </a:solidFill>
          <a:ln xmlns:a="http://schemas.openxmlformats.org/drawingml/2006/main" w="9525">
            <a:solidFill>
              <a:srgbClr val="78A7FF"/>
            </a:solidFill>
            <a:prstDash val="solid"/>
          </a:ln>
        </p:spPr>
      </p:sp>
      <p:sp>
        <p:nvSpPr>
          <p:cNvPr id="18" name="">
            <a:extLst xmlns:a="http://schemas.openxmlformats.org/drawingml/2006/main">
              <a:ext uri="{FF2B5EF4-FFF2-40B4-BE49-F238E27FC236}">
                <a16:creationId xmlns:a16="http://schemas.microsoft.com/office/drawing/2014/main" id="{60092BD9-2B5A-4B57-9EAA-9F97D1CB3DDE}"/>
              </a:ext>
            </a:extLst>
          </p:cNvPr>
          <p:cNvSpPr>
            <a:spLocks xmlns:a="http://schemas.openxmlformats.org/drawingml/2006/main" noGrp="1"/>
          </p:cNvSpPr>
          <p:nvPr/>
        </p:nvSpPr>
        <p:spPr>
          <a:xfrm xmlns:a="http://schemas.openxmlformats.org/drawingml/2006/main">
            <a:off x="838200" y="4048125"/>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defRPr sz="1575" b="1">
                <a:solidFill>
                  <a:srgbClr val="78A7FF"/>
                </a:solidFill>
                <a:latin typeface="Helvetica Neue"/>
                <a:ea typeface="Helvetica Neue"/>
                <a:cs typeface="Helvetica Neue"/>
              </a:defRPr>
            </a:pPr>
            <a:r>
              <a:rPr sz="1575" b="1">
                <a:solidFill>
                  <a:srgbClr val="78A7FF"/>
                </a:solidFill>
                <a:latin typeface="Helvetica Neue"/>
                <a:ea typeface="Helvetica Neue"/>
                <a:cs typeface="Helvetica Neue"/>
              </a:rPr>
              <a:t>Train fold</a:t>
            </a:r>
          </a:p>
        </p:txBody>
      </p:sp>
      <p:sp>
        <p:nvSpPr>
          <p:cNvPr id="19" name="">
            <a:extLst xmlns:a="http://schemas.openxmlformats.org/drawingml/2006/main">
              <a:ext uri="{FF2B5EF4-FFF2-40B4-BE49-F238E27FC236}">
                <a16:creationId xmlns:a16="http://schemas.microsoft.com/office/drawing/2014/main" id="{79338C83-441A-4CC2-AF15-0AA0E39FFB94}"/>
              </a:ext>
            </a:extLst>
          </p:cNvPr>
          <p:cNvSpPr>
            <a:spLocks xmlns:a="http://schemas.openxmlformats.org/drawingml/2006/main" noGrp="1"/>
          </p:cNvSpPr>
          <p:nvPr/>
        </p:nvSpPr>
        <p:spPr>
          <a:xfrm xmlns:a="http://schemas.openxmlformats.org/drawingml/2006/main">
            <a:off x="838200" y="44386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4/5 Development</a:t>
            </a:r>
          </a:p>
        </p:txBody>
      </p:sp>
      <p:sp>
        <p:nvSpPr>
          <p:cNvPr id="20" name="">
            <a:extLst xmlns:a="http://schemas.openxmlformats.org/drawingml/2006/main">
              <a:ext uri="{FF2B5EF4-FFF2-40B4-BE49-F238E27FC236}">
                <a16:creationId xmlns:a16="http://schemas.microsoft.com/office/drawing/2014/main" id="{A1D1D198-ED6A-48C3-AFB6-F0D2DF019964}"/>
              </a:ext>
            </a:extLst>
          </p:cNvPr>
          <p:cNvSpPr>
            <a:spLocks xmlns:a="http://schemas.openxmlformats.org/drawingml/2006/main" noGrp="1"/>
          </p:cNvSpPr>
          <p:nvPr/>
        </p:nvSpPr>
        <p:spPr>
          <a:xfrm xmlns:a="http://schemas.openxmlformats.org/drawingml/2006/main">
            <a:off x="3409950" y="3857625"/>
            <a:ext cx="2247900" cy="1066800"/>
          </a:xfrm>
          <a:prstGeom xmlns:a="http://schemas.openxmlformats.org/drawingml/2006/main" prst="roundRect">
            <a:avLst>
              <a:gd name="adj" fmla="val 12500"/>
            </a:avLst>
          </a:prstGeom>
          <a:solidFill xmlns:a="http://schemas.openxmlformats.org/drawingml/2006/main">
            <a:srgbClr val="121A26"/>
          </a:solidFill>
          <a:ln xmlns:a="http://schemas.openxmlformats.org/drawingml/2006/main" w="9525">
            <a:solidFill>
              <a:srgbClr val="FF9C5A"/>
            </a:solidFill>
            <a:prstDash val="solid"/>
          </a:ln>
        </p:spPr>
      </p:sp>
      <p:sp>
        <p:nvSpPr>
          <p:cNvPr id="21" name="">
            <a:extLst xmlns:a="http://schemas.openxmlformats.org/drawingml/2006/main">
              <a:ext uri="{FF2B5EF4-FFF2-40B4-BE49-F238E27FC236}">
                <a16:creationId xmlns:a16="http://schemas.microsoft.com/office/drawing/2014/main" id="{85522370-C496-4B60-B10F-590BFECD2878}"/>
              </a:ext>
            </a:extLst>
          </p:cNvPr>
          <p:cNvSpPr>
            <a:spLocks xmlns:a="http://schemas.openxmlformats.org/drawingml/2006/main" noGrp="1"/>
          </p:cNvSpPr>
          <p:nvPr/>
        </p:nvSpPr>
        <p:spPr>
          <a:xfrm xmlns:a="http://schemas.openxmlformats.org/drawingml/2006/main">
            <a:off x="3581400" y="4048125"/>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defRPr sz="1575" b="1">
                <a:solidFill>
                  <a:srgbClr val="FF9C5A"/>
                </a:solidFill>
                <a:latin typeface="Helvetica Neue"/>
                <a:ea typeface="Helvetica Neue"/>
                <a:cs typeface="Helvetica Neue"/>
              </a:defRPr>
            </a:pPr>
            <a:r>
              <a:rPr sz="1575" b="1">
                <a:solidFill>
                  <a:srgbClr val="FF9C5A"/>
                </a:solidFill>
                <a:latin typeface="Helvetica Neue"/>
                <a:ea typeface="Helvetica Neue"/>
                <a:cs typeface="Helvetica Neue"/>
              </a:rPr>
              <a:t>SMOTE</a:t>
            </a:r>
          </a:p>
        </p:txBody>
      </p:sp>
      <p:sp>
        <p:nvSpPr>
          <p:cNvPr id="22" name="">
            <a:extLst xmlns:a="http://schemas.openxmlformats.org/drawingml/2006/main">
              <a:ext uri="{FF2B5EF4-FFF2-40B4-BE49-F238E27FC236}">
                <a16:creationId xmlns:a16="http://schemas.microsoft.com/office/drawing/2014/main" id="{7946CA2C-CB9C-4EC8-9C08-69C8C5BCAF11}"/>
              </a:ext>
            </a:extLst>
          </p:cNvPr>
          <p:cNvSpPr>
            <a:spLocks xmlns:a="http://schemas.openxmlformats.org/drawingml/2006/main" noGrp="1"/>
          </p:cNvSpPr>
          <p:nvPr/>
        </p:nvSpPr>
        <p:spPr>
          <a:xfrm xmlns:a="http://schemas.openxmlformats.org/drawingml/2006/main">
            <a:off x="3581400" y="44386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Chỉ resample train fold</a:t>
            </a:r>
          </a:p>
        </p:txBody>
      </p:sp>
      <p:sp>
        <p:nvSpPr>
          <p:cNvPr id="23" name="">
            <a:extLst xmlns:a="http://schemas.openxmlformats.org/drawingml/2006/main">
              <a:ext uri="{FF2B5EF4-FFF2-40B4-BE49-F238E27FC236}">
                <a16:creationId xmlns:a16="http://schemas.microsoft.com/office/drawing/2014/main" id="{76D1B9CB-EFD1-44EA-B6E9-59D6971D64DD}"/>
              </a:ext>
            </a:extLst>
          </p:cNvPr>
          <p:cNvSpPr>
            <a:spLocks xmlns:a="http://schemas.openxmlformats.org/drawingml/2006/main" noGrp="1"/>
          </p:cNvSpPr>
          <p:nvPr/>
        </p:nvSpPr>
        <p:spPr>
          <a:xfrm xmlns:a="http://schemas.openxmlformats.org/drawingml/2006/main">
            <a:off x="6153150" y="3857625"/>
            <a:ext cx="2247900" cy="1066800"/>
          </a:xfrm>
          <a:prstGeom xmlns:a="http://schemas.openxmlformats.org/drawingml/2006/main" prst="roundRect">
            <a:avLst>
              <a:gd name="adj" fmla="val 12500"/>
            </a:avLst>
          </a:prstGeom>
          <a:solidFill xmlns:a="http://schemas.openxmlformats.org/drawingml/2006/main">
            <a:srgbClr val="121A26"/>
          </a:solidFill>
          <a:ln xmlns:a="http://schemas.openxmlformats.org/drawingml/2006/main" w="9525">
            <a:solidFill>
              <a:srgbClr val="45D9A0"/>
            </a:solidFill>
            <a:prstDash val="solid"/>
          </a:ln>
        </p:spPr>
      </p:sp>
      <p:sp>
        <p:nvSpPr>
          <p:cNvPr id="24" name="">
            <a:extLst xmlns:a="http://schemas.openxmlformats.org/drawingml/2006/main">
              <a:ext uri="{FF2B5EF4-FFF2-40B4-BE49-F238E27FC236}">
                <a16:creationId xmlns:a16="http://schemas.microsoft.com/office/drawing/2014/main" id="{4AF2DE96-231E-44E8-8A08-FF8128A13DD5}"/>
              </a:ext>
            </a:extLst>
          </p:cNvPr>
          <p:cNvSpPr>
            <a:spLocks xmlns:a="http://schemas.openxmlformats.org/drawingml/2006/main" noGrp="1"/>
          </p:cNvSpPr>
          <p:nvPr/>
        </p:nvSpPr>
        <p:spPr>
          <a:xfrm xmlns:a="http://schemas.openxmlformats.org/drawingml/2006/main">
            <a:off x="6324600" y="4048125"/>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defRPr sz="1575" b="1">
                <a:solidFill>
                  <a:srgbClr val="45D9A0"/>
                </a:solidFill>
                <a:latin typeface="Helvetica Neue"/>
                <a:ea typeface="Helvetica Neue"/>
                <a:cs typeface="Helvetica Neue"/>
              </a:defRPr>
            </a:pPr>
            <a:r>
              <a:rPr sz="1575" b="1">
                <a:solidFill>
                  <a:srgbClr val="45D9A0"/>
                </a:solidFill>
                <a:latin typeface="Helvetica Neue"/>
                <a:ea typeface="Helvetica Neue"/>
                <a:cs typeface="Helvetica Neue"/>
              </a:rPr>
              <a:t>Fit model</a:t>
            </a:r>
          </a:p>
        </p:txBody>
      </p:sp>
      <p:sp>
        <p:nvSpPr>
          <p:cNvPr id="25" name="">
            <a:extLst xmlns:a="http://schemas.openxmlformats.org/drawingml/2006/main">
              <a:ext uri="{FF2B5EF4-FFF2-40B4-BE49-F238E27FC236}">
                <a16:creationId xmlns:a16="http://schemas.microsoft.com/office/drawing/2014/main" id="{D730F66A-3F1E-4154-B1C3-1D4B243D6E25}"/>
              </a:ext>
            </a:extLst>
          </p:cNvPr>
          <p:cNvSpPr>
            <a:spLocks xmlns:a="http://schemas.openxmlformats.org/drawingml/2006/main" noGrp="1"/>
          </p:cNvSpPr>
          <p:nvPr/>
        </p:nvSpPr>
        <p:spPr>
          <a:xfrm xmlns:a="http://schemas.openxmlformats.org/drawingml/2006/main">
            <a:off x="6324600" y="44386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478"/>
          </a:bodyPr>
          <a:lstStyle xmlns:a="http://schemas.openxmlformats.org/drawingml/2006/main"/>
          <a:p xmlns:a="http://schemas.openxmlformats.org/drawingml/2006/main">
            <a:pPr algn="l">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Học trên dữ liệu cân bằng</a:t>
            </a:r>
          </a:p>
        </p:txBody>
      </p:sp>
      <p:sp>
        <p:nvSpPr>
          <p:cNvPr id="26" name="">
            <a:extLst xmlns:a="http://schemas.openxmlformats.org/drawingml/2006/main">
              <a:ext uri="{FF2B5EF4-FFF2-40B4-BE49-F238E27FC236}">
                <a16:creationId xmlns:a16="http://schemas.microsoft.com/office/drawing/2014/main" id="{B4C1FB19-D246-43C1-96F0-0A50BD733718}"/>
              </a:ext>
            </a:extLst>
          </p:cNvPr>
          <p:cNvSpPr>
            <a:spLocks xmlns:a="http://schemas.openxmlformats.org/drawingml/2006/main" noGrp="1"/>
          </p:cNvSpPr>
          <p:nvPr/>
        </p:nvSpPr>
        <p:spPr>
          <a:xfrm xmlns:a="http://schemas.openxmlformats.org/drawingml/2006/main">
            <a:off x="8896350" y="3857625"/>
            <a:ext cx="2247900" cy="1066800"/>
          </a:xfrm>
          <a:prstGeom xmlns:a="http://schemas.openxmlformats.org/drawingml/2006/main" prst="roundRect">
            <a:avLst>
              <a:gd name="adj" fmla="val 12500"/>
            </a:avLst>
          </a:prstGeom>
          <a:solidFill xmlns:a="http://schemas.openxmlformats.org/drawingml/2006/main">
            <a:srgbClr val="121A26"/>
          </a:solidFill>
          <a:ln xmlns:a="http://schemas.openxmlformats.org/drawingml/2006/main" w="9525">
            <a:solidFill>
              <a:srgbClr val="F4D35E"/>
            </a:solidFill>
            <a:prstDash val="solid"/>
          </a:ln>
        </p:spPr>
      </p:sp>
      <p:sp>
        <p:nvSpPr>
          <p:cNvPr id="27" name="">
            <a:extLst xmlns:a="http://schemas.openxmlformats.org/drawingml/2006/main">
              <a:ext uri="{FF2B5EF4-FFF2-40B4-BE49-F238E27FC236}">
                <a16:creationId xmlns:a16="http://schemas.microsoft.com/office/drawing/2014/main" id="{69B2D9B2-8B4E-4932-AF62-04AE342858AD}"/>
              </a:ext>
            </a:extLst>
          </p:cNvPr>
          <p:cNvSpPr>
            <a:spLocks xmlns:a="http://schemas.openxmlformats.org/drawingml/2006/main" noGrp="1"/>
          </p:cNvSpPr>
          <p:nvPr/>
        </p:nvSpPr>
        <p:spPr>
          <a:xfrm xmlns:a="http://schemas.openxmlformats.org/drawingml/2006/main">
            <a:off x="9067800" y="4048125"/>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defRPr sz="1575" b="1">
                <a:solidFill>
                  <a:srgbClr val="F4D35E"/>
                </a:solidFill>
                <a:latin typeface="Helvetica Neue"/>
                <a:ea typeface="Helvetica Neue"/>
                <a:cs typeface="Helvetica Neue"/>
              </a:defRPr>
            </a:pPr>
            <a:r>
              <a:rPr sz="1575" b="1">
                <a:solidFill>
                  <a:srgbClr val="F4D35E"/>
                </a:solidFill>
                <a:latin typeface="Helvetica Neue"/>
                <a:ea typeface="Helvetica Neue"/>
                <a:cs typeface="Helvetica Neue"/>
              </a:rPr>
              <a:t>Validate</a:t>
            </a:r>
          </a:p>
        </p:txBody>
      </p:sp>
      <p:sp>
        <p:nvSpPr>
          <p:cNvPr id="28" name="">
            <a:extLst xmlns:a="http://schemas.openxmlformats.org/drawingml/2006/main">
              <a:ext uri="{FF2B5EF4-FFF2-40B4-BE49-F238E27FC236}">
                <a16:creationId xmlns:a16="http://schemas.microsoft.com/office/drawing/2014/main" id="{C9000BC4-99AB-46D1-A22F-C9AC8DC1F8CA}"/>
              </a:ext>
            </a:extLst>
          </p:cNvPr>
          <p:cNvSpPr>
            <a:spLocks xmlns:a="http://schemas.openxmlformats.org/drawingml/2006/main" noGrp="1"/>
          </p:cNvSpPr>
          <p:nvPr/>
        </p:nvSpPr>
        <p:spPr>
          <a:xfrm xmlns:a="http://schemas.openxmlformats.org/drawingml/2006/main">
            <a:off x="9067800" y="44386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141"/>
          </a:bodyPr>
          <a:lstStyle xmlns:a="http://schemas.openxmlformats.org/drawingml/2006/main"/>
          <a:p xmlns:a="http://schemas.openxmlformats.org/drawingml/2006/main">
            <a:pPr algn="l">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Giữ nguyên validation fold</a:t>
            </a:r>
          </a:p>
        </p:txBody>
      </p:sp>
      <p:cxnSp>
        <p:nvCxnSpPr>
          <p:cNvPr id="61" name=""/>
          <p:cNvCxnSpPr>
            <a:stCxn xmlns:a="http://schemas.openxmlformats.org/drawingml/2006/main" id="17" idx="3"/>
            <a:endCxn xmlns:a="http://schemas.openxmlformats.org/drawingml/2006/main" id="20" idx="1"/>
          </p:cNvCxnSpPr>
          <p:nvPr/>
        </p:nvCxnSpPr>
        <p:spPr>
          <a:xfrm xmlns:a="http://schemas.openxmlformats.org/drawingml/2006/main">
            <a:off x="2914650" y="4391025"/>
            <a:ext cx="49530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cxnSp>
        <p:nvCxnSpPr>
          <p:cNvPr id="62" name=""/>
          <p:cNvCxnSpPr>
            <a:stCxn xmlns:a="http://schemas.openxmlformats.org/drawingml/2006/main" id="20" idx="3"/>
            <a:endCxn xmlns:a="http://schemas.openxmlformats.org/drawingml/2006/main" id="23" idx="1"/>
          </p:cNvCxnSpPr>
          <p:nvPr/>
        </p:nvCxnSpPr>
        <p:spPr>
          <a:xfrm xmlns:a="http://schemas.openxmlformats.org/drawingml/2006/main">
            <a:off x="5657850" y="4391025"/>
            <a:ext cx="49530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cxnSp>
        <p:nvCxnSpPr>
          <p:cNvPr id="63" name=""/>
          <p:cNvCxnSpPr>
            <a:stCxn xmlns:a="http://schemas.openxmlformats.org/drawingml/2006/main" id="23" idx="3"/>
            <a:endCxn xmlns:a="http://schemas.openxmlformats.org/drawingml/2006/main" id="26" idx="1"/>
          </p:cNvCxnSpPr>
          <p:nvPr/>
        </p:nvCxnSpPr>
        <p:spPr>
          <a:xfrm xmlns:a="http://schemas.openxmlformats.org/drawingml/2006/main">
            <a:off x="8401050" y="4391025"/>
            <a:ext cx="49530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sp>
        <p:nvSpPr>
          <p:cNvPr id="32" name="">
            <a:extLst xmlns:a="http://schemas.openxmlformats.org/drawingml/2006/main">
              <a:ext uri="{FF2B5EF4-FFF2-40B4-BE49-F238E27FC236}">
                <a16:creationId xmlns:a16="http://schemas.microsoft.com/office/drawing/2014/main" id="{AAF1EF18-232B-45FF-A841-BB3F7B82CB93}"/>
              </a:ext>
            </a:extLst>
          </p:cNvPr>
          <p:cNvSpPr>
            <a:spLocks xmlns:a="http://schemas.openxmlformats.org/drawingml/2006/main" noGrp="1"/>
          </p:cNvSpPr>
          <p:nvPr/>
        </p:nvSpPr>
        <p:spPr>
          <a:xfrm xmlns:a="http://schemas.openxmlformats.org/drawingml/2006/main">
            <a:off x="666750" y="5381625"/>
            <a:ext cx="10382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500" b="0">
                <a:solidFill>
                  <a:srgbClr val="A7B3C4"/>
                </a:solidFill>
                <a:latin typeface="Helvetica Neue"/>
                <a:ea typeface="Helvetica Neue"/>
                <a:cs typeface="Helvetica Neue"/>
              </a:defRPr>
            </a:pPr>
            <a:r>
              <a:rPr sz="1500" b="0">
                <a:solidFill>
                  <a:srgbClr val="A7B3C4"/>
                </a:solidFill>
                <a:latin typeface="Helvetica Neue"/>
                <a:ea typeface="Helvetica Neue"/>
                <a:cs typeface="Helvetica Neue"/>
              </a:rPr>
              <a:t>Validation fold không chứa mẫu tổng hợp, nhờ đó điểm CV không bị lạc quan giả tạo.</a:t>
            </a:r>
          </a:p>
        </p:txBody>
      </p:sp>
    </p:spTree>
    <p:extLst>
      <p:ext uri="{BB962C8B-B14F-4D97-AF65-F5344CB8AC3E}">
        <p14:creationId xmlns:p14="http://schemas.microsoft.com/office/powerpoint/2010/main" val="541120587"/>
      </p:ext>
    </p:extLst>
  </p:cSld>
</p:sld>
</file>

<file path=ppt/slides/slide8.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7FA182F-0908-4E57-9A12-4E138083E96E}"/>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07 · KẾT QUẢ CV</a:t>
            </a:r>
          </a:p>
        </p:txBody>
      </p:sp>
      <p:sp>
        <p:nvSpPr>
          <p:cNvPr id="2" name="">
            <a:extLst xmlns:a="http://schemas.openxmlformats.org/drawingml/2006/main">
              <a:ext uri="{FF2B5EF4-FFF2-40B4-BE49-F238E27FC236}">
                <a16:creationId xmlns:a16="http://schemas.microsoft.com/office/drawing/2014/main" id="{FC5F577A-0EB8-43DA-AD4D-297104511F47}"/>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820"/>
          </a:bodyPr>
          <a:lstStyle xmlns:a="http://schemas.openxmlformats.org/drawingml/2006/main"/>
          <a:p xmlns:a="http://schemas.openxmlformats.org/drawingml/2006/main">
            <a:pPr algn="l">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Logistic Regression và Linear SVM gần như ngang nhau</a:t>
            </a:r>
          </a:p>
        </p:txBody>
      </p:sp>
      <p:sp>
        <p:nvSpPr>
          <p:cNvPr id="3" name="">
            <a:extLst xmlns:a="http://schemas.openxmlformats.org/drawingml/2006/main">
              <a:ext uri="{FF2B5EF4-FFF2-40B4-BE49-F238E27FC236}">
                <a16:creationId xmlns:a16="http://schemas.microsoft.com/office/drawing/2014/main" id="{ED192AA7-9359-4F1B-AFC4-8DEC23BA39E3}"/>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4A6B5EA-4EFC-4D79-BE18-D343F194D139}"/>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08 / 15</a:t>
            </a:r>
          </a:p>
        </p:txBody>
      </p:sp>
      <p:graphicFrame>
        <p:nvGraphicFramePr>
          <p:cNvPr id="23" name="Chart"/>
          <p:cNvGraphicFramePr/>
          <p:nvPr/>
        </p:nvGraphicFramePr>
        <p:xfrm>
          <a:off xmlns:a="http://schemas.openxmlformats.org/drawingml/2006/main" x="609600" y="1600200"/>
          <a:ext xmlns:a="http://schemas.openxmlformats.org/drawingml/2006/main" cx="7239000" cy="4333875"/>
        </p:xfrm>
        <a:graphic xmlns:a="http://schemas.openxmlformats.org/drawingml/2006/main">
          <a:graphicData uri="http://schemas.openxmlformats.org/drawingml/2006/chart">
            <c:chart xmlns:r="http://schemas.openxmlformats.org/officeDocument/2006/relationships" xmlns:c="http://schemas.openxmlformats.org/drawingml/2006/chart" r:id="Rf75e587044bc4591"/>
          </a:graphicData>
        </a:graphic>
      </p:graphicFrame>
      <p:sp>
        <p:nvSpPr>
          <p:cNvPr id="6" name="">
            <a:extLst xmlns:a="http://schemas.openxmlformats.org/drawingml/2006/main">
              <a:ext uri="{FF2B5EF4-FFF2-40B4-BE49-F238E27FC236}">
                <a16:creationId xmlns:a16="http://schemas.microsoft.com/office/drawing/2014/main" id="{25159D7C-679E-4FDD-840C-87DF4EE99531}"/>
              </a:ext>
            </a:extLst>
          </p:cNvPr>
          <p:cNvSpPr>
            <a:spLocks xmlns:a="http://schemas.openxmlformats.org/drawingml/2006/main" noGrp="1"/>
          </p:cNvSpPr>
          <p:nvPr/>
        </p:nvSpPr>
        <p:spPr>
          <a:xfrm xmlns:a="http://schemas.openxmlformats.org/drawingml/2006/main">
            <a:off x="6667500" y="1695450"/>
            <a:ext cx="1047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222"/>
          </a:bodyPr>
          <a:lstStyle xmlns:a="http://schemas.openxmlformats.org/drawingml/2006/main"/>
          <a:p xmlns:a="http://schemas.openxmlformats.org/drawingml/2006/main">
            <a:pPr algn="r">
              <a:defRPr sz="900" b="1">
                <a:solidFill>
                  <a:srgbClr val="A7B3C4"/>
                </a:solidFill>
                <a:latin typeface="Helvetica Neue"/>
                <a:ea typeface="Helvetica Neue"/>
                <a:cs typeface="Helvetica Neue"/>
              </a:defRPr>
            </a:pPr>
            <a:r>
              <a:rPr sz="900" b="1">
                <a:solidFill>
                  <a:srgbClr val="A7B3C4"/>
                </a:solidFill>
                <a:latin typeface="Helvetica Neue"/>
                <a:ea typeface="Helvetica Neue"/>
                <a:cs typeface="Helvetica Neue"/>
              </a:rPr>
              <a:t>MACRO F1 (%)</a:t>
            </a:r>
          </a:p>
        </p:txBody>
      </p:sp>
      <p:sp>
        <p:nvSpPr>
          <p:cNvPr id="7" name="">
            <a:extLst xmlns:a="http://schemas.openxmlformats.org/drawingml/2006/main">
              <a:ext uri="{FF2B5EF4-FFF2-40B4-BE49-F238E27FC236}">
                <a16:creationId xmlns:a16="http://schemas.microsoft.com/office/drawing/2014/main" id="{6AEF6F29-6B7E-46A0-B1F6-6671FA88CEEF}"/>
              </a:ext>
            </a:extLst>
          </p:cNvPr>
          <p:cNvSpPr>
            <a:spLocks xmlns:a="http://schemas.openxmlformats.org/drawingml/2006/main" noGrp="1"/>
          </p:cNvSpPr>
          <p:nvPr/>
        </p:nvSpPr>
        <p:spPr>
          <a:xfrm xmlns:a="http://schemas.openxmlformats.org/drawingml/2006/main">
            <a:off x="8382000" y="1790700"/>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defRPr sz="975" b="1">
                <a:solidFill>
                  <a:srgbClr val="F4D35E"/>
                </a:solidFill>
                <a:latin typeface="Helvetica Neue"/>
                <a:ea typeface="Helvetica Neue"/>
                <a:cs typeface="Helvetica Neue"/>
              </a:defRPr>
            </a:pPr>
            <a:r>
              <a:rPr sz="975" b="1">
                <a:solidFill>
                  <a:srgbClr val="F4D35E"/>
                </a:solidFill>
                <a:latin typeface="Helvetica Neue"/>
                <a:ea typeface="Helvetica Neue"/>
                <a:cs typeface="Helvetica Neue"/>
              </a:rPr>
              <a:t>KHOẢNG CÁCH TOP 2</a:t>
            </a:r>
          </a:p>
        </p:txBody>
      </p:sp>
      <p:sp>
        <p:nvSpPr>
          <p:cNvPr id="8" name="">
            <a:extLst xmlns:a="http://schemas.openxmlformats.org/drawingml/2006/main">
              <a:ext uri="{FF2B5EF4-FFF2-40B4-BE49-F238E27FC236}">
                <a16:creationId xmlns:a16="http://schemas.microsoft.com/office/drawing/2014/main" id="{B3709D8C-31E9-4693-882A-0BA0F85C1B96}"/>
              </a:ext>
            </a:extLst>
          </p:cNvPr>
          <p:cNvSpPr>
            <a:spLocks xmlns:a="http://schemas.openxmlformats.org/drawingml/2006/main" noGrp="1"/>
          </p:cNvSpPr>
          <p:nvPr/>
        </p:nvSpPr>
        <p:spPr>
          <a:xfrm xmlns:a="http://schemas.openxmlformats.org/drawingml/2006/main">
            <a:off x="8382000" y="2057400"/>
            <a:ext cx="2667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0,0003</a:t>
            </a:r>
          </a:p>
        </p:txBody>
      </p:sp>
      <p:sp>
        <p:nvSpPr>
          <p:cNvPr id="9" name="">
            <a:extLst xmlns:a="http://schemas.openxmlformats.org/drawingml/2006/main">
              <a:ext uri="{FF2B5EF4-FFF2-40B4-BE49-F238E27FC236}">
                <a16:creationId xmlns:a16="http://schemas.microsoft.com/office/drawing/2014/main" id="{B3A64D59-B72F-4C58-B689-B3A1D61B9F74}"/>
              </a:ext>
            </a:extLst>
          </p:cNvPr>
          <p:cNvSpPr>
            <a:spLocks xmlns:a="http://schemas.openxmlformats.org/drawingml/2006/main" noGrp="1"/>
          </p:cNvSpPr>
          <p:nvPr/>
        </p:nvSpPr>
        <p:spPr>
          <a:xfrm xmlns:a="http://schemas.openxmlformats.org/drawingml/2006/main">
            <a:off x="8382000" y="2857500"/>
            <a:ext cx="266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4722"/>
          </a:bodyPr>
          <a:lstStyle xmlns:a="http://schemas.openxmlformats.org/drawingml/2006/main"/>
          <a:p xmlns:a="http://schemas.openxmlformats.org/drawingml/2006/main">
            <a:pPr algn="l">
              <a:defRPr sz="1800" b="1">
                <a:solidFill>
                  <a:srgbClr val="45D9A0"/>
                </a:solidFill>
                <a:latin typeface="Helvetica Neue"/>
                <a:ea typeface="Helvetica Neue"/>
                <a:cs typeface="Helvetica Neue"/>
              </a:defRPr>
            </a:pPr>
            <a:r>
              <a:rPr sz="1800" b="1">
                <a:solidFill>
                  <a:srgbClr val="45D9A0"/>
                </a:solidFill>
                <a:latin typeface="Helvetica Neue"/>
                <a:ea typeface="Helvetica Neue"/>
                <a:cs typeface="Helvetica Neue"/>
              </a:rPr>
              <a:t>Chọn Logistic Regression</a:t>
            </a:r>
          </a:p>
        </p:txBody>
      </p:sp>
      <p:sp>
        <p:nvSpPr>
          <p:cNvPr id="10" name="">
            <a:extLst xmlns:a="http://schemas.openxmlformats.org/drawingml/2006/main">
              <a:ext uri="{FF2B5EF4-FFF2-40B4-BE49-F238E27FC236}">
                <a16:creationId xmlns:a16="http://schemas.microsoft.com/office/drawing/2014/main" id="{85B1365E-BC85-4325-BF91-0FB7547333D6}"/>
              </a:ext>
            </a:extLst>
          </p:cNvPr>
          <p:cNvSpPr>
            <a:spLocks xmlns:a="http://schemas.openxmlformats.org/drawingml/2006/main" noGrp="1"/>
          </p:cNvSpPr>
          <p:nvPr/>
        </p:nvSpPr>
        <p:spPr>
          <a:xfrm xmlns:a="http://schemas.openxmlformats.org/drawingml/2006/main">
            <a:off x="8382000" y="3457575"/>
            <a:ext cx="57150" cy="3048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45119EA-7A08-4E44-B9C2-800843F30EB7}"/>
              </a:ext>
            </a:extLst>
          </p:cNvPr>
          <p:cNvSpPr>
            <a:spLocks xmlns:a="http://schemas.openxmlformats.org/drawingml/2006/main" noGrp="1"/>
          </p:cNvSpPr>
          <p:nvPr/>
        </p:nvSpPr>
        <p:spPr>
          <a:xfrm xmlns:a="http://schemas.openxmlformats.org/drawingml/2006/main">
            <a:off x="8572500" y="339090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702"/>
          </a:bodyPr>
          <a:lstStyle xmlns:a="http://schemas.openxmlformats.org/drawingml/2006/main"/>
          <a:p xmlns:a="http://schemas.openxmlformats.org/drawingml/2006/main">
            <a:pPr algn="l">
              <a:defRPr sz="1425" b="1">
                <a:solidFill>
                  <a:srgbClr val="F4F7FB"/>
                </a:solidFill>
                <a:latin typeface="Helvetica Neue"/>
                <a:ea typeface="Helvetica Neue"/>
                <a:cs typeface="Helvetica Neue"/>
              </a:defRPr>
            </a:pPr>
            <a:r>
              <a:rPr sz="1425" b="1">
                <a:solidFill>
                  <a:srgbClr val="F4F7FB"/>
                </a:solidFill>
                <a:latin typeface="Helvetica Neue"/>
                <a:ea typeface="Helvetica Neue"/>
                <a:cs typeface="Helvetica Neue"/>
              </a:rPr>
              <a:t>CV Macro F1 cao nhất</a:t>
            </a:r>
          </a:p>
        </p:txBody>
      </p:sp>
      <p:sp>
        <p:nvSpPr>
          <p:cNvPr id="12" name="">
            <a:extLst xmlns:a="http://schemas.openxmlformats.org/drawingml/2006/main">
              <a:ext uri="{FF2B5EF4-FFF2-40B4-BE49-F238E27FC236}">
                <a16:creationId xmlns:a16="http://schemas.microsoft.com/office/drawing/2014/main" id="{73853048-7C0F-4BA1-A6E2-DB24FA9669B7}"/>
              </a:ext>
            </a:extLst>
          </p:cNvPr>
          <p:cNvSpPr>
            <a:spLocks xmlns:a="http://schemas.openxmlformats.org/drawingml/2006/main" noGrp="1"/>
          </p:cNvSpPr>
          <p:nvPr/>
        </p:nvSpPr>
        <p:spPr>
          <a:xfrm xmlns:a="http://schemas.openxmlformats.org/drawingml/2006/main">
            <a:off x="8572500" y="3676650"/>
            <a:ext cx="276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0,5727 với C = 1.0 và SMOTE.</a:t>
            </a:r>
          </a:p>
        </p:txBody>
      </p:sp>
      <p:sp>
        <p:nvSpPr>
          <p:cNvPr id="13" name="">
            <a:extLst xmlns:a="http://schemas.openxmlformats.org/drawingml/2006/main">
              <a:ext uri="{FF2B5EF4-FFF2-40B4-BE49-F238E27FC236}">
                <a16:creationId xmlns:a16="http://schemas.microsoft.com/office/drawing/2014/main" id="{AD30B131-5F26-4921-9207-0BC585453F1D}"/>
              </a:ext>
            </a:extLst>
          </p:cNvPr>
          <p:cNvSpPr>
            <a:spLocks xmlns:a="http://schemas.openxmlformats.org/drawingml/2006/main" noGrp="1"/>
          </p:cNvSpPr>
          <p:nvPr/>
        </p:nvSpPr>
        <p:spPr>
          <a:xfrm xmlns:a="http://schemas.openxmlformats.org/drawingml/2006/main">
            <a:off x="8382000" y="4200525"/>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2BA9D95-CBAD-4225-AACC-3646FCA3E781}"/>
              </a:ext>
            </a:extLst>
          </p:cNvPr>
          <p:cNvSpPr>
            <a:spLocks xmlns:a="http://schemas.openxmlformats.org/drawingml/2006/main" noGrp="1"/>
          </p:cNvSpPr>
          <p:nvPr/>
        </p:nvSpPr>
        <p:spPr>
          <a:xfrm xmlns:a="http://schemas.openxmlformats.org/drawingml/2006/main">
            <a:off x="8572500" y="413385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702"/>
          </a:bodyPr>
          <a:lstStyle xmlns:a="http://schemas.openxmlformats.org/drawingml/2006/main"/>
          <a:p xmlns:a="http://schemas.openxmlformats.org/drawingml/2006/main">
            <a:pPr algn="l">
              <a:defRPr sz="1425" b="1">
                <a:solidFill>
                  <a:srgbClr val="F4F7FB"/>
                </a:solidFill>
                <a:latin typeface="Helvetica Neue"/>
                <a:ea typeface="Helvetica Neue"/>
                <a:cs typeface="Helvetica Neue"/>
              </a:defRPr>
            </a:pPr>
            <a:r>
              <a:rPr sz="1425" b="1">
                <a:solidFill>
                  <a:srgbClr val="F4F7FB"/>
                </a:solidFill>
                <a:latin typeface="Helvetica Neue"/>
                <a:ea typeface="Helvetica Neue"/>
                <a:cs typeface="Helvetica Neue"/>
              </a:rPr>
              <a:t>Có predict_proba</a:t>
            </a:r>
          </a:p>
        </p:txBody>
      </p:sp>
      <p:sp>
        <p:nvSpPr>
          <p:cNvPr id="15" name="">
            <a:extLst xmlns:a="http://schemas.openxmlformats.org/drawingml/2006/main">
              <a:ext uri="{FF2B5EF4-FFF2-40B4-BE49-F238E27FC236}">
                <a16:creationId xmlns:a16="http://schemas.microsoft.com/office/drawing/2014/main" id="{E9E476FC-A918-4088-9EEA-28D8518C4DC0}"/>
              </a:ext>
            </a:extLst>
          </p:cNvPr>
          <p:cNvSpPr>
            <a:spLocks xmlns:a="http://schemas.openxmlformats.org/drawingml/2006/main" noGrp="1"/>
          </p:cNvSpPr>
          <p:nvPr/>
        </p:nvSpPr>
        <p:spPr>
          <a:xfrm xmlns:a="http://schemas.openxmlformats.org/drawingml/2006/main">
            <a:off x="8572500" y="4419600"/>
            <a:ext cx="276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Phù hợp cho giao diện xác suất của web demo.</a:t>
            </a:r>
          </a:p>
        </p:txBody>
      </p:sp>
      <p:sp>
        <p:nvSpPr>
          <p:cNvPr id="16" name="">
            <a:extLst xmlns:a="http://schemas.openxmlformats.org/drawingml/2006/main">
              <a:ext uri="{FF2B5EF4-FFF2-40B4-BE49-F238E27FC236}">
                <a16:creationId xmlns:a16="http://schemas.microsoft.com/office/drawing/2014/main" id="{A841091B-5F41-4D98-94C1-F710AB82D3CB}"/>
              </a:ext>
            </a:extLst>
          </p:cNvPr>
          <p:cNvSpPr>
            <a:spLocks xmlns:a="http://schemas.openxmlformats.org/drawingml/2006/main" noGrp="1"/>
          </p:cNvSpPr>
          <p:nvPr/>
        </p:nvSpPr>
        <p:spPr>
          <a:xfrm xmlns:a="http://schemas.openxmlformats.org/drawingml/2006/main">
            <a:off x="8382000" y="4943475"/>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D3C93D9D-7501-46F9-8B6E-98BB4A1EC992}"/>
              </a:ext>
            </a:extLst>
          </p:cNvPr>
          <p:cNvSpPr>
            <a:spLocks xmlns:a="http://schemas.openxmlformats.org/drawingml/2006/main" noGrp="1"/>
          </p:cNvSpPr>
          <p:nvPr/>
        </p:nvSpPr>
        <p:spPr>
          <a:xfrm xmlns:a="http://schemas.openxmlformats.org/drawingml/2006/main">
            <a:off x="8572500" y="487680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702"/>
          </a:bodyPr>
          <a:lstStyle xmlns:a="http://schemas.openxmlformats.org/drawingml/2006/main"/>
          <a:p xmlns:a="http://schemas.openxmlformats.org/drawingml/2006/main">
            <a:pPr algn="l">
              <a:defRPr sz="1425" b="1">
                <a:solidFill>
                  <a:srgbClr val="F4F7FB"/>
                </a:solidFill>
                <a:latin typeface="Helvetica Neue"/>
                <a:ea typeface="Helvetica Neue"/>
                <a:cs typeface="Helvetica Neue"/>
              </a:defRPr>
            </a:pPr>
            <a:r>
              <a:rPr sz="1425" b="1">
                <a:solidFill>
                  <a:srgbClr val="F4F7FB"/>
                </a:solidFill>
                <a:latin typeface="Helvetica Neue"/>
                <a:ea typeface="Helvetica Neue"/>
                <a:cs typeface="Helvetica Neue"/>
              </a:rPr>
              <a:t>Không tuyên bố vượt trội thống kê</a:t>
            </a:r>
          </a:p>
        </p:txBody>
      </p:sp>
      <p:sp>
        <p:nvSpPr>
          <p:cNvPr id="18" name="">
            <a:extLst xmlns:a="http://schemas.openxmlformats.org/drawingml/2006/main">
              <a:ext uri="{FF2B5EF4-FFF2-40B4-BE49-F238E27FC236}">
                <a16:creationId xmlns:a16="http://schemas.microsoft.com/office/drawing/2014/main" id="{CD912C63-3E14-4BB0-9F1F-D760D2B6EC89}"/>
              </a:ext>
            </a:extLst>
          </p:cNvPr>
          <p:cNvSpPr>
            <a:spLocks xmlns:a="http://schemas.openxmlformats.org/drawingml/2006/main" noGrp="1"/>
          </p:cNvSpPr>
          <p:nvPr/>
        </p:nvSpPr>
        <p:spPr>
          <a:xfrm xmlns:a="http://schemas.openxmlformats.org/drawingml/2006/main">
            <a:off x="8572500" y="5162550"/>
            <a:ext cx="276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Điểm của LR và SVM quá sát để kết luận chênh lệch đáng kể.</a:t>
            </a:r>
          </a:p>
        </p:txBody>
      </p:sp>
    </p:spTree>
    <p:extLst>
      <p:ext uri="{BB962C8B-B14F-4D97-AF65-F5344CB8AC3E}">
        <p14:creationId xmlns:p14="http://schemas.microsoft.com/office/powerpoint/2010/main" val="2097818050"/>
      </p:ext>
    </p:extLst>
  </p:cSld>
</p:sld>
</file>

<file path=ppt/slides/slide9.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9D4AC10B-E169-41CA-9D4C-0EF70830521C}"/>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08 · FINAL TEST</a:t>
            </a:r>
          </a:p>
        </p:txBody>
      </p:sp>
      <p:sp>
        <p:nvSpPr>
          <p:cNvPr id="2" name="">
            <a:extLst xmlns:a="http://schemas.openxmlformats.org/drawingml/2006/main">
              <a:ext uri="{FF2B5EF4-FFF2-40B4-BE49-F238E27FC236}">
                <a16:creationId xmlns:a16="http://schemas.microsoft.com/office/drawing/2014/main" id="{27A5831D-8958-4B2E-ADE9-058DEC7D1870}"/>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Macro F1 ổn định nhưng lớp Negative vẫn khó</a:t>
            </a:r>
          </a:p>
        </p:txBody>
      </p:sp>
      <p:sp>
        <p:nvSpPr>
          <p:cNvPr id="3" name="">
            <a:extLst xmlns:a="http://schemas.openxmlformats.org/drawingml/2006/main">
              <a:ext uri="{FF2B5EF4-FFF2-40B4-BE49-F238E27FC236}">
                <a16:creationId xmlns:a16="http://schemas.microsoft.com/office/drawing/2014/main" id="{0C714709-191A-4638-AA48-C92C464D693A}"/>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30C47E1-734D-4E2D-B991-3F83B02C4494}"/>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09 / 15</a:t>
            </a:r>
          </a:p>
        </p:txBody>
      </p:sp>
      <p:sp>
        <p:nvSpPr>
          <p:cNvPr id="5" name="">
            <a:extLst xmlns:a="http://schemas.openxmlformats.org/drawingml/2006/main">
              <a:ext uri="{FF2B5EF4-FFF2-40B4-BE49-F238E27FC236}">
                <a16:creationId xmlns:a16="http://schemas.microsoft.com/office/drawing/2014/main" id="{FD938610-E682-4E14-8B64-0900B9B6B3E4}"/>
              </a:ext>
            </a:extLst>
          </p:cNvPr>
          <p:cNvSpPr>
            <a:spLocks xmlns:a="http://schemas.openxmlformats.org/drawingml/2006/main" noGrp="1"/>
          </p:cNvSpPr>
          <p:nvPr/>
        </p:nvSpPr>
        <p:spPr>
          <a:xfrm xmlns:a="http://schemas.openxmlformats.org/drawingml/2006/main">
            <a:off x="609600" y="1571625"/>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defRPr sz="975" b="1">
                <a:solidFill>
                  <a:srgbClr val="78A7FF"/>
                </a:solidFill>
                <a:latin typeface="Helvetica Neue"/>
                <a:ea typeface="Helvetica Neue"/>
                <a:cs typeface="Helvetica Neue"/>
              </a:defRPr>
            </a:pPr>
            <a:r>
              <a:rPr sz="975" b="1">
                <a:solidFill>
                  <a:srgbClr val="78A7FF"/>
                </a:solidFill>
                <a:latin typeface="Helvetica Neue"/>
                <a:ea typeface="Helvetica Neue"/>
                <a:cs typeface="Helvetica Neue"/>
              </a:rPr>
              <a:t>ACCURACY</a:t>
            </a:r>
          </a:p>
        </p:txBody>
      </p:sp>
      <p:sp>
        <p:nvSpPr>
          <p:cNvPr id="6" name="">
            <a:extLst xmlns:a="http://schemas.openxmlformats.org/drawingml/2006/main">
              <a:ext uri="{FF2B5EF4-FFF2-40B4-BE49-F238E27FC236}">
                <a16:creationId xmlns:a16="http://schemas.microsoft.com/office/drawing/2014/main" id="{2806F412-1E60-482E-86FA-80315A2F7507}"/>
              </a:ext>
            </a:extLst>
          </p:cNvPr>
          <p:cNvSpPr>
            <a:spLocks xmlns:a="http://schemas.openxmlformats.org/drawingml/2006/main" noGrp="1"/>
          </p:cNvSpPr>
          <p:nvPr/>
        </p:nvSpPr>
        <p:spPr>
          <a:xfrm xmlns:a="http://schemas.openxmlformats.org/drawingml/2006/main">
            <a:off x="609600" y="1838325"/>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73,74%</a:t>
            </a:r>
          </a:p>
        </p:txBody>
      </p:sp>
      <p:sp>
        <p:nvSpPr>
          <p:cNvPr id="7" name="">
            <a:extLst xmlns:a="http://schemas.openxmlformats.org/drawingml/2006/main">
              <a:ext uri="{FF2B5EF4-FFF2-40B4-BE49-F238E27FC236}">
                <a16:creationId xmlns:a16="http://schemas.microsoft.com/office/drawing/2014/main" id="{11014145-A71D-492A-A984-6C7EEC21F4BA}"/>
              </a:ext>
            </a:extLst>
          </p:cNvPr>
          <p:cNvSpPr>
            <a:spLocks xmlns:a="http://schemas.openxmlformats.org/drawingml/2006/main" noGrp="1"/>
          </p:cNvSpPr>
          <p:nvPr/>
        </p:nvSpPr>
        <p:spPr>
          <a:xfrm xmlns:a="http://schemas.openxmlformats.org/drawingml/2006/main">
            <a:off x="3143250" y="1571625"/>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defRPr sz="975" b="1">
                <a:solidFill>
                  <a:srgbClr val="45D9A0"/>
                </a:solidFill>
                <a:latin typeface="Helvetica Neue"/>
                <a:ea typeface="Helvetica Neue"/>
                <a:cs typeface="Helvetica Neue"/>
              </a:defRPr>
            </a:pPr>
            <a:r>
              <a:rPr sz="975" b="1">
                <a:solidFill>
                  <a:srgbClr val="45D9A0"/>
                </a:solidFill>
                <a:latin typeface="Helvetica Neue"/>
                <a:ea typeface="Helvetica Neue"/>
                <a:cs typeface="Helvetica Neue"/>
              </a:rPr>
              <a:t>MACRO F1</a:t>
            </a:r>
          </a:p>
        </p:txBody>
      </p:sp>
      <p:sp>
        <p:nvSpPr>
          <p:cNvPr id="8" name="">
            <a:extLst xmlns:a="http://schemas.openxmlformats.org/drawingml/2006/main">
              <a:ext uri="{FF2B5EF4-FFF2-40B4-BE49-F238E27FC236}">
                <a16:creationId xmlns:a16="http://schemas.microsoft.com/office/drawing/2014/main" id="{86973245-40BB-4CD4-9920-A59097B71EA1}"/>
              </a:ext>
            </a:extLst>
          </p:cNvPr>
          <p:cNvSpPr>
            <a:spLocks xmlns:a="http://schemas.openxmlformats.org/drawingml/2006/main" noGrp="1"/>
          </p:cNvSpPr>
          <p:nvPr/>
        </p:nvSpPr>
        <p:spPr>
          <a:xfrm xmlns:a="http://schemas.openxmlformats.org/drawingml/2006/main">
            <a:off x="3143250" y="1838325"/>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0,5714</a:t>
            </a:r>
          </a:p>
        </p:txBody>
      </p:sp>
      <p:sp>
        <p:nvSpPr>
          <p:cNvPr id="9" name="">
            <a:extLst xmlns:a="http://schemas.openxmlformats.org/drawingml/2006/main">
              <a:ext uri="{FF2B5EF4-FFF2-40B4-BE49-F238E27FC236}">
                <a16:creationId xmlns:a16="http://schemas.microsoft.com/office/drawing/2014/main" id="{385B744C-40D1-403E-8D58-32D7016172E8}"/>
              </a:ext>
            </a:extLst>
          </p:cNvPr>
          <p:cNvSpPr>
            <a:spLocks xmlns:a="http://schemas.openxmlformats.org/drawingml/2006/main" noGrp="1"/>
          </p:cNvSpPr>
          <p:nvPr/>
        </p:nvSpPr>
        <p:spPr>
          <a:xfrm xmlns:a="http://schemas.openxmlformats.org/drawingml/2006/main">
            <a:off x="5676900" y="1571625"/>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defRPr sz="975" b="1">
                <a:solidFill>
                  <a:srgbClr val="F4D35E"/>
                </a:solidFill>
                <a:latin typeface="Helvetica Neue"/>
                <a:ea typeface="Helvetica Neue"/>
                <a:cs typeface="Helvetica Neue"/>
              </a:defRPr>
            </a:pPr>
            <a:r>
              <a:rPr sz="975" b="1">
                <a:solidFill>
                  <a:srgbClr val="F4D35E"/>
                </a:solidFill>
                <a:latin typeface="Helvetica Neue"/>
                <a:ea typeface="Helvetica Neue"/>
                <a:cs typeface="Helvetica Neue"/>
              </a:rPr>
              <a:t>WEIGHTED F1</a:t>
            </a:r>
          </a:p>
        </p:txBody>
      </p:sp>
      <p:sp>
        <p:nvSpPr>
          <p:cNvPr id="10" name="">
            <a:extLst xmlns:a="http://schemas.openxmlformats.org/drawingml/2006/main">
              <a:ext uri="{FF2B5EF4-FFF2-40B4-BE49-F238E27FC236}">
                <a16:creationId xmlns:a16="http://schemas.microsoft.com/office/drawing/2014/main" id="{3D44F531-BB01-4AC6-A0D6-6A2D57F6E8D2}"/>
              </a:ext>
            </a:extLst>
          </p:cNvPr>
          <p:cNvSpPr>
            <a:spLocks xmlns:a="http://schemas.openxmlformats.org/drawingml/2006/main" noGrp="1"/>
          </p:cNvSpPr>
          <p:nvPr/>
        </p:nvSpPr>
        <p:spPr>
          <a:xfrm xmlns:a="http://schemas.openxmlformats.org/drawingml/2006/main">
            <a:off x="5676900" y="1838325"/>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0,7489</a:t>
            </a:r>
          </a:p>
        </p:txBody>
      </p:sp>
      <p:sp>
        <p:nvSpPr>
          <p:cNvPr id="11" name="">
            <a:extLst xmlns:a="http://schemas.openxmlformats.org/drawingml/2006/main">
              <a:ext uri="{FF2B5EF4-FFF2-40B4-BE49-F238E27FC236}">
                <a16:creationId xmlns:a16="http://schemas.microsoft.com/office/drawing/2014/main" id="{78B347D5-31AB-4F7C-9D2F-56F268F9A006}"/>
              </a:ext>
            </a:extLst>
          </p:cNvPr>
          <p:cNvSpPr>
            <a:spLocks xmlns:a="http://schemas.openxmlformats.org/drawingml/2006/main" noGrp="1"/>
          </p:cNvSpPr>
          <p:nvPr/>
        </p:nvSpPr>
        <p:spPr>
          <a:xfrm xmlns:a="http://schemas.openxmlformats.org/drawingml/2006/main">
            <a:off x="8210550" y="1571625"/>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defRPr sz="975" b="1">
                <a:solidFill>
                  <a:srgbClr val="FF667B"/>
                </a:solidFill>
                <a:latin typeface="Helvetica Neue"/>
                <a:ea typeface="Helvetica Neue"/>
                <a:cs typeface="Helvetica Neue"/>
              </a:defRPr>
            </a:pPr>
            <a:r>
              <a:rPr sz="975" b="1">
                <a:solidFill>
                  <a:srgbClr val="FF667B"/>
                </a:solidFill>
                <a:latin typeface="Helvetica Neue"/>
                <a:ea typeface="Helvetica Neue"/>
                <a:cs typeface="Helvetica Neue"/>
              </a:rPr>
              <a:t>SAI</a:t>
            </a:r>
          </a:p>
        </p:txBody>
      </p:sp>
      <p:sp>
        <p:nvSpPr>
          <p:cNvPr id="12" name="">
            <a:extLst xmlns:a="http://schemas.openxmlformats.org/drawingml/2006/main">
              <a:ext uri="{FF2B5EF4-FFF2-40B4-BE49-F238E27FC236}">
                <a16:creationId xmlns:a16="http://schemas.microsoft.com/office/drawing/2014/main" id="{A4E5E532-32A8-4981-A2C3-4EAABBDAD2E6}"/>
              </a:ext>
            </a:extLst>
          </p:cNvPr>
          <p:cNvSpPr>
            <a:spLocks xmlns:a="http://schemas.openxmlformats.org/drawingml/2006/main" noGrp="1"/>
          </p:cNvSpPr>
          <p:nvPr/>
        </p:nvSpPr>
        <p:spPr>
          <a:xfrm xmlns:a="http://schemas.openxmlformats.org/drawingml/2006/main">
            <a:off x="8210550" y="1838325"/>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442 / 1.683</a:t>
            </a:r>
          </a:p>
        </p:txBody>
      </p:sp>
      <p:graphicFrame>
        <p:nvGraphicFramePr>
          <p:cNvPr id="29" name=""/>
          <p:cNvGraphicFramePr/>
          <p:nvPr/>
        </p:nvGraphicFramePr>
        <p:xfrm>
          <a:off xmlns:a="http://schemas.openxmlformats.org/drawingml/2006/main" x="609600" y="2667000"/>
          <a:ext xmlns:a="http://schemas.openxmlformats.org/drawingml/2006/main" cx="6191250" cy="2714625"/>
        </p:xfrm>
        <a:graphic xmlns:a="http://schemas.openxmlformats.org/drawingml/2006/main">
          <a:graphicData uri="http://schemas.openxmlformats.org/drawingml/2006/table">
            <a:tbl>
              <a:tblPr/>
              <a:tblGrid>
                <a:gridCol w="1547813"/>
                <a:gridCol w="1547813"/>
                <a:gridCol w="1547813"/>
                <a:gridCol w="1547813"/>
              </a:tblGrid>
              <a:tr h="678656">
                <a:tc>
                  <a:txBody>
                    <a:bodyPr/>
                    <a:lstStyle/>
                    <a:p>
                      <a:r>
                        <a:rPr sz="1200" b="1">
                          <a:solidFill>
                            <a:srgbClr val="F4F7FB"/>
                          </a:solidFill>
                          <a:latin typeface="Helvetica Neue"/>
                          <a:ea typeface="Helvetica Neue"/>
                          <a:cs typeface="Helvetica Neue"/>
                        </a:rPr>
                        <a:t>Thực tế / Dự đoán</a:t>
                      </a:r>
                    </a:p>
                  </a:txBody>
                  <a:tcPr marL="91440" marR="91440" marT="45720" marB="45720">
                    <a:solidFill>
                      <a:srgbClr val="172234"/>
                    </a:solidFill>
                  </a:tcPr>
                </a:tc>
                <a:tc>
                  <a:txBody>
                    <a:bodyPr/>
                    <a:lstStyle/>
                    <a:p>
                      <a:r>
                        <a:rPr sz="1200" b="1">
                          <a:solidFill>
                            <a:srgbClr val="F4F7FB"/>
                          </a:solidFill>
                          <a:latin typeface="Helvetica Neue"/>
                          <a:ea typeface="Helvetica Neue"/>
                          <a:cs typeface="Helvetica Neue"/>
                        </a:rPr>
                        <a:t>Negative</a:t>
                      </a:r>
                    </a:p>
                  </a:txBody>
                  <a:tcPr marL="91440" marR="91440" marT="45720" marB="45720">
                    <a:solidFill>
                      <a:srgbClr val="172234"/>
                    </a:solidFill>
                  </a:tcPr>
                </a:tc>
                <a:tc>
                  <a:txBody>
                    <a:bodyPr/>
                    <a:lstStyle/>
                    <a:p>
                      <a:r>
                        <a:rPr sz="1200" b="1">
                          <a:solidFill>
                            <a:srgbClr val="F4F7FB"/>
                          </a:solidFill>
                          <a:latin typeface="Helvetica Neue"/>
                          <a:ea typeface="Helvetica Neue"/>
                          <a:cs typeface="Helvetica Neue"/>
                        </a:rPr>
                        <a:t>Neutral</a:t>
                      </a:r>
                    </a:p>
                  </a:txBody>
                  <a:tcPr marL="91440" marR="91440" marT="45720" marB="45720">
                    <a:solidFill>
                      <a:srgbClr val="172234"/>
                    </a:solidFill>
                  </a:tcPr>
                </a:tc>
                <a:tc>
                  <a:txBody>
                    <a:bodyPr/>
                    <a:lstStyle/>
                    <a:p>
                      <a:r>
                        <a:rPr sz="1200" b="1">
                          <a:solidFill>
                            <a:srgbClr val="F4F7FB"/>
                          </a:solidFill>
                          <a:latin typeface="Helvetica Neue"/>
                          <a:ea typeface="Helvetica Neue"/>
                          <a:cs typeface="Helvetica Neue"/>
                        </a:rPr>
                        <a:t>Positive</a:t>
                      </a:r>
                    </a:p>
                  </a:txBody>
                  <a:tcPr marL="91440" marR="91440" marT="45720" marB="45720">
                    <a:solidFill>
                      <a:srgbClr val="172234"/>
                    </a:solidFill>
                  </a:tcPr>
                </a:tc>
              </a:tr>
              <a:tr h="678656">
                <a:tc>
                  <a:txBody>
                    <a:bodyPr/>
                    <a:lstStyle/>
                    <a:p>
                      <a:r>
                        <a:rPr sz="1200" b="1">
                          <a:solidFill>
                            <a:srgbClr val="F4F7FB"/>
                          </a:solidFill>
                          <a:latin typeface="Helvetica Neue"/>
                          <a:ea typeface="Helvetica Neue"/>
                          <a:cs typeface="Helvetica Neue"/>
                        </a:rPr>
                        <a:t>Negative</a:t>
                      </a:r>
                    </a:p>
                  </a:txBody>
                  <a:tcPr marL="91440" marR="91440" marT="45720" marB="45720">
                    <a:solidFill>
                      <a:srgbClr val="172234"/>
                    </a:solidFill>
                  </a:tcPr>
                </a:tc>
                <a:tc>
                  <a:txBody>
                    <a:bodyPr/>
                    <a:lstStyle/>
                    <a:p>
                      <a:r>
                        <a:rPr sz="1425" b="1">
                          <a:solidFill>
                            <a:srgbClr val="F4F7FB"/>
                          </a:solidFill>
                          <a:latin typeface="Helvetica Neue"/>
                          <a:ea typeface="Helvetica Neue"/>
                          <a:cs typeface="Helvetica Neue"/>
                        </a:rPr>
                        <a:t>51</a:t>
                      </a:r>
                    </a:p>
                  </a:txBody>
                  <a:tcPr marL="91440" marR="91440" marT="45720" marB="45720">
                    <a:solidFill>
                      <a:srgbClr val="164F3D"/>
                    </a:solidFill>
                  </a:tcPr>
                </a:tc>
                <a:tc>
                  <a:txBody>
                    <a:bodyPr/>
                    <a:lstStyle/>
                    <a:p>
                      <a:r>
                        <a:rPr sz="1350">
                          <a:solidFill>
                            <a:srgbClr val="F4F7FB"/>
                          </a:solidFill>
                          <a:latin typeface="Helvetica Neue"/>
                          <a:ea typeface="Helvetica Neue"/>
                          <a:cs typeface="Helvetica Neue"/>
                        </a:rPr>
                        <a:t>40</a:t>
                      </a:r>
                    </a:p>
                  </a:txBody>
                  <a:tcPr marL="91440" marR="91440" marT="45720" marB="45720">
                    <a:solidFill>
                      <a:srgbClr val="121A26"/>
                    </a:solidFill>
                  </a:tcPr>
                </a:tc>
                <a:tc>
                  <a:txBody>
                    <a:bodyPr/>
                    <a:lstStyle/>
                    <a:p>
                      <a:r>
                        <a:rPr sz="1350">
                          <a:solidFill>
                            <a:srgbClr val="F4F7FB"/>
                          </a:solidFill>
                          <a:latin typeface="Helvetica Neue"/>
                          <a:ea typeface="Helvetica Neue"/>
                          <a:cs typeface="Helvetica Neue"/>
                        </a:rPr>
                        <a:t>23</a:t>
                      </a:r>
                    </a:p>
                  </a:txBody>
                  <a:tcPr marL="91440" marR="91440" marT="45720" marB="45720">
                    <a:solidFill>
                      <a:srgbClr val="121A26"/>
                    </a:solidFill>
                  </a:tcPr>
                </a:tc>
              </a:tr>
              <a:tr h="678656">
                <a:tc>
                  <a:txBody>
                    <a:bodyPr/>
                    <a:lstStyle/>
                    <a:p>
                      <a:r>
                        <a:rPr sz="1200" b="1">
                          <a:solidFill>
                            <a:srgbClr val="F4F7FB"/>
                          </a:solidFill>
                          <a:latin typeface="Helvetica Neue"/>
                          <a:ea typeface="Helvetica Neue"/>
                          <a:cs typeface="Helvetica Neue"/>
                        </a:rPr>
                        <a:t>Neutral</a:t>
                      </a:r>
                    </a:p>
                  </a:txBody>
                  <a:tcPr marL="91440" marR="91440" marT="45720" marB="45720">
                    <a:solidFill>
                      <a:srgbClr val="172234"/>
                    </a:solidFill>
                  </a:tcPr>
                </a:tc>
                <a:tc>
                  <a:txBody>
                    <a:bodyPr/>
                    <a:lstStyle/>
                    <a:p>
                      <a:r>
                        <a:rPr sz="1350">
                          <a:solidFill>
                            <a:srgbClr val="F4F7FB"/>
                          </a:solidFill>
                          <a:latin typeface="Helvetica Neue"/>
                          <a:ea typeface="Helvetica Neue"/>
                          <a:cs typeface="Helvetica Neue"/>
                        </a:rPr>
                        <a:t>53</a:t>
                      </a:r>
                    </a:p>
                  </a:txBody>
                  <a:tcPr marL="91440" marR="91440" marT="45720" marB="45720">
                    <a:solidFill>
                      <a:srgbClr val="121A26"/>
                    </a:solidFill>
                  </a:tcPr>
                </a:tc>
                <a:tc>
                  <a:txBody>
                    <a:bodyPr/>
                    <a:lstStyle/>
                    <a:p>
                      <a:r>
                        <a:rPr sz="1425" b="1">
                          <a:solidFill>
                            <a:srgbClr val="F4F7FB"/>
                          </a:solidFill>
                          <a:latin typeface="Helvetica Neue"/>
                          <a:ea typeface="Helvetica Neue"/>
                          <a:cs typeface="Helvetica Neue"/>
                        </a:rPr>
                        <a:t>170</a:t>
                      </a:r>
                    </a:p>
                  </a:txBody>
                  <a:tcPr marL="91440" marR="91440" marT="45720" marB="45720">
                    <a:solidFill>
                      <a:srgbClr val="164F3D"/>
                    </a:solidFill>
                  </a:tcPr>
                </a:tc>
                <a:tc>
                  <a:txBody>
                    <a:bodyPr/>
                    <a:lstStyle/>
                    <a:p>
                      <a:r>
                        <a:rPr sz="1350">
                          <a:solidFill>
                            <a:srgbClr val="F4F7FB"/>
                          </a:solidFill>
                          <a:latin typeface="Helvetica Neue"/>
                          <a:ea typeface="Helvetica Neue"/>
                          <a:cs typeface="Helvetica Neue"/>
                        </a:rPr>
                        <a:t>105</a:t>
                      </a:r>
                    </a:p>
                  </a:txBody>
                  <a:tcPr marL="91440" marR="91440" marT="45720" marB="45720">
                    <a:solidFill>
                      <a:srgbClr val="121A26"/>
                    </a:solidFill>
                  </a:tcPr>
                </a:tc>
              </a:tr>
              <a:tr h="678656">
                <a:tc>
                  <a:txBody>
                    <a:bodyPr/>
                    <a:lstStyle/>
                    <a:p>
                      <a:r>
                        <a:rPr sz="1200" b="1">
                          <a:solidFill>
                            <a:srgbClr val="F4F7FB"/>
                          </a:solidFill>
                          <a:latin typeface="Helvetica Neue"/>
                          <a:ea typeface="Helvetica Neue"/>
                          <a:cs typeface="Helvetica Neue"/>
                        </a:rPr>
                        <a:t>Positive</a:t>
                      </a:r>
                    </a:p>
                  </a:txBody>
                  <a:tcPr marL="91440" marR="91440" marT="45720" marB="45720">
                    <a:solidFill>
                      <a:srgbClr val="172234"/>
                    </a:solidFill>
                  </a:tcPr>
                </a:tc>
                <a:tc>
                  <a:txBody>
                    <a:bodyPr/>
                    <a:lstStyle/>
                    <a:p>
                      <a:r>
                        <a:rPr sz="1350">
                          <a:solidFill>
                            <a:srgbClr val="F4F7FB"/>
                          </a:solidFill>
                          <a:latin typeface="Helvetica Neue"/>
                          <a:ea typeface="Helvetica Neue"/>
                          <a:cs typeface="Helvetica Neue"/>
                        </a:rPr>
                        <a:t>50</a:t>
                      </a:r>
                    </a:p>
                  </a:txBody>
                  <a:tcPr marL="91440" marR="91440" marT="45720" marB="45720">
                    <a:solidFill>
                      <a:srgbClr val="121A26"/>
                    </a:solidFill>
                  </a:tcPr>
                </a:tc>
                <a:tc>
                  <a:txBody>
                    <a:bodyPr/>
                    <a:lstStyle/>
                    <a:p>
                      <a:r>
                        <a:rPr sz="1350">
                          <a:solidFill>
                            <a:srgbClr val="F4F7FB"/>
                          </a:solidFill>
                          <a:latin typeface="Helvetica Neue"/>
                          <a:ea typeface="Helvetica Neue"/>
                          <a:cs typeface="Helvetica Neue"/>
                        </a:rPr>
                        <a:t>171</a:t>
                      </a:r>
                    </a:p>
                  </a:txBody>
                  <a:tcPr marL="91440" marR="91440" marT="45720" marB="45720">
                    <a:solidFill>
                      <a:srgbClr val="121A26"/>
                    </a:solidFill>
                  </a:tcPr>
                </a:tc>
                <a:tc>
                  <a:txBody>
                    <a:bodyPr/>
                    <a:lstStyle/>
                    <a:p>
                      <a:r>
                        <a:rPr sz="1425" b="1">
                          <a:solidFill>
                            <a:srgbClr val="F4F7FB"/>
                          </a:solidFill>
                          <a:latin typeface="Helvetica Neue"/>
                          <a:ea typeface="Helvetica Neue"/>
                          <a:cs typeface="Helvetica Neue"/>
                        </a:rPr>
                        <a:t>1.020</a:t>
                      </a:r>
                    </a:p>
                  </a:txBody>
                  <a:tcPr marL="91440" marR="91440" marT="45720" marB="45720">
                    <a:solidFill>
                      <a:srgbClr val="164F3D"/>
                    </a:solidFill>
                  </a:tcPr>
                </a:tc>
              </a:tr>
            </a:tbl>
          </a:graphicData>
        </a:graphic>
      </p:graphicFrame>
      <p:graphicFrame>
        <p:nvGraphicFramePr>
          <p:cNvPr id="30" name="Chart"/>
          <p:cNvGraphicFramePr/>
          <p:nvPr/>
        </p:nvGraphicFramePr>
        <p:xfrm>
          <a:off xmlns:a="http://schemas.openxmlformats.org/drawingml/2006/main" x="7239000" y="2724150"/>
          <a:ext xmlns:a="http://schemas.openxmlformats.org/drawingml/2006/main" cx="4000500" cy="2571750"/>
        </p:xfrm>
        <a:graphic xmlns:a="http://schemas.openxmlformats.org/drawingml/2006/main">
          <a:graphicData uri="http://schemas.openxmlformats.org/drawingml/2006/chart">
            <c:chart xmlns:r="http://schemas.openxmlformats.org/officeDocument/2006/relationships" xmlns:c="http://schemas.openxmlformats.org/drawingml/2006/chart" r:id="R3bdb6c4fcc8f4b63"/>
          </a:graphicData>
        </a:graphic>
      </p:graphicFrame>
      <p:sp>
        <p:nvSpPr>
          <p:cNvPr id="15" name="">
            <a:extLst xmlns:a="http://schemas.openxmlformats.org/drawingml/2006/main">
              <a:ext uri="{FF2B5EF4-FFF2-40B4-BE49-F238E27FC236}">
                <a16:creationId xmlns:a16="http://schemas.microsoft.com/office/drawing/2014/main" id="{4BF0AAAB-C9DB-4E2A-83FB-F3AD0B18FDB9}"/>
              </a:ext>
            </a:extLst>
          </p:cNvPr>
          <p:cNvSpPr>
            <a:spLocks xmlns:a="http://schemas.openxmlformats.org/drawingml/2006/main" noGrp="1"/>
          </p:cNvSpPr>
          <p:nvPr/>
        </p:nvSpPr>
        <p:spPr>
          <a:xfrm xmlns:a="http://schemas.openxmlformats.org/drawingml/2006/main">
            <a:off x="9667875" y="2800350"/>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222"/>
          </a:bodyPr>
          <a:lstStyle xmlns:a="http://schemas.openxmlformats.org/drawingml/2006/main"/>
          <a:p xmlns:a="http://schemas.openxmlformats.org/drawingml/2006/main">
            <a:pPr algn="r">
              <a:defRPr sz="900" b="1">
                <a:solidFill>
                  <a:srgbClr val="A7B3C4"/>
                </a:solidFill>
                <a:latin typeface="Helvetica Neue"/>
                <a:ea typeface="Helvetica Neue"/>
                <a:cs typeface="Helvetica Neue"/>
              </a:defRPr>
            </a:pPr>
            <a:r>
              <a:rPr sz="900" b="1">
                <a:solidFill>
                  <a:srgbClr val="A7B3C4"/>
                </a:solidFill>
                <a:latin typeface="Helvetica Neue"/>
                <a:ea typeface="Helvetica Neue"/>
                <a:cs typeface="Helvetica Neue"/>
              </a:rPr>
              <a:t>F1 THEO LỚP (%)</a:t>
            </a:r>
          </a:p>
        </p:txBody>
      </p:sp>
      <p:sp>
        <p:nvSpPr>
          <p:cNvPr id="16" name="">
            <a:extLst xmlns:a="http://schemas.openxmlformats.org/drawingml/2006/main">
              <a:ext uri="{FF2B5EF4-FFF2-40B4-BE49-F238E27FC236}">
                <a16:creationId xmlns:a16="http://schemas.microsoft.com/office/drawing/2014/main" id="{91FAC28A-838F-4A38-B13F-9F28E6AE29EC}"/>
              </a:ext>
            </a:extLst>
          </p:cNvPr>
          <p:cNvSpPr>
            <a:spLocks xmlns:a="http://schemas.openxmlformats.org/drawingml/2006/main" noGrp="1"/>
          </p:cNvSpPr>
          <p:nvPr/>
        </p:nvSpPr>
        <p:spPr>
          <a:xfrm xmlns:a="http://schemas.openxmlformats.org/drawingml/2006/main">
            <a:off x="609600" y="5734050"/>
            <a:ext cx="1038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425" b="0">
                <a:solidFill>
                  <a:srgbClr val="FF9C5A"/>
                </a:solidFill>
                <a:latin typeface="Helvetica Neue"/>
                <a:ea typeface="Helvetica Neue"/>
                <a:cs typeface="Helvetica Neue"/>
              </a:defRPr>
            </a:pPr>
            <a:r>
              <a:rPr sz="1425" b="0">
                <a:solidFill>
                  <a:srgbClr val="FF9C5A"/>
                </a:solidFill>
                <a:latin typeface="Helvetica Neue"/>
                <a:ea typeface="Helvetica Neue"/>
                <a:cs typeface="Helvetica Neue"/>
              </a:rPr>
              <a:t>Accuracy bằng mức của majority baseline, nên Macro F1 và F1 theo lớp mới phản ánh đúng chất lượng mô hình.</a:t>
            </a:r>
          </a:p>
        </p:txBody>
      </p:sp>
    </p:spTree>
    <p:extLst>
      <p:ext uri="{BB962C8B-B14F-4D97-AF65-F5344CB8AC3E}">
        <p14:creationId xmlns:p14="http://schemas.microsoft.com/office/powerpoint/2010/main" val="1871774820"/>
      </p:ext>
    </p:extLst>
  </p:cSld>
</p:sld>
</file>

<file path=ppt/slides/slide10.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4301B90D-CE70-4FF6-99CC-9A92CDF41843}"/>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09 · ERROR ANALYSIS</a:t>
            </a:r>
          </a:p>
        </p:txBody>
      </p:sp>
      <p:sp>
        <p:nvSpPr>
          <p:cNvPr id="2" name="">
            <a:extLst xmlns:a="http://schemas.openxmlformats.org/drawingml/2006/main">
              <a:ext uri="{FF2B5EF4-FFF2-40B4-BE49-F238E27FC236}">
                <a16:creationId xmlns:a16="http://schemas.microsoft.com/office/drawing/2014/main" id="{5D7AEDFD-6BA8-43C8-AAB3-7A84AEAA3527}"/>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Cảm xúc lẫn lộn chiếm 10/15 lỗi đại diện</a:t>
            </a:r>
          </a:p>
        </p:txBody>
      </p:sp>
      <p:sp>
        <p:nvSpPr>
          <p:cNvPr id="3" name="">
            <a:extLst xmlns:a="http://schemas.openxmlformats.org/drawingml/2006/main">
              <a:ext uri="{FF2B5EF4-FFF2-40B4-BE49-F238E27FC236}">
                <a16:creationId xmlns:a16="http://schemas.microsoft.com/office/drawing/2014/main" id="{3CE0BE42-6334-4604-BD0A-D595A888CCC5}"/>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7CCDA19-AEA8-4352-AF66-CAD2BE27067A}"/>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10 / 15</a:t>
            </a:r>
          </a:p>
        </p:txBody>
      </p:sp>
      <p:sp>
        <p:nvSpPr>
          <p:cNvPr id="5" name="">
            <a:extLst xmlns:a="http://schemas.openxmlformats.org/drawingml/2006/main">
              <a:ext uri="{FF2B5EF4-FFF2-40B4-BE49-F238E27FC236}">
                <a16:creationId xmlns:a16="http://schemas.microsoft.com/office/drawing/2014/main" id="{8217A969-F1C0-4741-BE23-4CC3BC44A94F}"/>
              </a:ext>
            </a:extLst>
          </p:cNvPr>
          <p:cNvSpPr>
            <a:spLocks xmlns:a="http://schemas.openxmlformats.org/drawingml/2006/main" noGrp="1"/>
          </p:cNvSpPr>
          <p:nvPr/>
        </p:nvSpPr>
        <p:spPr>
          <a:xfrm xmlns:a="http://schemas.openxmlformats.org/drawingml/2006/main">
            <a:off x="609600" y="17907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defRPr sz="975" b="1">
                <a:solidFill>
                  <a:srgbClr val="FF667B"/>
                </a:solidFill>
                <a:latin typeface="Helvetica Neue"/>
                <a:ea typeface="Helvetica Neue"/>
                <a:cs typeface="Helvetica Neue"/>
              </a:defRPr>
            </a:pPr>
            <a:r>
              <a:rPr sz="975" b="1">
                <a:solidFill>
                  <a:srgbClr val="FF667B"/>
                </a:solidFill>
                <a:latin typeface="Helvetica Neue"/>
                <a:ea typeface="Helvetica Neue"/>
                <a:cs typeface="Helvetica Neue"/>
              </a:rPr>
              <a:t>DỰ ĐOÁN SAI</a:t>
            </a:r>
          </a:p>
        </p:txBody>
      </p:sp>
      <p:sp>
        <p:nvSpPr>
          <p:cNvPr id="6" name="">
            <a:extLst xmlns:a="http://schemas.openxmlformats.org/drawingml/2006/main">
              <a:ext uri="{FF2B5EF4-FFF2-40B4-BE49-F238E27FC236}">
                <a16:creationId xmlns:a16="http://schemas.microsoft.com/office/drawing/2014/main" id="{C343D3D1-8742-4F87-9A91-75F60A797052}"/>
              </a:ext>
            </a:extLst>
          </p:cNvPr>
          <p:cNvSpPr>
            <a:spLocks xmlns:a="http://schemas.openxmlformats.org/drawingml/2006/main" noGrp="1"/>
          </p:cNvSpPr>
          <p:nvPr/>
        </p:nvSpPr>
        <p:spPr>
          <a:xfrm xmlns:a="http://schemas.openxmlformats.org/drawingml/2006/main">
            <a:off x="609600" y="2057400"/>
            <a:ext cx="2571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442</a:t>
            </a:r>
          </a:p>
        </p:txBody>
      </p:sp>
      <p:sp>
        <p:nvSpPr>
          <p:cNvPr id="7" name="">
            <a:extLst xmlns:a="http://schemas.openxmlformats.org/drawingml/2006/main">
              <a:ext uri="{FF2B5EF4-FFF2-40B4-BE49-F238E27FC236}">
                <a16:creationId xmlns:a16="http://schemas.microsoft.com/office/drawing/2014/main" id="{7D8548FE-B9F2-4C9F-A14F-C5BE4050D5FF}"/>
              </a:ext>
            </a:extLst>
          </p:cNvPr>
          <p:cNvSpPr>
            <a:spLocks xmlns:a="http://schemas.openxmlformats.org/drawingml/2006/main" noGrp="1"/>
          </p:cNvSpPr>
          <p:nvPr/>
        </p:nvSpPr>
        <p:spPr>
          <a:xfrm xmlns:a="http://schemas.openxmlformats.org/drawingml/2006/main">
            <a:off x="609600" y="2714625"/>
            <a:ext cx="2571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889"/>
          </a:bodyPr>
          <a:lstStyle xmlns:a="http://schemas.openxmlformats.org/drawingml/2006/main"/>
          <a:p xmlns:a="http://schemas.openxmlformats.org/drawingml/2006/main">
            <a:pPr algn="l">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26,3% của Final Test</a:t>
            </a:r>
          </a:p>
        </p:txBody>
      </p:sp>
      <p:sp>
        <p:nvSpPr>
          <p:cNvPr id="8" name="">
            <a:extLst xmlns:a="http://schemas.openxmlformats.org/drawingml/2006/main">
              <a:ext uri="{FF2B5EF4-FFF2-40B4-BE49-F238E27FC236}">
                <a16:creationId xmlns:a16="http://schemas.microsoft.com/office/drawing/2014/main" id="{B6F091F8-93D4-49BF-A31A-5FF945230D5D}"/>
              </a:ext>
            </a:extLst>
          </p:cNvPr>
          <p:cNvSpPr>
            <a:spLocks xmlns:a="http://schemas.openxmlformats.org/drawingml/2006/main" noGrp="1"/>
          </p:cNvSpPr>
          <p:nvPr/>
        </p:nvSpPr>
        <p:spPr>
          <a:xfrm xmlns:a="http://schemas.openxmlformats.org/drawingml/2006/main">
            <a:off x="609600" y="3276600"/>
            <a:ext cx="2714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Mẫu thủ công dùng để hiểu dạng lỗi, không đại diện cho toàn bộ 442 lỗi.</a:t>
            </a:r>
          </a:p>
        </p:txBody>
      </p:sp>
      <p:sp>
        <p:nvSpPr>
          <p:cNvPr id="9" name="">
            <a:extLst xmlns:a="http://schemas.openxmlformats.org/drawingml/2006/main">
              <a:ext uri="{FF2B5EF4-FFF2-40B4-BE49-F238E27FC236}">
                <a16:creationId xmlns:a16="http://schemas.microsoft.com/office/drawing/2014/main" id="{76C6E72B-3FF8-4B7F-B441-8A2AB4D46561}"/>
              </a:ext>
            </a:extLst>
          </p:cNvPr>
          <p:cNvSpPr>
            <a:spLocks xmlns:a="http://schemas.openxmlformats.org/drawingml/2006/main" noGrp="1"/>
          </p:cNvSpPr>
          <p:nvPr/>
        </p:nvSpPr>
        <p:spPr>
          <a:xfrm xmlns:a="http://schemas.openxmlformats.org/drawingml/2006/main">
            <a:off x="4000500" y="1714500"/>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556"/>
          </a:bodyPr>
          <a:lstStyle xmlns:a="http://schemas.openxmlformats.org/drawingml/2006/main"/>
          <a:p xmlns:a="http://schemas.openxmlformats.org/drawingml/2006/main">
            <a:pPr algn="l">
              <a:defRPr sz="2250" b="1">
                <a:solidFill>
                  <a:srgbClr val="F4D35E"/>
                </a:solidFill>
                <a:latin typeface="Helvetica Neue"/>
                <a:ea typeface="Helvetica Neue"/>
                <a:cs typeface="Helvetica Neue"/>
              </a:defRPr>
            </a:pPr>
            <a:r>
              <a:rPr sz="2250" b="1">
                <a:solidFill>
                  <a:srgbClr val="F4D35E"/>
                </a:solidFill>
                <a:latin typeface="Helvetica Neue"/>
                <a:ea typeface="Helvetica Neue"/>
                <a:cs typeface="Helvetica Neue"/>
              </a:rPr>
              <a:t>10 / 15</a:t>
            </a:r>
          </a:p>
        </p:txBody>
      </p:sp>
      <p:sp>
        <p:nvSpPr>
          <p:cNvPr id="10" name="">
            <a:extLst xmlns:a="http://schemas.openxmlformats.org/drawingml/2006/main">
              <a:ext uri="{FF2B5EF4-FFF2-40B4-BE49-F238E27FC236}">
                <a16:creationId xmlns:a16="http://schemas.microsoft.com/office/drawing/2014/main" id="{D8C9A45C-3656-4FFA-877F-4EBA9E136D62}"/>
              </a:ext>
            </a:extLst>
          </p:cNvPr>
          <p:cNvSpPr>
            <a:spLocks xmlns:a="http://schemas.openxmlformats.org/drawingml/2006/main" noGrp="1"/>
          </p:cNvSpPr>
          <p:nvPr/>
        </p:nvSpPr>
        <p:spPr>
          <a:xfrm xmlns:a="http://schemas.openxmlformats.org/drawingml/2006/main">
            <a:off x="5572125" y="1714500"/>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Cảm xúc lẫn lộn</a:t>
            </a:r>
          </a:p>
        </p:txBody>
      </p:sp>
      <p:sp>
        <p:nvSpPr>
          <p:cNvPr id="11" name="">
            <a:extLst xmlns:a="http://schemas.openxmlformats.org/drawingml/2006/main">
              <a:ext uri="{FF2B5EF4-FFF2-40B4-BE49-F238E27FC236}">
                <a16:creationId xmlns:a16="http://schemas.microsoft.com/office/drawing/2014/main" id="{186FDBAD-983F-48A7-82A5-0F9CA6413159}"/>
              </a:ext>
            </a:extLst>
          </p:cNvPr>
          <p:cNvSpPr>
            <a:spLocks xmlns:a="http://schemas.openxmlformats.org/drawingml/2006/main" noGrp="1"/>
          </p:cNvSpPr>
          <p:nvPr/>
        </p:nvSpPr>
        <p:spPr>
          <a:xfrm xmlns:a="http://schemas.openxmlformats.org/drawingml/2006/main">
            <a:off x="5572125" y="2171700"/>
            <a:ext cx="5334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Review vừa khen vừa chê, nên một nhãn duy nhất làm mất sắc thái.</a:t>
            </a:r>
          </a:p>
        </p:txBody>
      </p:sp>
      <p:sp>
        <p:nvSpPr>
          <p:cNvPr id="12" name="">
            <a:extLst xmlns:a="http://schemas.openxmlformats.org/drawingml/2006/main">
              <a:ext uri="{FF2B5EF4-FFF2-40B4-BE49-F238E27FC236}">
                <a16:creationId xmlns:a16="http://schemas.microsoft.com/office/drawing/2014/main" id="{7D28B244-98C9-41AD-9BC0-189A128A7F26}"/>
              </a:ext>
            </a:extLst>
          </p:cNvPr>
          <p:cNvSpPr>
            <a:spLocks xmlns:a="http://schemas.openxmlformats.org/drawingml/2006/main" noGrp="1"/>
          </p:cNvSpPr>
          <p:nvPr/>
        </p:nvSpPr>
        <p:spPr>
          <a:xfrm xmlns:a="http://schemas.openxmlformats.org/drawingml/2006/main">
            <a:off x="4000500" y="2895600"/>
            <a:ext cx="695325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DE91539-68C4-4ED7-921C-4B33E5D97395}"/>
              </a:ext>
            </a:extLst>
          </p:cNvPr>
          <p:cNvSpPr>
            <a:spLocks xmlns:a="http://schemas.openxmlformats.org/drawingml/2006/main" noGrp="1"/>
          </p:cNvSpPr>
          <p:nvPr/>
        </p:nvSpPr>
        <p:spPr>
          <a:xfrm xmlns:a="http://schemas.openxmlformats.org/drawingml/2006/main">
            <a:off x="4000500" y="3095625"/>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556"/>
          </a:bodyPr>
          <a:lstStyle xmlns:a="http://schemas.openxmlformats.org/drawingml/2006/main"/>
          <a:p xmlns:a="http://schemas.openxmlformats.org/drawingml/2006/main">
            <a:pPr algn="l">
              <a:defRPr sz="2250" b="1">
                <a:solidFill>
                  <a:srgbClr val="FF9C5A"/>
                </a:solidFill>
                <a:latin typeface="Helvetica Neue"/>
                <a:ea typeface="Helvetica Neue"/>
                <a:cs typeface="Helvetica Neue"/>
              </a:defRPr>
            </a:pPr>
            <a:r>
              <a:rPr sz="2250" b="1">
                <a:solidFill>
                  <a:srgbClr val="FF9C5A"/>
                </a:solidFill>
                <a:latin typeface="Helvetica Neue"/>
                <a:ea typeface="Helvetica Neue"/>
                <a:cs typeface="Helvetica Neue"/>
              </a:rPr>
              <a:t>4 / 15</a:t>
            </a:r>
          </a:p>
        </p:txBody>
      </p:sp>
      <p:sp>
        <p:nvSpPr>
          <p:cNvPr id="14" name="">
            <a:extLst xmlns:a="http://schemas.openxmlformats.org/drawingml/2006/main">
              <a:ext uri="{FF2B5EF4-FFF2-40B4-BE49-F238E27FC236}">
                <a16:creationId xmlns:a16="http://schemas.microsoft.com/office/drawing/2014/main" id="{A462888D-93A4-47FD-87AB-19502EABA944}"/>
              </a:ext>
            </a:extLst>
          </p:cNvPr>
          <p:cNvSpPr>
            <a:spLocks xmlns:a="http://schemas.openxmlformats.org/drawingml/2006/main" noGrp="1"/>
          </p:cNvSpPr>
          <p:nvPr/>
        </p:nvSpPr>
        <p:spPr>
          <a:xfrm xmlns:a="http://schemas.openxmlformats.org/drawingml/2006/main">
            <a:off x="5572125" y="3095625"/>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Nhãn nhiễu theo rating</a:t>
            </a:r>
          </a:p>
        </p:txBody>
      </p:sp>
      <p:sp>
        <p:nvSpPr>
          <p:cNvPr id="15" name="">
            <a:extLst xmlns:a="http://schemas.openxmlformats.org/drawingml/2006/main">
              <a:ext uri="{FF2B5EF4-FFF2-40B4-BE49-F238E27FC236}">
                <a16:creationId xmlns:a16="http://schemas.microsoft.com/office/drawing/2014/main" id="{370E74C0-4597-464F-9248-1D64B163D349}"/>
              </a:ext>
            </a:extLst>
          </p:cNvPr>
          <p:cNvSpPr>
            <a:spLocks xmlns:a="http://schemas.openxmlformats.org/drawingml/2006/main" noGrp="1"/>
          </p:cNvSpPr>
          <p:nvPr/>
        </p:nvSpPr>
        <p:spPr>
          <a:xfrm xmlns:a="http://schemas.openxmlformats.org/drawingml/2006/main">
            <a:off x="5572125" y="3552825"/>
            <a:ext cx="5334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Giọng văn và nhãn suy ra từ số sao không hoàn toàn nhất quán.</a:t>
            </a:r>
          </a:p>
        </p:txBody>
      </p:sp>
      <p:sp>
        <p:nvSpPr>
          <p:cNvPr id="16" name="">
            <a:extLst xmlns:a="http://schemas.openxmlformats.org/drawingml/2006/main">
              <a:ext uri="{FF2B5EF4-FFF2-40B4-BE49-F238E27FC236}">
                <a16:creationId xmlns:a16="http://schemas.microsoft.com/office/drawing/2014/main" id="{D3ACFAAC-0A55-4781-878E-A6F95426B4A6}"/>
              </a:ext>
            </a:extLst>
          </p:cNvPr>
          <p:cNvSpPr>
            <a:spLocks xmlns:a="http://schemas.openxmlformats.org/drawingml/2006/main" noGrp="1"/>
          </p:cNvSpPr>
          <p:nvPr/>
        </p:nvSpPr>
        <p:spPr>
          <a:xfrm xmlns:a="http://schemas.openxmlformats.org/drawingml/2006/main">
            <a:off x="4000500" y="4276725"/>
            <a:ext cx="695325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344D8738-B769-4B79-B87C-D245641E2681}"/>
              </a:ext>
            </a:extLst>
          </p:cNvPr>
          <p:cNvSpPr>
            <a:spLocks xmlns:a="http://schemas.openxmlformats.org/drawingml/2006/main" noGrp="1"/>
          </p:cNvSpPr>
          <p:nvPr/>
        </p:nvSpPr>
        <p:spPr>
          <a:xfrm xmlns:a="http://schemas.openxmlformats.org/drawingml/2006/main">
            <a:off x="4000500" y="4476750"/>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556"/>
          </a:bodyPr>
          <a:lstStyle xmlns:a="http://schemas.openxmlformats.org/drawingml/2006/main"/>
          <a:p xmlns:a="http://schemas.openxmlformats.org/drawingml/2006/main">
            <a:pPr algn="l">
              <a:defRPr sz="2250" b="1">
                <a:solidFill>
                  <a:srgbClr val="78A7FF"/>
                </a:solidFill>
                <a:latin typeface="Helvetica Neue"/>
                <a:ea typeface="Helvetica Neue"/>
                <a:cs typeface="Helvetica Neue"/>
              </a:defRPr>
            </a:pPr>
            <a:r>
              <a:rPr sz="2250" b="1">
                <a:solidFill>
                  <a:srgbClr val="78A7FF"/>
                </a:solidFill>
                <a:latin typeface="Helvetica Neue"/>
                <a:ea typeface="Helvetica Neue"/>
                <a:cs typeface="Helvetica Neue"/>
              </a:rPr>
              <a:t>1 / 15</a:t>
            </a:r>
          </a:p>
        </p:txBody>
      </p:sp>
      <p:sp>
        <p:nvSpPr>
          <p:cNvPr id="18" name="">
            <a:extLst xmlns:a="http://schemas.openxmlformats.org/drawingml/2006/main">
              <a:ext uri="{FF2B5EF4-FFF2-40B4-BE49-F238E27FC236}">
                <a16:creationId xmlns:a16="http://schemas.microsoft.com/office/drawing/2014/main" id="{5E4AA18E-6EBB-48F1-B05B-678151E4C845}"/>
              </a:ext>
            </a:extLst>
          </p:cNvPr>
          <p:cNvSpPr>
            <a:spLocks xmlns:a="http://schemas.openxmlformats.org/drawingml/2006/main" noGrp="1"/>
          </p:cNvSpPr>
          <p:nvPr/>
        </p:nvSpPr>
        <p:spPr>
          <a:xfrm xmlns:a="http://schemas.openxmlformats.org/drawingml/2006/main">
            <a:off x="5572125" y="4476750"/>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Review dài, đa khía cạnh</a:t>
            </a:r>
          </a:p>
        </p:txBody>
      </p:sp>
      <p:sp>
        <p:nvSpPr>
          <p:cNvPr id="19" name="">
            <a:extLst xmlns:a="http://schemas.openxmlformats.org/drawingml/2006/main">
              <a:ext uri="{FF2B5EF4-FFF2-40B4-BE49-F238E27FC236}">
                <a16:creationId xmlns:a16="http://schemas.microsoft.com/office/drawing/2014/main" id="{23477CAC-A4A1-4F14-9C26-C21521C47153}"/>
              </a:ext>
            </a:extLst>
          </p:cNvPr>
          <p:cNvSpPr>
            <a:spLocks xmlns:a="http://schemas.openxmlformats.org/drawingml/2006/main" noGrp="1"/>
          </p:cNvSpPr>
          <p:nvPr/>
        </p:nvSpPr>
        <p:spPr>
          <a:xfrm xmlns:a="http://schemas.openxmlformats.org/drawingml/2006/main">
            <a:off x="5572125" y="4933950"/>
            <a:ext cx="5334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Nhiều thời điểm và chủ đề khiến TF-IDF khó tổng hợp thành một cực tính.</a:t>
            </a:r>
          </a:p>
        </p:txBody>
      </p:sp>
      <p:sp>
        <p:nvSpPr>
          <p:cNvPr id="20" name="">
            <a:extLst xmlns:a="http://schemas.openxmlformats.org/drawingml/2006/main">
              <a:ext uri="{FF2B5EF4-FFF2-40B4-BE49-F238E27FC236}">
                <a16:creationId xmlns:a16="http://schemas.microsoft.com/office/drawing/2014/main" id="{9B1D8E53-6C48-4336-B97D-B35EE7B4E612}"/>
              </a:ext>
            </a:extLst>
          </p:cNvPr>
          <p:cNvSpPr>
            <a:spLocks xmlns:a="http://schemas.openxmlformats.org/drawingml/2006/main" noGrp="1"/>
          </p:cNvSpPr>
          <p:nvPr/>
        </p:nvSpPr>
        <p:spPr>
          <a:xfrm xmlns:a="http://schemas.openxmlformats.org/drawingml/2006/main">
            <a:off x="609600" y="5857875"/>
            <a:ext cx="10287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425" b="0">
                <a:solidFill>
                  <a:srgbClr val="45D9A0"/>
                </a:solidFill>
                <a:latin typeface="Helvetica Neue"/>
                <a:ea typeface="Helvetica Neue"/>
                <a:cs typeface="Helvetica Neue"/>
              </a:defRPr>
            </a:pPr>
            <a:r>
              <a:rPr sz="1425" b="0">
                <a:solidFill>
                  <a:srgbClr val="45D9A0"/>
                </a:solidFill>
                <a:latin typeface="Helvetica Neue"/>
                <a:ea typeface="Helvetica Neue"/>
                <a:cs typeface="Helvetica Neue"/>
              </a:rPr>
              <a:t>Hướng cải thiện phù hợp: gán nhãn thủ công một tập nhỏ và mở rộng sang phân tích cảm xúc theo khía cạnh.</a:t>
            </a:r>
          </a:p>
        </p:txBody>
      </p:sp>
    </p:spTree>
    <p:extLst>
      <p:ext uri="{BB962C8B-B14F-4D97-AF65-F5344CB8AC3E}">
        <p14:creationId xmlns:p14="http://schemas.microsoft.com/office/powerpoint/2010/main" val="1806180849"/>
      </p:ext>
    </p:extLst>
  </p:cSld>
</p:sld>
</file>

<file path=ppt/slides/slide11.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1185D96-8958-46B4-B0F7-A9EB379B6D31}"/>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10 · INSIGHT DOANH NGHIỆP</a:t>
            </a:r>
          </a:p>
        </p:txBody>
      </p:sp>
      <p:sp>
        <p:nvSpPr>
          <p:cNvPr id="2" name="">
            <a:extLst xmlns:a="http://schemas.openxmlformats.org/drawingml/2006/main">
              <a:ext uri="{FF2B5EF4-FFF2-40B4-BE49-F238E27FC236}">
                <a16:creationId xmlns:a16="http://schemas.microsoft.com/office/drawing/2014/main" id="{73BD758C-9C7E-41F1-9419-DD75AB43F189}"/>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Salary &amp; benefits thấp nhất ở 4/5 công ty</a:t>
            </a:r>
          </a:p>
        </p:txBody>
      </p:sp>
      <p:sp>
        <p:nvSpPr>
          <p:cNvPr id="3" name="">
            <a:extLst xmlns:a="http://schemas.openxmlformats.org/drawingml/2006/main">
              <a:ext uri="{FF2B5EF4-FFF2-40B4-BE49-F238E27FC236}">
                <a16:creationId xmlns:a16="http://schemas.microsoft.com/office/drawing/2014/main" id="{8DF3D923-F2DD-4EF5-85D7-167CCCF8814D}"/>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00B7737-2736-4A41-A271-9D1D635B5729}"/>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11 / 15</a:t>
            </a:r>
          </a:p>
        </p:txBody>
      </p:sp>
      <p:graphicFrame>
        <p:nvGraphicFramePr>
          <p:cNvPr id="20" name="Chart"/>
          <p:cNvGraphicFramePr/>
          <p:nvPr/>
        </p:nvGraphicFramePr>
        <p:xfrm>
          <a:off xmlns:a="http://schemas.openxmlformats.org/drawingml/2006/main" x="609600" y="1619250"/>
          <a:ext xmlns:a="http://schemas.openxmlformats.org/drawingml/2006/main" cx="7620000" cy="4143375"/>
        </p:xfrm>
        <a:graphic xmlns:a="http://schemas.openxmlformats.org/drawingml/2006/main">
          <a:graphicData uri="http://schemas.openxmlformats.org/drawingml/2006/chart">
            <c:chart xmlns:r="http://schemas.openxmlformats.org/officeDocument/2006/relationships" xmlns:c="http://schemas.openxmlformats.org/drawingml/2006/chart" r:id="R381f9b6847f64fac"/>
          </a:graphicData>
        </a:graphic>
      </p:graphicFrame>
      <p:sp>
        <p:nvSpPr>
          <p:cNvPr id="6" name="">
            <a:extLst xmlns:a="http://schemas.openxmlformats.org/drawingml/2006/main">
              <a:ext uri="{FF2B5EF4-FFF2-40B4-BE49-F238E27FC236}">
                <a16:creationId xmlns:a16="http://schemas.microsoft.com/office/drawing/2014/main" id="{DE632A67-5FC1-49BC-B369-B6DF5564127E}"/>
              </a:ext>
            </a:extLst>
          </p:cNvPr>
          <p:cNvSpPr>
            <a:spLocks xmlns:a="http://schemas.openxmlformats.org/drawingml/2006/main" noGrp="1"/>
          </p:cNvSpPr>
          <p:nvPr/>
        </p:nvSpPr>
        <p:spPr>
          <a:xfrm xmlns:a="http://schemas.openxmlformats.org/drawingml/2006/main">
            <a:off x="8667750" y="1876425"/>
            <a:ext cx="57150" cy="3048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82C5A992-E2B3-4131-8303-91478C67B98E}"/>
              </a:ext>
            </a:extLst>
          </p:cNvPr>
          <p:cNvSpPr>
            <a:spLocks xmlns:a="http://schemas.openxmlformats.org/drawingml/2006/main" noGrp="1"/>
          </p:cNvSpPr>
          <p:nvPr/>
        </p:nvSpPr>
        <p:spPr>
          <a:xfrm xmlns:a="http://schemas.openxmlformats.org/drawingml/2006/main">
            <a:off x="8858250" y="1809750"/>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667"/>
          </a:bodyPr>
          <a:lstStyle xmlns:a="http://schemas.openxmlformats.org/drawingml/2006/main"/>
          <a:p xmlns:a="http://schemas.openxmlformats.org/drawingml/2006/main">
            <a:pPr algn="l">
              <a:defRPr sz="1500" b="1">
                <a:solidFill>
                  <a:srgbClr val="F4F7FB"/>
                </a:solidFill>
                <a:latin typeface="Helvetica Neue"/>
                <a:ea typeface="Helvetica Neue"/>
                <a:cs typeface="Helvetica Neue"/>
              </a:defRPr>
            </a:pPr>
            <a:r>
              <a:rPr sz="1500" b="1">
                <a:solidFill>
                  <a:srgbClr val="F4F7FB"/>
                </a:solidFill>
                <a:latin typeface="Helvetica Neue"/>
                <a:ea typeface="Helvetica Neue"/>
                <a:cs typeface="Helvetica Neue"/>
              </a:rPr>
              <a:t>FPT, NashTech, Bosch, KMS</a:t>
            </a:r>
          </a:p>
        </p:txBody>
      </p:sp>
      <p:sp>
        <p:nvSpPr>
          <p:cNvPr id="8" name="">
            <a:extLst xmlns:a="http://schemas.openxmlformats.org/drawingml/2006/main">
              <a:ext uri="{FF2B5EF4-FFF2-40B4-BE49-F238E27FC236}">
                <a16:creationId xmlns:a16="http://schemas.microsoft.com/office/drawing/2014/main" id="{55F08E66-B61D-4E97-93FE-79BC2E05CD20}"/>
              </a:ext>
            </a:extLst>
          </p:cNvPr>
          <p:cNvSpPr>
            <a:spLocks xmlns:a="http://schemas.openxmlformats.org/drawingml/2006/main" noGrp="1"/>
          </p:cNvSpPr>
          <p:nvPr/>
        </p:nvSpPr>
        <p:spPr>
          <a:xfrm xmlns:a="http://schemas.openxmlformats.org/drawingml/2006/main">
            <a:off x="8858250" y="2095500"/>
            <a:ext cx="266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Khía cạnh thấp nhất: Salary &amp; benefits.</a:t>
            </a:r>
          </a:p>
        </p:txBody>
      </p:sp>
      <p:sp>
        <p:nvSpPr>
          <p:cNvPr id="9" name="">
            <a:extLst xmlns:a="http://schemas.openxmlformats.org/drawingml/2006/main">
              <a:ext uri="{FF2B5EF4-FFF2-40B4-BE49-F238E27FC236}">
                <a16:creationId xmlns:a16="http://schemas.microsoft.com/office/drawing/2014/main" id="{E27A0399-BDF5-48E4-B5AB-FF748D2516A5}"/>
              </a:ext>
            </a:extLst>
          </p:cNvPr>
          <p:cNvSpPr>
            <a:spLocks xmlns:a="http://schemas.openxmlformats.org/drawingml/2006/main" noGrp="1"/>
          </p:cNvSpPr>
          <p:nvPr/>
        </p:nvSpPr>
        <p:spPr>
          <a:xfrm xmlns:a="http://schemas.openxmlformats.org/drawingml/2006/main">
            <a:off x="8667750" y="2876550"/>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CFFA970-F7DE-479E-8AD5-A1D46255C2FB}"/>
              </a:ext>
            </a:extLst>
          </p:cNvPr>
          <p:cNvSpPr>
            <a:spLocks xmlns:a="http://schemas.openxmlformats.org/drawingml/2006/main" noGrp="1"/>
          </p:cNvSpPr>
          <p:nvPr/>
        </p:nvSpPr>
        <p:spPr>
          <a:xfrm xmlns:a="http://schemas.openxmlformats.org/drawingml/2006/main">
            <a:off x="8858250" y="2809875"/>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667"/>
          </a:bodyPr>
          <a:lstStyle xmlns:a="http://schemas.openxmlformats.org/drawingml/2006/main"/>
          <a:p xmlns:a="http://schemas.openxmlformats.org/drawingml/2006/main">
            <a:pPr algn="l">
              <a:defRPr sz="1500" b="1">
                <a:solidFill>
                  <a:srgbClr val="F4F7FB"/>
                </a:solidFill>
                <a:latin typeface="Helvetica Neue"/>
                <a:ea typeface="Helvetica Neue"/>
                <a:cs typeface="Helvetica Neue"/>
              </a:defRPr>
            </a:pPr>
            <a:r>
              <a:rPr sz="1500" b="1">
                <a:solidFill>
                  <a:srgbClr val="F4F7FB"/>
                </a:solidFill>
                <a:latin typeface="Helvetica Neue"/>
                <a:ea typeface="Helvetica Neue"/>
                <a:cs typeface="Helvetica Neue"/>
              </a:rPr>
              <a:t>VNG</a:t>
            </a:r>
          </a:p>
        </p:txBody>
      </p:sp>
      <p:sp>
        <p:nvSpPr>
          <p:cNvPr id="11" name="">
            <a:extLst xmlns:a="http://schemas.openxmlformats.org/drawingml/2006/main">
              <a:ext uri="{FF2B5EF4-FFF2-40B4-BE49-F238E27FC236}">
                <a16:creationId xmlns:a16="http://schemas.microsoft.com/office/drawing/2014/main" id="{17E8995B-8E6C-4669-B335-50BC918889B9}"/>
              </a:ext>
            </a:extLst>
          </p:cNvPr>
          <p:cNvSpPr>
            <a:spLocks xmlns:a="http://schemas.openxmlformats.org/drawingml/2006/main" noGrp="1"/>
          </p:cNvSpPr>
          <p:nvPr/>
        </p:nvSpPr>
        <p:spPr>
          <a:xfrm xmlns:a="http://schemas.openxmlformats.org/drawingml/2006/main">
            <a:off x="8858250" y="3095625"/>
            <a:ext cx="266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Khía cạnh thấp nhất: Management cares about me.</a:t>
            </a:r>
          </a:p>
        </p:txBody>
      </p:sp>
      <p:sp>
        <p:nvSpPr>
          <p:cNvPr id="12" name="">
            <a:extLst xmlns:a="http://schemas.openxmlformats.org/drawingml/2006/main">
              <a:ext uri="{FF2B5EF4-FFF2-40B4-BE49-F238E27FC236}">
                <a16:creationId xmlns:a16="http://schemas.microsoft.com/office/drawing/2014/main" id="{989B60B7-6884-4FD0-84AF-A564FAD7990D}"/>
              </a:ext>
            </a:extLst>
          </p:cNvPr>
          <p:cNvSpPr>
            <a:spLocks xmlns:a="http://schemas.openxmlformats.org/drawingml/2006/main" noGrp="1"/>
          </p:cNvSpPr>
          <p:nvPr/>
        </p:nvSpPr>
        <p:spPr>
          <a:xfrm xmlns:a="http://schemas.openxmlformats.org/drawingml/2006/main">
            <a:off x="8667750" y="3876675"/>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DC44E14-0490-4571-AF77-C84CB0D3E9CD}"/>
              </a:ext>
            </a:extLst>
          </p:cNvPr>
          <p:cNvSpPr>
            <a:spLocks xmlns:a="http://schemas.openxmlformats.org/drawingml/2006/main" noGrp="1"/>
          </p:cNvSpPr>
          <p:nvPr/>
        </p:nvSpPr>
        <p:spPr>
          <a:xfrm xmlns:a="http://schemas.openxmlformats.org/drawingml/2006/main">
            <a:off x="8858250" y="3810000"/>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667"/>
          </a:bodyPr>
          <a:lstStyle xmlns:a="http://schemas.openxmlformats.org/drawingml/2006/main"/>
          <a:p xmlns:a="http://schemas.openxmlformats.org/drawingml/2006/main">
            <a:pPr algn="l">
              <a:defRPr sz="1500" b="1">
                <a:solidFill>
                  <a:srgbClr val="F4F7FB"/>
                </a:solidFill>
                <a:latin typeface="Helvetica Neue"/>
                <a:ea typeface="Helvetica Neue"/>
                <a:cs typeface="Helvetica Neue"/>
              </a:defRPr>
            </a:pPr>
            <a:r>
              <a:rPr sz="1500" b="1">
                <a:solidFill>
                  <a:srgbClr val="F4F7FB"/>
                </a:solidFill>
                <a:latin typeface="Helvetica Neue"/>
                <a:ea typeface="Helvetica Neue"/>
                <a:cs typeface="Helvetica Neue"/>
              </a:rPr>
              <a:t>Cỡ mẫu khác nhau</a:t>
            </a:r>
          </a:p>
        </p:txBody>
      </p:sp>
      <p:sp>
        <p:nvSpPr>
          <p:cNvPr id="14" name="">
            <a:extLst xmlns:a="http://schemas.openxmlformats.org/drawingml/2006/main">
              <a:ext uri="{FF2B5EF4-FFF2-40B4-BE49-F238E27FC236}">
                <a16:creationId xmlns:a16="http://schemas.microsoft.com/office/drawing/2014/main" id="{7D5E024D-DB2E-4F06-BFEA-A4FFFCB77927}"/>
              </a:ext>
            </a:extLst>
          </p:cNvPr>
          <p:cNvSpPr>
            <a:spLocks xmlns:a="http://schemas.openxmlformats.org/drawingml/2006/main" noGrp="1"/>
          </p:cNvSpPr>
          <p:nvPr/>
        </p:nvSpPr>
        <p:spPr>
          <a:xfrm xmlns:a="http://schemas.openxmlformats.org/drawingml/2006/main">
            <a:off x="8858250" y="4095750"/>
            <a:ext cx="266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FPT có 2.014 review, KMS 251 và VNG 259.</a:t>
            </a:r>
          </a:p>
        </p:txBody>
      </p:sp>
      <p:sp>
        <p:nvSpPr>
          <p:cNvPr id="15" name="">
            <a:extLst xmlns:a="http://schemas.openxmlformats.org/drawingml/2006/main">
              <a:ext uri="{FF2B5EF4-FFF2-40B4-BE49-F238E27FC236}">
                <a16:creationId xmlns:a16="http://schemas.microsoft.com/office/drawing/2014/main" id="{02CC1102-C68B-4C38-8EC2-82B6CE90E871}"/>
              </a:ext>
            </a:extLst>
          </p:cNvPr>
          <p:cNvSpPr>
            <a:spLocks xmlns:a="http://schemas.openxmlformats.org/drawingml/2006/main" noGrp="1"/>
          </p:cNvSpPr>
          <p:nvPr/>
        </p:nvSpPr>
        <p:spPr>
          <a:xfrm xmlns:a="http://schemas.openxmlformats.org/drawingml/2006/main">
            <a:off x="609600" y="5953125"/>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Đây là phân tích mô tả của 5 công ty có nhiều review nhất, không phải bảng xếp hạng chất lượng doanh nghiệp.</a:t>
            </a:r>
          </a:p>
        </p:txBody>
      </p:sp>
    </p:spTree>
    <p:extLst>
      <p:ext uri="{BB962C8B-B14F-4D97-AF65-F5344CB8AC3E}">
        <p14:creationId xmlns:p14="http://schemas.microsoft.com/office/powerpoint/2010/main" val="1283201423"/>
      </p:ext>
    </p:extLst>
  </p:cSld>
</p:sld>
</file>

<file path=ppt/slides/slide12.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2484A2E-E31A-481B-B445-D37DA6C9E5B9}"/>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11 · DIỄN GIẢI</a:t>
            </a:r>
          </a:p>
        </p:txBody>
      </p:sp>
      <p:sp>
        <p:nvSpPr>
          <p:cNvPr id="2" name="">
            <a:extLst xmlns:a="http://schemas.openxmlformats.org/drawingml/2006/main">
              <a:ext uri="{FF2B5EF4-FFF2-40B4-BE49-F238E27FC236}">
                <a16:creationId xmlns:a16="http://schemas.microsoft.com/office/drawing/2014/main" id="{B8B0C08F-A987-40F1-AC29-CE4DD1F13925}"/>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584"/>
          </a:bodyPr>
          <a:lstStyle xmlns:a="http://schemas.openxmlformats.org/drawingml/2006/main"/>
          <a:p xmlns:a="http://schemas.openxmlformats.org/drawingml/2006/main">
            <a:pPr algn="l">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TF-IDF cho biết độ nổi bật, không cho biết chiều tác động</a:t>
            </a:r>
          </a:p>
        </p:txBody>
      </p:sp>
      <p:sp>
        <p:nvSpPr>
          <p:cNvPr id="3" name="">
            <a:extLst xmlns:a="http://schemas.openxmlformats.org/drawingml/2006/main">
              <a:ext uri="{FF2B5EF4-FFF2-40B4-BE49-F238E27FC236}">
                <a16:creationId xmlns:a16="http://schemas.microsoft.com/office/drawing/2014/main" id="{94044FD0-196F-494A-BE89-B9FD55BBE5BE}"/>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3786F04-6C60-428D-8EFC-3FF7783E0772}"/>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12 / 15</a:t>
            </a:r>
          </a:p>
        </p:txBody>
      </p:sp>
      <p:graphicFrame>
        <p:nvGraphicFramePr>
          <p:cNvPr id="17" name="Chart"/>
          <p:cNvGraphicFramePr/>
          <p:nvPr/>
        </p:nvGraphicFramePr>
        <p:xfrm>
          <a:off xmlns:a="http://schemas.openxmlformats.org/drawingml/2006/main" x="609600" y="1619250"/>
          <a:ext xmlns:a="http://schemas.openxmlformats.org/drawingml/2006/main" cx="6858000" cy="4191000"/>
        </p:xfrm>
        <a:graphic xmlns:a="http://schemas.openxmlformats.org/drawingml/2006/main">
          <a:graphicData uri="http://schemas.openxmlformats.org/drawingml/2006/chart">
            <c:chart xmlns:r="http://schemas.openxmlformats.org/officeDocument/2006/relationships" xmlns:c="http://schemas.openxmlformats.org/drawingml/2006/chart" r:id="Rbc55fee72ab84298"/>
          </a:graphicData>
        </a:graphic>
      </p:graphicFrame>
      <p:sp>
        <p:nvSpPr>
          <p:cNvPr id="6" name="">
            <a:extLst xmlns:a="http://schemas.openxmlformats.org/drawingml/2006/main">
              <a:ext uri="{FF2B5EF4-FFF2-40B4-BE49-F238E27FC236}">
                <a16:creationId xmlns:a16="http://schemas.microsoft.com/office/drawing/2014/main" id="{BC81D14A-45EC-469D-800A-CD72352F4E47}"/>
              </a:ext>
            </a:extLst>
          </p:cNvPr>
          <p:cNvSpPr>
            <a:spLocks xmlns:a="http://schemas.openxmlformats.org/drawingml/2006/main" noGrp="1"/>
          </p:cNvSpPr>
          <p:nvPr/>
        </p:nvSpPr>
        <p:spPr>
          <a:xfrm xmlns:a="http://schemas.openxmlformats.org/drawingml/2006/main">
            <a:off x="5572125" y="1724025"/>
            <a:ext cx="1666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222"/>
          </a:bodyPr>
          <a:lstStyle xmlns:a="http://schemas.openxmlformats.org/drawingml/2006/main"/>
          <a:p xmlns:a="http://schemas.openxmlformats.org/drawingml/2006/main">
            <a:pPr algn="r">
              <a:defRPr sz="900" b="1">
                <a:solidFill>
                  <a:srgbClr val="A7B3C4"/>
                </a:solidFill>
                <a:latin typeface="Helvetica Neue"/>
                <a:ea typeface="Helvetica Neue"/>
                <a:cs typeface="Helvetica Neue"/>
              </a:defRPr>
            </a:pPr>
            <a:r>
              <a:rPr sz="900" b="1">
                <a:solidFill>
                  <a:srgbClr val="A7B3C4"/>
                </a:solidFill>
                <a:latin typeface="Helvetica Neue"/>
                <a:ea typeface="Helvetica Neue"/>
                <a:cs typeface="Helvetica Neue"/>
              </a:rPr>
              <a:t>TRỌNG SỐ TF-IDF (%)</a:t>
            </a:r>
          </a:p>
        </p:txBody>
      </p:sp>
      <p:sp>
        <p:nvSpPr>
          <p:cNvPr id="7" name="">
            <a:extLst xmlns:a="http://schemas.openxmlformats.org/drawingml/2006/main">
              <a:ext uri="{FF2B5EF4-FFF2-40B4-BE49-F238E27FC236}">
                <a16:creationId xmlns:a16="http://schemas.microsoft.com/office/drawing/2014/main" id="{9B587D77-EC0E-4ACE-9143-B74E90A39B2E}"/>
              </a:ext>
            </a:extLst>
          </p:cNvPr>
          <p:cNvSpPr>
            <a:spLocks xmlns:a="http://schemas.openxmlformats.org/drawingml/2006/main" noGrp="1"/>
          </p:cNvSpPr>
          <p:nvPr/>
        </p:nvSpPr>
        <p:spPr>
          <a:xfrm xmlns:a="http://schemas.openxmlformats.org/drawingml/2006/main">
            <a:off x="8096250" y="1809750"/>
            <a:ext cx="276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defRPr sz="975" b="1">
                <a:solidFill>
                  <a:srgbClr val="FF667B"/>
                </a:solidFill>
                <a:latin typeface="Helvetica Neue"/>
                <a:ea typeface="Helvetica Neue"/>
                <a:cs typeface="Helvetica Neue"/>
              </a:defRPr>
            </a:pPr>
            <a:r>
              <a:rPr sz="975" b="1">
                <a:solidFill>
                  <a:srgbClr val="FF667B"/>
                </a:solidFill>
                <a:latin typeface="Helvetica Neue"/>
                <a:ea typeface="Helvetica Neue"/>
                <a:cs typeface="Helvetica Neue"/>
              </a:rPr>
              <a:t>NEGATIVE</a:t>
            </a:r>
          </a:p>
        </p:txBody>
      </p:sp>
      <p:sp>
        <p:nvSpPr>
          <p:cNvPr id="8" name="">
            <a:extLst xmlns:a="http://schemas.openxmlformats.org/drawingml/2006/main">
              <a:ext uri="{FF2B5EF4-FFF2-40B4-BE49-F238E27FC236}">
                <a16:creationId xmlns:a16="http://schemas.microsoft.com/office/drawing/2014/main" id="{5E9D3060-6352-4507-99BD-0A4E7BDE3BEB}"/>
              </a:ext>
            </a:extLst>
          </p:cNvPr>
          <p:cNvSpPr>
            <a:spLocks xmlns:a="http://schemas.openxmlformats.org/drawingml/2006/main" noGrp="1"/>
          </p:cNvSpPr>
          <p:nvPr/>
        </p:nvSpPr>
        <p:spPr>
          <a:xfrm xmlns:a="http://schemas.openxmlformats.org/drawingml/2006/main">
            <a:off x="8096250" y="2076450"/>
            <a:ext cx="2762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84,3%</a:t>
            </a:r>
          </a:p>
        </p:txBody>
      </p:sp>
      <p:sp>
        <p:nvSpPr>
          <p:cNvPr id="9" name="">
            <a:extLst xmlns:a="http://schemas.openxmlformats.org/drawingml/2006/main">
              <a:ext uri="{FF2B5EF4-FFF2-40B4-BE49-F238E27FC236}">
                <a16:creationId xmlns:a16="http://schemas.microsoft.com/office/drawing/2014/main" id="{E4E49424-7AC9-4E99-812F-910C1C6D14AB}"/>
              </a:ext>
            </a:extLst>
          </p:cNvPr>
          <p:cNvSpPr>
            <a:spLocks xmlns:a="http://schemas.openxmlformats.org/drawingml/2006/main" noGrp="1"/>
          </p:cNvSpPr>
          <p:nvPr/>
        </p:nvSpPr>
        <p:spPr>
          <a:xfrm xmlns:a="http://schemas.openxmlformats.org/drawingml/2006/main">
            <a:off x="8096250" y="304800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defRPr sz="1575" b="1">
                <a:solidFill>
                  <a:srgbClr val="78A7FF"/>
                </a:solidFill>
                <a:latin typeface="Helvetica Neue"/>
                <a:ea typeface="Helvetica Neue"/>
                <a:cs typeface="Helvetica Neue"/>
              </a:defRPr>
            </a:pPr>
            <a:r>
              <a:rPr sz="1575" b="1">
                <a:solidFill>
                  <a:srgbClr val="78A7FF"/>
                </a:solidFill>
                <a:latin typeface="Helvetica Neue"/>
                <a:ea typeface="Helvetica Neue"/>
                <a:cs typeface="Helvetica Neue"/>
              </a:rPr>
              <a:t>Bigram có mặt</a:t>
            </a:r>
          </a:p>
        </p:txBody>
      </p:sp>
      <p:sp>
        <p:nvSpPr>
          <p:cNvPr id="10" name="">
            <a:extLst xmlns:a="http://schemas.openxmlformats.org/drawingml/2006/main">
              <a:ext uri="{FF2B5EF4-FFF2-40B4-BE49-F238E27FC236}">
                <a16:creationId xmlns:a16="http://schemas.microsoft.com/office/drawing/2014/main" id="{A65E553C-DFFF-4687-ACD5-4AED3E0801F0}"/>
              </a:ext>
            </a:extLst>
          </p:cNvPr>
          <p:cNvSpPr>
            <a:spLocks xmlns:a="http://schemas.openxmlformats.org/drawingml/2006/main" noGrp="1"/>
          </p:cNvSpPr>
          <p:nvPr/>
        </p:nvSpPr>
        <p:spPr>
          <a:xfrm xmlns:a="http://schemas.openxmlformats.org/drawingml/2006/main">
            <a:off x="8096250" y="3429000"/>
            <a:ext cx="2762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500" b="0">
                <a:solidFill>
                  <a:srgbClr val="A7B3C4"/>
                </a:solidFill>
                <a:latin typeface="Helvetica Neue"/>
                <a:ea typeface="Helvetica Neue"/>
                <a:cs typeface="Helvetica Neue"/>
              </a:defRPr>
            </a:pPr>
            <a:r>
              <a:rPr sz="1500" b="0">
                <a:solidFill>
                  <a:srgbClr val="A7B3C4"/>
                </a:solidFill>
                <a:latin typeface="Helvetica Neue"/>
                <a:ea typeface="Helvetica Neue"/>
                <a:cs typeface="Helvetica Neue"/>
              </a:rPr>
              <a:t>“không lương” là một đặc trưng riêng trong từ vựng.</a:t>
            </a:r>
          </a:p>
        </p:txBody>
      </p:sp>
      <p:sp>
        <p:nvSpPr>
          <p:cNvPr id="11" name="">
            <a:extLst xmlns:a="http://schemas.openxmlformats.org/drawingml/2006/main">
              <a:ext uri="{FF2B5EF4-FFF2-40B4-BE49-F238E27FC236}">
                <a16:creationId xmlns:a16="http://schemas.microsoft.com/office/drawing/2014/main" id="{92AFBDE7-3896-470E-B6EB-780F42B7C869}"/>
              </a:ext>
            </a:extLst>
          </p:cNvPr>
          <p:cNvSpPr>
            <a:spLocks xmlns:a="http://schemas.openxmlformats.org/drawingml/2006/main" noGrp="1"/>
          </p:cNvSpPr>
          <p:nvPr/>
        </p:nvSpPr>
        <p:spPr>
          <a:xfrm xmlns:a="http://schemas.openxmlformats.org/drawingml/2006/main">
            <a:off x="8096250" y="447675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defRPr sz="1575" b="1">
                <a:solidFill>
                  <a:srgbClr val="F4D35E"/>
                </a:solidFill>
                <a:latin typeface="Helvetica Neue"/>
                <a:ea typeface="Helvetica Neue"/>
                <a:cs typeface="Helvetica Neue"/>
              </a:defRPr>
            </a:pPr>
            <a:r>
              <a:rPr sz="1575" b="1">
                <a:solidFill>
                  <a:srgbClr val="F4D35E"/>
                </a:solidFill>
                <a:latin typeface="Helvetica Neue"/>
                <a:ea typeface="Helvetica Neue"/>
                <a:cs typeface="Helvetica Neue"/>
              </a:rPr>
              <a:t>Giới hạn diễn giải</a:t>
            </a:r>
          </a:p>
        </p:txBody>
      </p:sp>
      <p:sp>
        <p:nvSpPr>
          <p:cNvPr id="12" name="">
            <a:extLst xmlns:a="http://schemas.openxmlformats.org/drawingml/2006/main">
              <a:ext uri="{FF2B5EF4-FFF2-40B4-BE49-F238E27FC236}">
                <a16:creationId xmlns:a16="http://schemas.microsoft.com/office/drawing/2014/main" id="{E29356B4-3FDE-4B23-93F2-B7D02830DAF6}"/>
              </a:ext>
            </a:extLst>
          </p:cNvPr>
          <p:cNvSpPr>
            <a:spLocks xmlns:a="http://schemas.openxmlformats.org/drawingml/2006/main" noGrp="1"/>
          </p:cNvSpPr>
          <p:nvPr/>
        </p:nvSpPr>
        <p:spPr>
          <a:xfrm xmlns:a="http://schemas.openxmlformats.org/drawingml/2006/main">
            <a:off x="8096250" y="4857750"/>
            <a:ext cx="295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Trọng số TF-IDF chỉ phản ánh mức nổi bật trong câu. Muốn biết chiều tác động cần kết hợp hệ số của mô hình.</a:t>
            </a:r>
          </a:p>
        </p:txBody>
      </p:sp>
    </p:spTree>
    <p:extLst>
      <p:ext uri="{BB962C8B-B14F-4D97-AF65-F5344CB8AC3E}">
        <p14:creationId xmlns:p14="http://schemas.microsoft.com/office/powerpoint/2010/main" val="1909509734"/>
      </p:ext>
    </p:extLst>
  </p:cSld>
</p:sld>
</file>

<file path=ppt/slides/slide13.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725BCB96-FE0D-4B83-B045-1ACBF94C420E}"/>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12 · ĐÁNH GIÁ</a:t>
            </a:r>
          </a:p>
        </p:txBody>
      </p:sp>
      <p:sp>
        <p:nvSpPr>
          <p:cNvPr id="2" name="">
            <a:extLst xmlns:a="http://schemas.openxmlformats.org/drawingml/2006/main">
              <a:ext uri="{FF2B5EF4-FFF2-40B4-BE49-F238E27FC236}">
                <a16:creationId xmlns:a16="http://schemas.microsoft.com/office/drawing/2014/main" id="{BF13A743-6DD9-4E84-8B05-7DD2C3039EAB}"/>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6589"/>
          </a:bodyPr>
          <a:lstStyle xmlns:a="http://schemas.openxmlformats.org/drawingml/2006/main"/>
          <a:p xmlns:a="http://schemas.openxmlformats.org/drawingml/2006/main">
            <a:pPr algn="l">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Kết quả ổn định, nhưng trần hiệu năng bị giới hạn bởi nhãn yếu</a:t>
            </a:r>
          </a:p>
        </p:txBody>
      </p:sp>
      <p:sp>
        <p:nvSpPr>
          <p:cNvPr id="3" name="">
            <a:extLst xmlns:a="http://schemas.openxmlformats.org/drawingml/2006/main">
              <a:ext uri="{FF2B5EF4-FFF2-40B4-BE49-F238E27FC236}">
                <a16:creationId xmlns:a16="http://schemas.microsoft.com/office/drawing/2014/main" id="{8A1935B4-F403-4110-ADDD-7175D372FE24}"/>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746968F-FC48-41CB-9859-04A0455F2BFA}"/>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13 / 15</a:t>
            </a:r>
          </a:p>
        </p:txBody>
      </p:sp>
      <p:sp>
        <p:nvSpPr>
          <p:cNvPr id="5" name="">
            <a:extLst xmlns:a="http://schemas.openxmlformats.org/drawingml/2006/main">
              <a:ext uri="{FF2B5EF4-FFF2-40B4-BE49-F238E27FC236}">
                <a16:creationId xmlns:a16="http://schemas.microsoft.com/office/drawing/2014/main" id="{5AF38950-E03B-4BE1-B6FD-9B3053BB0E63}"/>
              </a:ext>
            </a:extLst>
          </p:cNvPr>
          <p:cNvSpPr>
            <a:spLocks xmlns:a="http://schemas.openxmlformats.org/drawingml/2006/main" noGrp="1"/>
          </p:cNvSpPr>
          <p:nvPr/>
        </p:nvSpPr>
        <p:spPr>
          <a:xfrm xmlns:a="http://schemas.openxmlformats.org/drawingml/2006/main">
            <a:off x="609600" y="1714500"/>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333"/>
          </a:bodyPr>
          <a:lstStyle xmlns:a="http://schemas.openxmlformats.org/drawingml/2006/main"/>
          <a:p xmlns:a="http://schemas.openxmlformats.org/drawingml/2006/main">
            <a:pPr algn="l">
              <a:defRPr sz="1875" b="1">
                <a:solidFill>
                  <a:srgbClr val="45D9A0"/>
                </a:solidFill>
                <a:latin typeface="Helvetica Neue"/>
                <a:ea typeface="Helvetica Neue"/>
                <a:cs typeface="Helvetica Neue"/>
              </a:defRPr>
            </a:pPr>
            <a:r>
              <a:rPr sz="1875" b="1">
                <a:solidFill>
                  <a:srgbClr val="45D9A0"/>
                </a:solidFill>
                <a:latin typeface="Helvetica Neue"/>
                <a:ea typeface="Helvetica Neue"/>
                <a:cs typeface="Helvetica Neue"/>
              </a:rPr>
              <a:t>Đã hoàn thành</a:t>
            </a:r>
          </a:p>
        </p:txBody>
      </p:sp>
      <p:sp>
        <p:nvSpPr>
          <p:cNvPr id="6" name="">
            <a:extLst xmlns:a="http://schemas.openxmlformats.org/drawingml/2006/main">
              <a:ext uri="{FF2B5EF4-FFF2-40B4-BE49-F238E27FC236}">
                <a16:creationId xmlns:a16="http://schemas.microsoft.com/office/drawing/2014/main" id="{7ECD7964-F17A-4C10-A421-C4BE943B4224}"/>
              </a:ext>
            </a:extLst>
          </p:cNvPr>
          <p:cNvSpPr>
            <a:spLocks xmlns:a="http://schemas.openxmlformats.org/drawingml/2006/main" noGrp="1"/>
          </p:cNvSpPr>
          <p:nvPr/>
        </p:nvSpPr>
        <p:spPr>
          <a:xfrm xmlns:a="http://schemas.openxmlformats.org/drawingml/2006/main">
            <a:off x="609600" y="2381250"/>
            <a:ext cx="76200" cy="762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BA7AF28-53FC-4B11-A111-9C9E1156736D}"/>
              </a:ext>
            </a:extLst>
          </p:cNvPr>
          <p:cNvSpPr>
            <a:spLocks xmlns:a="http://schemas.openxmlformats.org/drawingml/2006/main" noGrp="1"/>
          </p:cNvSpPr>
          <p:nvPr/>
        </p:nvSpPr>
        <p:spPr>
          <a:xfrm xmlns:a="http://schemas.openxmlformats.org/drawingml/2006/main">
            <a:off x="838200" y="22383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F4F7FB"/>
                </a:solidFill>
                <a:latin typeface="Helvetica Neue"/>
                <a:ea typeface="Helvetica Neue"/>
                <a:cs typeface="Helvetica Neue"/>
              </a:defRPr>
            </a:pPr>
            <a:r>
              <a:rPr sz="1575" b="0">
                <a:solidFill>
                  <a:srgbClr val="F4F7FB"/>
                </a:solidFill>
                <a:latin typeface="Helvetica Neue"/>
                <a:ea typeface="Helvetica Neue"/>
                <a:cs typeface="Helvetica Neue"/>
              </a:rPr>
              <a:t>Pipeline text-only end-to-end</a:t>
            </a:r>
          </a:p>
        </p:txBody>
      </p:sp>
      <p:sp>
        <p:nvSpPr>
          <p:cNvPr id="8" name="">
            <a:extLst xmlns:a="http://schemas.openxmlformats.org/drawingml/2006/main">
              <a:ext uri="{FF2B5EF4-FFF2-40B4-BE49-F238E27FC236}">
                <a16:creationId xmlns:a16="http://schemas.microsoft.com/office/drawing/2014/main" id="{6EE23E0E-79D4-4DB5-850E-4FFAA13FE727}"/>
              </a:ext>
            </a:extLst>
          </p:cNvPr>
          <p:cNvSpPr>
            <a:spLocks xmlns:a="http://schemas.openxmlformats.org/drawingml/2006/main" noGrp="1"/>
          </p:cNvSpPr>
          <p:nvPr/>
        </p:nvSpPr>
        <p:spPr>
          <a:xfrm xmlns:a="http://schemas.openxmlformats.org/drawingml/2006/main">
            <a:off x="609600" y="3276600"/>
            <a:ext cx="76200" cy="762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1268E63-D856-46A3-9402-D63D858755A6}"/>
              </a:ext>
            </a:extLst>
          </p:cNvPr>
          <p:cNvSpPr>
            <a:spLocks xmlns:a="http://schemas.openxmlformats.org/drawingml/2006/main" noGrp="1"/>
          </p:cNvSpPr>
          <p:nvPr/>
        </p:nvSpPr>
        <p:spPr>
          <a:xfrm xmlns:a="http://schemas.openxmlformats.org/drawingml/2006/main">
            <a:off x="838200" y="313372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Chọn model bằng 5-fold CV</a:t>
            </a:r>
          </a:p>
        </p:txBody>
      </p:sp>
      <p:sp>
        <p:nvSpPr>
          <p:cNvPr id="10" name="">
            <a:extLst xmlns:a="http://schemas.openxmlformats.org/drawingml/2006/main">
              <a:ext uri="{FF2B5EF4-FFF2-40B4-BE49-F238E27FC236}">
                <a16:creationId xmlns:a16="http://schemas.microsoft.com/office/drawing/2014/main" id="{8DDA0C48-A893-4E79-8F02-07D48448C901}"/>
              </a:ext>
            </a:extLst>
          </p:cNvPr>
          <p:cNvSpPr>
            <a:spLocks xmlns:a="http://schemas.openxmlformats.org/drawingml/2006/main" noGrp="1"/>
          </p:cNvSpPr>
          <p:nvPr/>
        </p:nvSpPr>
        <p:spPr>
          <a:xfrm xmlns:a="http://schemas.openxmlformats.org/drawingml/2006/main">
            <a:off x="609600" y="4171950"/>
            <a:ext cx="76200" cy="762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E006A83-714F-4153-BE4E-37FB2D851B1E}"/>
              </a:ext>
            </a:extLst>
          </p:cNvPr>
          <p:cNvSpPr>
            <a:spLocks xmlns:a="http://schemas.openxmlformats.org/drawingml/2006/main" noGrp="1"/>
          </p:cNvSpPr>
          <p:nvPr/>
        </p:nvSpPr>
        <p:spPr>
          <a:xfrm xmlns:a="http://schemas.openxmlformats.org/drawingml/2006/main">
            <a:off x="838200" y="40290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Final Test khóa và web demo</a:t>
            </a:r>
          </a:p>
        </p:txBody>
      </p:sp>
      <p:sp>
        <p:nvSpPr>
          <p:cNvPr id="12" name="">
            <a:extLst xmlns:a="http://schemas.openxmlformats.org/drawingml/2006/main">
              <a:ext uri="{FF2B5EF4-FFF2-40B4-BE49-F238E27FC236}">
                <a16:creationId xmlns:a16="http://schemas.microsoft.com/office/drawing/2014/main" id="{44FB1D48-24DC-48E3-8E9F-6C67CD0A7A5F}"/>
              </a:ext>
            </a:extLst>
          </p:cNvPr>
          <p:cNvSpPr>
            <a:spLocks xmlns:a="http://schemas.openxmlformats.org/drawingml/2006/main" noGrp="1"/>
          </p:cNvSpPr>
          <p:nvPr/>
        </p:nvSpPr>
        <p:spPr>
          <a:xfrm xmlns:a="http://schemas.openxmlformats.org/drawingml/2006/main">
            <a:off x="4076700" y="1714500"/>
            <a:ext cx="9525" cy="3905250"/>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2BA809F-84CB-4F4B-AC22-26BC54EDDA70}"/>
              </a:ext>
            </a:extLst>
          </p:cNvPr>
          <p:cNvSpPr>
            <a:spLocks xmlns:a="http://schemas.openxmlformats.org/drawingml/2006/main" noGrp="1"/>
          </p:cNvSpPr>
          <p:nvPr/>
        </p:nvSpPr>
        <p:spPr>
          <a:xfrm xmlns:a="http://schemas.openxmlformats.org/drawingml/2006/main">
            <a:off x="4324350" y="1714500"/>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333"/>
          </a:bodyPr>
          <a:lstStyle xmlns:a="http://schemas.openxmlformats.org/drawingml/2006/main"/>
          <a:p xmlns:a="http://schemas.openxmlformats.org/drawingml/2006/main">
            <a:pPr algn="l">
              <a:defRPr sz="1875" b="1">
                <a:solidFill>
                  <a:srgbClr val="78A7FF"/>
                </a:solidFill>
                <a:latin typeface="Helvetica Neue"/>
                <a:ea typeface="Helvetica Neue"/>
                <a:cs typeface="Helvetica Neue"/>
              </a:defRPr>
            </a:pPr>
            <a:r>
              <a:rPr sz="1875" b="1">
                <a:solidFill>
                  <a:srgbClr val="78A7FF"/>
                </a:solidFill>
                <a:latin typeface="Helvetica Neue"/>
                <a:ea typeface="Helvetica Neue"/>
                <a:cs typeface="Helvetica Neue"/>
              </a:rPr>
              <a:t>Bài học</a:t>
            </a:r>
          </a:p>
        </p:txBody>
      </p:sp>
      <p:sp>
        <p:nvSpPr>
          <p:cNvPr id="14" name="">
            <a:extLst xmlns:a="http://schemas.openxmlformats.org/drawingml/2006/main">
              <a:ext uri="{FF2B5EF4-FFF2-40B4-BE49-F238E27FC236}">
                <a16:creationId xmlns:a16="http://schemas.microsoft.com/office/drawing/2014/main" id="{9EBA1249-F5D7-4847-9C44-147367D13BAA}"/>
              </a:ext>
            </a:extLst>
          </p:cNvPr>
          <p:cNvSpPr>
            <a:spLocks xmlns:a="http://schemas.openxmlformats.org/drawingml/2006/main" noGrp="1"/>
          </p:cNvSpPr>
          <p:nvPr/>
        </p:nvSpPr>
        <p:spPr>
          <a:xfrm xmlns:a="http://schemas.openxmlformats.org/drawingml/2006/main">
            <a:off x="4324350" y="2381250"/>
            <a:ext cx="76200" cy="762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6C7A4F2-EF99-45FA-A35A-F5650CFF7042}"/>
              </a:ext>
            </a:extLst>
          </p:cNvPr>
          <p:cNvSpPr>
            <a:spLocks xmlns:a="http://schemas.openxmlformats.org/drawingml/2006/main" noGrp="1"/>
          </p:cNvSpPr>
          <p:nvPr/>
        </p:nvSpPr>
        <p:spPr>
          <a:xfrm xmlns:a="http://schemas.openxmlformats.org/drawingml/2006/main">
            <a:off x="4552950" y="22383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F4F7FB"/>
                </a:solidFill>
                <a:latin typeface="Helvetica Neue"/>
                <a:ea typeface="Helvetica Neue"/>
                <a:cs typeface="Helvetica Neue"/>
              </a:defRPr>
            </a:pPr>
            <a:r>
              <a:rPr sz="1575" b="0">
                <a:solidFill>
                  <a:srgbClr val="F4F7FB"/>
                </a:solidFill>
                <a:latin typeface="Helvetica Neue"/>
                <a:ea typeface="Helvetica Neue"/>
                <a:cs typeface="Helvetica Neue"/>
              </a:rPr>
              <a:t>Macro F1 quan trọng hơn Accuracy</a:t>
            </a:r>
          </a:p>
        </p:txBody>
      </p:sp>
      <p:sp>
        <p:nvSpPr>
          <p:cNvPr id="16" name="">
            <a:extLst xmlns:a="http://schemas.openxmlformats.org/drawingml/2006/main">
              <a:ext uri="{FF2B5EF4-FFF2-40B4-BE49-F238E27FC236}">
                <a16:creationId xmlns:a16="http://schemas.microsoft.com/office/drawing/2014/main" id="{128A5893-C169-43B6-808B-D2D0E336E722}"/>
              </a:ext>
            </a:extLst>
          </p:cNvPr>
          <p:cNvSpPr>
            <a:spLocks xmlns:a="http://schemas.openxmlformats.org/drawingml/2006/main" noGrp="1"/>
          </p:cNvSpPr>
          <p:nvPr/>
        </p:nvSpPr>
        <p:spPr>
          <a:xfrm xmlns:a="http://schemas.openxmlformats.org/drawingml/2006/main">
            <a:off x="4324350" y="3276600"/>
            <a:ext cx="76200" cy="762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56FD1EE-0F46-46D3-8F59-8FF7D8986AF4}"/>
              </a:ext>
            </a:extLst>
          </p:cNvPr>
          <p:cNvSpPr>
            <a:spLocks xmlns:a="http://schemas.openxmlformats.org/drawingml/2006/main" noGrp="1"/>
          </p:cNvSpPr>
          <p:nvPr/>
        </p:nvSpPr>
        <p:spPr>
          <a:xfrm xmlns:a="http://schemas.openxmlformats.org/drawingml/2006/main">
            <a:off x="4552950" y="313372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SMOTE phải nằm trong từng fold</a:t>
            </a:r>
          </a:p>
        </p:txBody>
      </p:sp>
      <p:sp>
        <p:nvSpPr>
          <p:cNvPr id="18" name="">
            <a:extLst xmlns:a="http://schemas.openxmlformats.org/drawingml/2006/main">
              <a:ext uri="{FF2B5EF4-FFF2-40B4-BE49-F238E27FC236}">
                <a16:creationId xmlns:a16="http://schemas.microsoft.com/office/drawing/2014/main" id="{FE1F565A-EFF6-4427-9B95-B65E9A8AC8E9}"/>
              </a:ext>
            </a:extLst>
          </p:cNvPr>
          <p:cNvSpPr>
            <a:spLocks xmlns:a="http://schemas.openxmlformats.org/drawingml/2006/main" noGrp="1"/>
          </p:cNvSpPr>
          <p:nvPr/>
        </p:nvSpPr>
        <p:spPr>
          <a:xfrm xmlns:a="http://schemas.openxmlformats.org/drawingml/2006/main">
            <a:off x="4324350" y="4171950"/>
            <a:ext cx="76200" cy="762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6E26503-75E1-4C7E-94AF-3CC05A1B6FD7}"/>
              </a:ext>
            </a:extLst>
          </p:cNvPr>
          <p:cNvSpPr>
            <a:spLocks xmlns:a="http://schemas.openxmlformats.org/drawingml/2006/main" noGrp="1"/>
          </p:cNvSpPr>
          <p:nvPr/>
        </p:nvSpPr>
        <p:spPr>
          <a:xfrm xmlns:a="http://schemas.openxmlformats.org/drawingml/2006/main">
            <a:off x="4552950" y="40290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LR và SVM phù hợp dữ liệu thưa</a:t>
            </a:r>
          </a:p>
        </p:txBody>
      </p:sp>
      <p:sp>
        <p:nvSpPr>
          <p:cNvPr id="20" name="">
            <a:extLst xmlns:a="http://schemas.openxmlformats.org/drawingml/2006/main">
              <a:ext uri="{FF2B5EF4-FFF2-40B4-BE49-F238E27FC236}">
                <a16:creationId xmlns:a16="http://schemas.microsoft.com/office/drawing/2014/main" id="{F8229D9E-A001-48EB-99FC-958213D4A46F}"/>
              </a:ext>
            </a:extLst>
          </p:cNvPr>
          <p:cNvSpPr>
            <a:spLocks xmlns:a="http://schemas.openxmlformats.org/drawingml/2006/main" noGrp="1"/>
          </p:cNvSpPr>
          <p:nvPr/>
        </p:nvSpPr>
        <p:spPr>
          <a:xfrm xmlns:a="http://schemas.openxmlformats.org/drawingml/2006/main">
            <a:off x="7791450" y="1714500"/>
            <a:ext cx="9525" cy="3905250"/>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5753EC7-B8D1-4A83-8026-B25342AA7581}"/>
              </a:ext>
            </a:extLst>
          </p:cNvPr>
          <p:cNvSpPr>
            <a:spLocks xmlns:a="http://schemas.openxmlformats.org/drawingml/2006/main" noGrp="1"/>
          </p:cNvSpPr>
          <p:nvPr/>
        </p:nvSpPr>
        <p:spPr>
          <a:xfrm xmlns:a="http://schemas.openxmlformats.org/drawingml/2006/main">
            <a:off x="8039100" y="1714500"/>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333"/>
          </a:bodyPr>
          <a:lstStyle xmlns:a="http://schemas.openxmlformats.org/drawingml/2006/main"/>
          <a:p xmlns:a="http://schemas.openxmlformats.org/drawingml/2006/main">
            <a:pPr algn="l">
              <a:defRPr sz="1875" b="1">
                <a:solidFill>
                  <a:srgbClr val="FF9C5A"/>
                </a:solidFill>
                <a:latin typeface="Helvetica Neue"/>
                <a:ea typeface="Helvetica Neue"/>
                <a:cs typeface="Helvetica Neue"/>
              </a:defRPr>
            </a:pPr>
            <a:r>
              <a:rPr sz="1875" b="1">
                <a:solidFill>
                  <a:srgbClr val="FF9C5A"/>
                </a:solidFill>
                <a:latin typeface="Helvetica Neue"/>
                <a:ea typeface="Helvetica Neue"/>
                <a:cs typeface="Helvetica Neue"/>
              </a:rPr>
              <a:t>Hạn chế</a:t>
            </a:r>
          </a:p>
        </p:txBody>
      </p:sp>
      <p:sp>
        <p:nvSpPr>
          <p:cNvPr id="22" name="">
            <a:extLst xmlns:a="http://schemas.openxmlformats.org/drawingml/2006/main">
              <a:ext uri="{FF2B5EF4-FFF2-40B4-BE49-F238E27FC236}">
                <a16:creationId xmlns:a16="http://schemas.microsoft.com/office/drawing/2014/main" id="{238B5D70-1297-4A75-9633-CAD4C12D10E5}"/>
              </a:ext>
            </a:extLst>
          </p:cNvPr>
          <p:cNvSpPr>
            <a:spLocks xmlns:a="http://schemas.openxmlformats.org/drawingml/2006/main" noGrp="1"/>
          </p:cNvSpPr>
          <p:nvPr/>
        </p:nvSpPr>
        <p:spPr>
          <a:xfrm xmlns:a="http://schemas.openxmlformats.org/drawingml/2006/main">
            <a:off x="8039100" y="2381250"/>
            <a:ext cx="76200" cy="762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81B4789-EF06-4D97-B631-B3DB15A1F024}"/>
              </a:ext>
            </a:extLst>
          </p:cNvPr>
          <p:cNvSpPr>
            <a:spLocks xmlns:a="http://schemas.openxmlformats.org/drawingml/2006/main" noGrp="1"/>
          </p:cNvSpPr>
          <p:nvPr/>
        </p:nvSpPr>
        <p:spPr>
          <a:xfrm xmlns:a="http://schemas.openxmlformats.org/drawingml/2006/main">
            <a:off x="8267700" y="22383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F4F7FB"/>
                </a:solidFill>
                <a:latin typeface="Helvetica Neue"/>
                <a:ea typeface="Helvetica Neue"/>
                <a:cs typeface="Helvetica Neue"/>
              </a:defRPr>
            </a:pPr>
            <a:r>
              <a:rPr sz="1575" b="0">
                <a:solidFill>
                  <a:srgbClr val="F4F7FB"/>
                </a:solidFill>
                <a:latin typeface="Helvetica Neue"/>
                <a:ea typeface="Helvetica Neue"/>
                <a:cs typeface="Helvetica Neue"/>
              </a:rPr>
              <a:t>Rating tạo weak label có nhiễu</a:t>
            </a:r>
          </a:p>
        </p:txBody>
      </p:sp>
      <p:sp>
        <p:nvSpPr>
          <p:cNvPr id="24" name="">
            <a:extLst xmlns:a="http://schemas.openxmlformats.org/drawingml/2006/main">
              <a:ext uri="{FF2B5EF4-FFF2-40B4-BE49-F238E27FC236}">
                <a16:creationId xmlns:a16="http://schemas.microsoft.com/office/drawing/2014/main" id="{6851BBC8-E06E-4775-8AA3-6F3DCCF3BC97}"/>
              </a:ext>
            </a:extLst>
          </p:cNvPr>
          <p:cNvSpPr>
            <a:spLocks xmlns:a="http://schemas.openxmlformats.org/drawingml/2006/main" noGrp="1"/>
          </p:cNvSpPr>
          <p:nvPr/>
        </p:nvSpPr>
        <p:spPr>
          <a:xfrm xmlns:a="http://schemas.openxmlformats.org/drawingml/2006/main">
            <a:off x="8039100" y="3276600"/>
            <a:ext cx="76200" cy="762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26AAF56-8AFB-4D9A-9C6C-66C13F757D44}"/>
              </a:ext>
            </a:extLst>
          </p:cNvPr>
          <p:cNvSpPr>
            <a:spLocks xmlns:a="http://schemas.openxmlformats.org/drawingml/2006/main" noGrp="1"/>
          </p:cNvSpPr>
          <p:nvPr/>
        </p:nvSpPr>
        <p:spPr>
          <a:xfrm xmlns:a="http://schemas.openxmlformats.org/drawingml/2006/main">
            <a:off x="8267700" y="313372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Negative F1 chỉ đạt 0,3806</a:t>
            </a:r>
          </a:p>
        </p:txBody>
      </p:sp>
      <p:sp>
        <p:nvSpPr>
          <p:cNvPr id="26" name="">
            <a:extLst xmlns:a="http://schemas.openxmlformats.org/drawingml/2006/main">
              <a:ext uri="{FF2B5EF4-FFF2-40B4-BE49-F238E27FC236}">
                <a16:creationId xmlns:a16="http://schemas.microsoft.com/office/drawing/2014/main" id="{450477A2-D0A7-4237-AFC1-300F4C3D6653}"/>
              </a:ext>
            </a:extLst>
          </p:cNvPr>
          <p:cNvSpPr>
            <a:spLocks xmlns:a="http://schemas.openxmlformats.org/drawingml/2006/main" noGrp="1"/>
          </p:cNvSpPr>
          <p:nvPr/>
        </p:nvSpPr>
        <p:spPr>
          <a:xfrm xmlns:a="http://schemas.openxmlformats.org/drawingml/2006/main">
            <a:off x="8039100" y="4171950"/>
            <a:ext cx="76200" cy="762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5FD6364-82E2-4102-ADA5-DB67286D6B58}"/>
              </a:ext>
            </a:extLst>
          </p:cNvPr>
          <p:cNvSpPr>
            <a:spLocks xmlns:a="http://schemas.openxmlformats.org/drawingml/2006/main" noGrp="1"/>
          </p:cNvSpPr>
          <p:nvPr/>
        </p:nvSpPr>
        <p:spPr>
          <a:xfrm xmlns:a="http://schemas.openxmlformats.org/drawingml/2006/main">
            <a:off x="8267700" y="40290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TF-IDF chưa hiểu ngữ cảnh dài</a:t>
            </a:r>
          </a:p>
        </p:txBody>
      </p:sp>
      <p:sp>
        <p:nvSpPr>
          <p:cNvPr id="28" name="">
            <a:extLst xmlns:a="http://schemas.openxmlformats.org/drawingml/2006/main">
              <a:ext uri="{FF2B5EF4-FFF2-40B4-BE49-F238E27FC236}">
                <a16:creationId xmlns:a16="http://schemas.microsoft.com/office/drawing/2014/main" id="{38547907-1378-4889-9B93-BE1B5D8D8B2D}"/>
              </a:ext>
            </a:extLst>
          </p:cNvPr>
          <p:cNvSpPr>
            <a:spLocks xmlns:a="http://schemas.openxmlformats.org/drawingml/2006/main" noGrp="1"/>
          </p:cNvSpPr>
          <p:nvPr/>
        </p:nvSpPr>
        <p:spPr>
          <a:xfrm xmlns:a="http://schemas.openxmlformats.org/drawingml/2006/main">
            <a:off x="609600" y="59055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425" b="0">
                <a:solidFill>
                  <a:srgbClr val="45D9A0"/>
                </a:solidFill>
                <a:latin typeface="Helvetica Neue"/>
                <a:ea typeface="Helvetica Neue"/>
                <a:cs typeface="Helvetica Neue"/>
              </a:defRPr>
            </a:pPr>
            <a:r>
              <a:rPr sz="1425" b="0">
                <a:solidFill>
                  <a:srgbClr val="45D9A0"/>
                </a:solidFill>
                <a:latin typeface="Helvetica Neue"/>
                <a:ea typeface="Helvetica Neue"/>
                <a:cs typeface="Helvetica Neue"/>
              </a:rPr>
              <a:t>CV Macro F1 0,5727 và Final Test 0,5714 chỉ chênh 0,0014, chưa cho thấy overfitting nghiêm trọng.</a:t>
            </a:r>
          </a:p>
        </p:txBody>
      </p:sp>
    </p:spTree>
    <p:extLst>
      <p:ext uri="{BB962C8B-B14F-4D97-AF65-F5344CB8AC3E}">
        <p14:creationId xmlns:p14="http://schemas.microsoft.com/office/powerpoint/2010/main" val="1743904303"/>
      </p:ext>
    </p:extLst>
  </p:cSld>
</p:sld>
</file>

<file path=ppt/slides/slide14.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57A7A8FD-0164-4F9B-B51D-3303AB72D914}"/>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13 · KẾT LUẬN</a:t>
            </a:r>
          </a:p>
        </p:txBody>
      </p:sp>
      <p:sp>
        <p:nvSpPr>
          <p:cNvPr id="2" name="">
            <a:extLst xmlns:a="http://schemas.openxmlformats.org/drawingml/2006/main">
              <a:ext uri="{FF2B5EF4-FFF2-40B4-BE49-F238E27FC236}">
                <a16:creationId xmlns:a16="http://schemas.microsoft.com/office/drawing/2014/main" id="{A14BAABA-A949-4332-9FE6-F645D2F5979A}"/>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Đóng góp của đồ án và bước phát triển tiếp theo</a:t>
            </a:r>
          </a:p>
        </p:txBody>
      </p:sp>
      <p:sp>
        <p:nvSpPr>
          <p:cNvPr id="3" name="">
            <a:extLst xmlns:a="http://schemas.openxmlformats.org/drawingml/2006/main">
              <a:ext uri="{FF2B5EF4-FFF2-40B4-BE49-F238E27FC236}">
                <a16:creationId xmlns:a16="http://schemas.microsoft.com/office/drawing/2014/main" id="{4B6AC830-FDE5-4BC4-BEF0-83A8FEDC97FC}"/>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79AC1C3-71E1-40FE-BAC4-8BBC9F7A5D57}"/>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14 / 15</a:t>
            </a:r>
          </a:p>
        </p:txBody>
      </p:sp>
      <p:sp>
        <p:nvSpPr>
          <p:cNvPr id="5" name="">
            <a:extLst xmlns:a="http://schemas.openxmlformats.org/drawingml/2006/main">
              <a:ext uri="{FF2B5EF4-FFF2-40B4-BE49-F238E27FC236}">
                <a16:creationId xmlns:a16="http://schemas.microsoft.com/office/drawing/2014/main" id="{ECAF15AA-73E7-4DFD-9658-A9FF31EDCADA}"/>
              </a:ext>
            </a:extLst>
          </p:cNvPr>
          <p:cNvSpPr>
            <a:spLocks xmlns:a="http://schemas.openxmlformats.org/drawingml/2006/main" noGrp="1"/>
          </p:cNvSpPr>
          <p:nvPr/>
        </p:nvSpPr>
        <p:spPr>
          <a:xfrm xmlns:a="http://schemas.openxmlformats.org/drawingml/2006/main">
            <a:off x="609600" y="1762125"/>
            <a:ext cx="3143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8205"/>
          </a:bodyPr>
          <a:lstStyle xmlns:a="http://schemas.openxmlformats.org/drawingml/2006/main"/>
          <a:p xmlns:a="http://schemas.openxmlformats.org/drawingml/2006/main">
            <a:pPr algn="l">
              <a:defRPr sz="1950" b="1">
                <a:solidFill>
                  <a:srgbClr val="45D9A0"/>
                </a:solidFill>
                <a:latin typeface="Helvetica Neue"/>
                <a:ea typeface="Helvetica Neue"/>
                <a:cs typeface="Helvetica Neue"/>
              </a:defRPr>
            </a:pPr>
            <a:r>
              <a:rPr sz="1950" b="1">
                <a:solidFill>
                  <a:srgbClr val="45D9A0"/>
                </a:solidFill>
                <a:latin typeface="Helvetica Neue"/>
                <a:ea typeface="Helvetica Neue"/>
                <a:cs typeface="Helvetica Neue"/>
              </a:rPr>
              <a:t>Đóng góp</a:t>
            </a:r>
          </a:p>
        </p:txBody>
      </p:sp>
      <p:sp>
        <p:nvSpPr>
          <p:cNvPr id="6" name="">
            <a:extLst xmlns:a="http://schemas.openxmlformats.org/drawingml/2006/main">
              <a:ext uri="{FF2B5EF4-FFF2-40B4-BE49-F238E27FC236}">
                <a16:creationId xmlns:a16="http://schemas.microsoft.com/office/drawing/2014/main" id="{CBC949EF-AB05-4705-B66B-A272C7BBD41D}"/>
              </a:ext>
            </a:extLst>
          </p:cNvPr>
          <p:cNvSpPr>
            <a:spLocks xmlns:a="http://schemas.openxmlformats.org/drawingml/2006/main" noGrp="1"/>
          </p:cNvSpPr>
          <p:nvPr/>
        </p:nvSpPr>
        <p:spPr>
          <a:xfrm xmlns:a="http://schemas.openxmlformats.org/drawingml/2006/main">
            <a:off x="609600" y="2400300"/>
            <a:ext cx="57150" cy="3048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010F688B-9B4E-4096-85F5-9612315D12AB}"/>
              </a:ext>
            </a:extLst>
          </p:cNvPr>
          <p:cNvSpPr>
            <a:spLocks xmlns:a="http://schemas.openxmlformats.org/drawingml/2006/main" noGrp="1"/>
          </p:cNvSpPr>
          <p:nvPr/>
        </p:nvSpPr>
        <p:spPr>
          <a:xfrm xmlns:a="http://schemas.openxmlformats.org/drawingml/2006/main">
            <a:off x="800100" y="2333625"/>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Pipeline ba lớp có thể tái lập</a:t>
            </a:r>
          </a:p>
        </p:txBody>
      </p:sp>
      <p:sp>
        <p:nvSpPr>
          <p:cNvPr id="8" name="">
            <a:extLst xmlns:a="http://schemas.openxmlformats.org/drawingml/2006/main">
              <a:ext uri="{FF2B5EF4-FFF2-40B4-BE49-F238E27FC236}">
                <a16:creationId xmlns:a16="http://schemas.microsoft.com/office/drawing/2014/main" id="{CD17EDCE-F563-4B7E-A59F-5AB0502C52A7}"/>
              </a:ext>
            </a:extLst>
          </p:cNvPr>
          <p:cNvSpPr>
            <a:spLocks xmlns:a="http://schemas.openxmlformats.org/drawingml/2006/main" noGrp="1"/>
          </p:cNvSpPr>
          <p:nvPr/>
        </p:nvSpPr>
        <p:spPr>
          <a:xfrm xmlns:a="http://schemas.openxmlformats.org/drawingml/2006/main">
            <a:off x="800100" y="2619375"/>
            <a:ext cx="4857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Từ dữ liệu, preprocessing, TF-IDF đến đánh giá.</a:t>
            </a:r>
          </a:p>
        </p:txBody>
      </p:sp>
      <p:sp>
        <p:nvSpPr>
          <p:cNvPr id="9" name="">
            <a:extLst xmlns:a="http://schemas.openxmlformats.org/drawingml/2006/main">
              <a:ext uri="{FF2B5EF4-FFF2-40B4-BE49-F238E27FC236}">
                <a16:creationId xmlns:a16="http://schemas.microsoft.com/office/drawing/2014/main" id="{0B0216FD-48B7-4625-B89F-0F1BF8C03196}"/>
              </a:ext>
            </a:extLst>
          </p:cNvPr>
          <p:cNvSpPr>
            <a:spLocks xmlns:a="http://schemas.openxmlformats.org/drawingml/2006/main" noGrp="1"/>
          </p:cNvSpPr>
          <p:nvPr/>
        </p:nvSpPr>
        <p:spPr>
          <a:xfrm xmlns:a="http://schemas.openxmlformats.org/drawingml/2006/main">
            <a:off x="609600" y="3400425"/>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AF27B5D-C5ED-470D-827B-AD02F885C1C0}"/>
              </a:ext>
            </a:extLst>
          </p:cNvPr>
          <p:cNvSpPr>
            <a:spLocks xmlns:a="http://schemas.openxmlformats.org/drawingml/2006/main" noGrp="1"/>
          </p:cNvSpPr>
          <p:nvPr/>
        </p:nvSpPr>
        <p:spPr>
          <a:xfrm xmlns:a="http://schemas.openxmlformats.org/drawingml/2006/main">
            <a:off x="800100" y="3333750"/>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Đánh giá đúng quy trình</a:t>
            </a:r>
          </a:p>
        </p:txBody>
      </p:sp>
      <p:sp>
        <p:nvSpPr>
          <p:cNvPr id="11" name="">
            <a:extLst xmlns:a="http://schemas.openxmlformats.org/drawingml/2006/main">
              <a:ext uri="{FF2B5EF4-FFF2-40B4-BE49-F238E27FC236}">
                <a16:creationId xmlns:a16="http://schemas.microsoft.com/office/drawing/2014/main" id="{B96FA836-E666-496C-BC61-68FCED95349E}"/>
              </a:ext>
            </a:extLst>
          </p:cNvPr>
          <p:cNvSpPr>
            <a:spLocks xmlns:a="http://schemas.openxmlformats.org/drawingml/2006/main" noGrp="1"/>
          </p:cNvSpPr>
          <p:nvPr/>
        </p:nvSpPr>
        <p:spPr>
          <a:xfrm xmlns:a="http://schemas.openxmlformats.org/drawingml/2006/main">
            <a:off x="800100" y="3619500"/>
            <a:ext cx="4857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Chọn model trên Development và mở Final Test một lần.</a:t>
            </a:r>
          </a:p>
        </p:txBody>
      </p:sp>
      <p:sp>
        <p:nvSpPr>
          <p:cNvPr id="12" name="">
            <a:extLst xmlns:a="http://schemas.openxmlformats.org/drawingml/2006/main">
              <a:ext uri="{FF2B5EF4-FFF2-40B4-BE49-F238E27FC236}">
                <a16:creationId xmlns:a16="http://schemas.microsoft.com/office/drawing/2014/main" id="{EDD1AB77-5D46-4360-B708-204C181B5446}"/>
              </a:ext>
            </a:extLst>
          </p:cNvPr>
          <p:cNvSpPr>
            <a:spLocks xmlns:a="http://schemas.openxmlformats.org/drawingml/2006/main" noGrp="1"/>
          </p:cNvSpPr>
          <p:nvPr/>
        </p:nvSpPr>
        <p:spPr>
          <a:xfrm xmlns:a="http://schemas.openxmlformats.org/drawingml/2006/main">
            <a:off x="609600" y="4400550"/>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11C449A-E352-43D1-A22C-D492C28326A7}"/>
              </a:ext>
            </a:extLst>
          </p:cNvPr>
          <p:cNvSpPr>
            <a:spLocks xmlns:a="http://schemas.openxmlformats.org/drawingml/2006/main" noGrp="1"/>
          </p:cNvSpPr>
          <p:nvPr/>
        </p:nvSpPr>
        <p:spPr>
          <a:xfrm xmlns:a="http://schemas.openxmlformats.org/drawingml/2006/main">
            <a:off x="800100" y="4333875"/>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Ứng dụng minh họa</a:t>
            </a:r>
          </a:p>
        </p:txBody>
      </p:sp>
      <p:sp>
        <p:nvSpPr>
          <p:cNvPr id="14" name="">
            <a:extLst xmlns:a="http://schemas.openxmlformats.org/drawingml/2006/main">
              <a:ext uri="{FF2B5EF4-FFF2-40B4-BE49-F238E27FC236}">
                <a16:creationId xmlns:a16="http://schemas.microsoft.com/office/drawing/2014/main" id="{58121E3C-6A75-4D68-95F1-F6CD0BC37B16}"/>
              </a:ext>
            </a:extLst>
          </p:cNvPr>
          <p:cNvSpPr>
            <a:spLocks xmlns:a="http://schemas.openxmlformats.org/drawingml/2006/main" noGrp="1"/>
          </p:cNvSpPr>
          <p:nvPr/>
        </p:nvSpPr>
        <p:spPr>
          <a:xfrm xmlns:a="http://schemas.openxmlformats.org/drawingml/2006/main">
            <a:off x="800100" y="4619625"/>
            <a:ext cx="4857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Insight mô tả và dự đoán review theo thời gian thực.</a:t>
            </a:r>
          </a:p>
        </p:txBody>
      </p:sp>
      <p:sp>
        <p:nvSpPr>
          <p:cNvPr id="15" name="">
            <a:extLst xmlns:a="http://schemas.openxmlformats.org/drawingml/2006/main">
              <a:ext uri="{FF2B5EF4-FFF2-40B4-BE49-F238E27FC236}">
                <a16:creationId xmlns:a16="http://schemas.microsoft.com/office/drawing/2014/main" id="{045EAEBB-8058-49D9-88FD-B776B71B3074}"/>
              </a:ext>
            </a:extLst>
          </p:cNvPr>
          <p:cNvSpPr>
            <a:spLocks xmlns:a="http://schemas.openxmlformats.org/drawingml/2006/main" noGrp="1"/>
          </p:cNvSpPr>
          <p:nvPr/>
        </p:nvSpPr>
        <p:spPr>
          <a:xfrm xmlns:a="http://schemas.openxmlformats.org/drawingml/2006/main">
            <a:off x="6096000" y="1714500"/>
            <a:ext cx="9525" cy="3333750"/>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60E963B7-E32D-49CB-B143-AA58CA369CD1}"/>
              </a:ext>
            </a:extLst>
          </p:cNvPr>
          <p:cNvSpPr>
            <a:spLocks xmlns:a="http://schemas.openxmlformats.org/drawingml/2006/main" noGrp="1"/>
          </p:cNvSpPr>
          <p:nvPr/>
        </p:nvSpPr>
        <p:spPr>
          <a:xfrm xmlns:a="http://schemas.openxmlformats.org/drawingml/2006/main">
            <a:off x="6572250" y="1762125"/>
            <a:ext cx="3810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8205"/>
          </a:bodyPr>
          <a:lstStyle xmlns:a="http://schemas.openxmlformats.org/drawingml/2006/main"/>
          <a:p xmlns:a="http://schemas.openxmlformats.org/drawingml/2006/main">
            <a:pPr algn="l">
              <a:defRPr sz="1950" b="1">
                <a:solidFill>
                  <a:srgbClr val="78A7FF"/>
                </a:solidFill>
                <a:latin typeface="Helvetica Neue"/>
                <a:ea typeface="Helvetica Neue"/>
                <a:cs typeface="Helvetica Neue"/>
              </a:defRPr>
            </a:pPr>
            <a:r>
              <a:rPr sz="1950" b="1">
                <a:solidFill>
                  <a:srgbClr val="78A7FF"/>
                </a:solidFill>
                <a:latin typeface="Helvetica Neue"/>
                <a:ea typeface="Helvetica Neue"/>
                <a:cs typeface="Helvetica Neue"/>
              </a:rPr>
              <a:t>Hướng phát triển</a:t>
            </a:r>
          </a:p>
        </p:txBody>
      </p:sp>
      <p:sp>
        <p:nvSpPr>
          <p:cNvPr id="17" name="">
            <a:extLst xmlns:a="http://schemas.openxmlformats.org/drawingml/2006/main">
              <a:ext uri="{FF2B5EF4-FFF2-40B4-BE49-F238E27FC236}">
                <a16:creationId xmlns:a16="http://schemas.microsoft.com/office/drawing/2014/main" id="{67A0A141-91C4-47F4-AEE5-B91F8E34C07D}"/>
              </a:ext>
            </a:extLst>
          </p:cNvPr>
          <p:cNvSpPr>
            <a:spLocks xmlns:a="http://schemas.openxmlformats.org/drawingml/2006/main" noGrp="1"/>
          </p:cNvSpPr>
          <p:nvPr/>
        </p:nvSpPr>
        <p:spPr>
          <a:xfrm xmlns:a="http://schemas.openxmlformats.org/drawingml/2006/main">
            <a:off x="6572250" y="2400300"/>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313EB6A3-970A-4D49-8ED6-C0EDE1819D3D}"/>
              </a:ext>
            </a:extLst>
          </p:cNvPr>
          <p:cNvSpPr>
            <a:spLocks xmlns:a="http://schemas.openxmlformats.org/drawingml/2006/main" noGrp="1"/>
          </p:cNvSpPr>
          <p:nvPr/>
        </p:nvSpPr>
        <p:spPr>
          <a:xfrm xmlns:a="http://schemas.openxmlformats.org/drawingml/2006/main">
            <a:off x="6762750" y="2333625"/>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Gán nhãn thủ công</a:t>
            </a:r>
          </a:p>
        </p:txBody>
      </p:sp>
      <p:sp>
        <p:nvSpPr>
          <p:cNvPr id="19" name="">
            <a:extLst xmlns:a="http://schemas.openxmlformats.org/drawingml/2006/main">
              <a:ext uri="{FF2B5EF4-FFF2-40B4-BE49-F238E27FC236}">
                <a16:creationId xmlns:a16="http://schemas.microsoft.com/office/drawing/2014/main" id="{4E99F13B-FA4D-4C1A-AEEA-46149C576B27}"/>
              </a:ext>
            </a:extLst>
          </p:cNvPr>
          <p:cNvSpPr>
            <a:spLocks xmlns:a="http://schemas.openxmlformats.org/drawingml/2006/main" noGrp="1"/>
          </p:cNvSpPr>
          <p:nvPr/>
        </p:nvSpPr>
        <p:spPr>
          <a:xfrm xmlns:a="http://schemas.openxmlformats.org/drawingml/2006/main">
            <a:off x="6762750" y="2619375"/>
            <a:ext cx="4381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Tạo tập chuẩn nhỏ để đo mức nhiễu của weak label.</a:t>
            </a:r>
          </a:p>
        </p:txBody>
      </p:sp>
      <p:sp>
        <p:nvSpPr>
          <p:cNvPr id="20" name="">
            <a:extLst xmlns:a="http://schemas.openxmlformats.org/drawingml/2006/main">
              <a:ext uri="{FF2B5EF4-FFF2-40B4-BE49-F238E27FC236}">
                <a16:creationId xmlns:a16="http://schemas.microsoft.com/office/drawing/2014/main" id="{6E0C7FFB-C16E-40C6-B814-33A877846233}"/>
              </a:ext>
            </a:extLst>
          </p:cNvPr>
          <p:cNvSpPr>
            <a:spLocks xmlns:a="http://schemas.openxmlformats.org/drawingml/2006/main" noGrp="1"/>
          </p:cNvSpPr>
          <p:nvPr/>
        </p:nvSpPr>
        <p:spPr>
          <a:xfrm xmlns:a="http://schemas.openxmlformats.org/drawingml/2006/main">
            <a:off x="6572250" y="3400425"/>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B01F60D-451E-4264-BE3B-C707EBEC0829}"/>
              </a:ext>
            </a:extLst>
          </p:cNvPr>
          <p:cNvSpPr>
            <a:spLocks xmlns:a="http://schemas.openxmlformats.org/drawingml/2006/main" noGrp="1"/>
          </p:cNvSpPr>
          <p:nvPr/>
        </p:nvSpPr>
        <p:spPr>
          <a:xfrm xmlns:a="http://schemas.openxmlformats.org/drawingml/2006/main">
            <a:off x="6762750" y="3333750"/>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ABSA</a:t>
            </a:r>
          </a:p>
        </p:txBody>
      </p:sp>
      <p:sp>
        <p:nvSpPr>
          <p:cNvPr id="22" name="">
            <a:extLst xmlns:a="http://schemas.openxmlformats.org/drawingml/2006/main">
              <a:ext uri="{FF2B5EF4-FFF2-40B4-BE49-F238E27FC236}">
                <a16:creationId xmlns:a16="http://schemas.microsoft.com/office/drawing/2014/main" id="{6F7066DE-3977-46EB-9D61-A1CAC4651BB6}"/>
              </a:ext>
            </a:extLst>
          </p:cNvPr>
          <p:cNvSpPr>
            <a:spLocks xmlns:a="http://schemas.openxmlformats.org/drawingml/2006/main" noGrp="1"/>
          </p:cNvSpPr>
          <p:nvPr/>
        </p:nvSpPr>
        <p:spPr>
          <a:xfrm xmlns:a="http://schemas.openxmlformats.org/drawingml/2006/main">
            <a:off x="6762750" y="3619500"/>
            <a:ext cx="4381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Phân tích riêng lương, OT, quản lý và môi trường.</a:t>
            </a:r>
          </a:p>
        </p:txBody>
      </p:sp>
      <p:sp>
        <p:nvSpPr>
          <p:cNvPr id="23" name="">
            <a:extLst xmlns:a="http://schemas.openxmlformats.org/drawingml/2006/main">
              <a:ext uri="{FF2B5EF4-FFF2-40B4-BE49-F238E27FC236}">
                <a16:creationId xmlns:a16="http://schemas.microsoft.com/office/drawing/2014/main" id="{11D1D117-5B15-4956-A7CE-FAA0540B1010}"/>
              </a:ext>
            </a:extLst>
          </p:cNvPr>
          <p:cNvSpPr>
            <a:spLocks xmlns:a="http://schemas.openxmlformats.org/drawingml/2006/main" noGrp="1"/>
          </p:cNvSpPr>
          <p:nvPr/>
        </p:nvSpPr>
        <p:spPr>
          <a:xfrm xmlns:a="http://schemas.openxmlformats.org/drawingml/2006/main">
            <a:off x="6572250" y="4400550"/>
            <a:ext cx="57150" cy="304800"/>
          </a:xfrm>
          <a:prstGeom xmlns:a="http://schemas.openxmlformats.org/drawingml/2006/main" prst="roundRect">
            <a:avLst>
              <a:gd name="adj" fmla="val 50000"/>
            </a:avLst>
          </a:prstGeom>
          <a:solidFill xmlns:a="http://schemas.openxmlformats.org/drawingml/2006/main">
            <a:srgbClr val="FF667B"/>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B252C026-9F9A-4969-AE87-0D63DC73A8A8}"/>
              </a:ext>
            </a:extLst>
          </p:cNvPr>
          <p:cNvSpPr>
            <a:spLocks xmlns:a="http://schemas.openxmlformats.org/drawingml/2006/main" noGrp="1"/>
          </p:cNvSpPr>
          <p:nvPr/>
        </p:nvSpPr>
        <p:spPr>
          <a:xfrm xmlns:a="http://schemas.openxmlformats.org/drawingml/2006/main">
            <a:off x="6762750" y="4333875"/>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Transformer tiếng Việt</a:t>
            </a:r>
          </a:p>
        </p:txBody>
      </p:sp>
      <p:sp>
        <p:nvSpPr>
          <p:cNvPr id="25" name="">
            <a:extLst xmlns:a="http://schemas.openxmlformats.org/drawingml/2006/main">
              <a:ext uri="{FF2B5EF4-FFF2-40B4-BE49-F238E27FC236}">
                <a16:creationId xmlns:a16="http://schemas.microsoft.com/office/drawing/2014/main" id="{AB59635A-6457-4A59-978B-EC99BC3CCBE0}"/>
              </a:ext>
            </a:extLst>
          </p:cNvPr>
          <p:cNvSpPr>
            <a:spLocks xmlns:a="http://schemas.openxmlformats.org/drawingml/2006/main" noGrp="1"/>
          </p:cNvSpPr>
          <p:nvPr/>
        </p:nvSpPr>
        <p:spPr>
          <a:xfrm xmlns:a="http://schemas.openxmlformats.org/drawingml/2006/main">
            <a:off x="6762750" y="4619625"/>
            <a:ext cx="4381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Đối sánh với PhoBERT hoặc ViSoBERT khi có tài nguyên.</a:t>
            </a:r>
          </a:p>
        </p:txBody>
      </p:sp>
      <p:sp>
        <p:nvSpPr>
          <p:cNvPr id="26" name="">
            <a:extLst xmlns:a="http://schemas.openxmlformats.org/drawingml/2006/main">
              <a:ext uri="{FF2B5EF4-FFF2-40B4-BE49-F238E27FC236}">
                <a16:creationId xmlns:a16="http://schemas.microsoft.com/office/drawing/2014/main" id="{FBF425F4-BB3B-4DF9-A324-02D8E9A703CF}"/>
              </a:ext>
            </a:extLst>
          </p:cNvPr>
          <p:cNvSpPr>
            <a:spLocks xmlns:a="http://schemas.openxmlformats.org/drawingml/2006/main" noGrp="1"/>
          </p:cNvSpPr>
          <p:nvPr/>
        </p:nvSpPr>
        <p:spPr>
          <a:xfrm xmlns:a="http://schemas.openxmlformats.org/drawingml/2006/main">
            <a:off x="609600" y="5905500"/>
            <a:ext cx="1028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100" b="1">
                <a:solidFill>
                  <a:srgbClr val="45D9A0"/>
                </a:solidFill>
                <a:latin typeface="Helvetica Neue"/>
                <a:ea typeface="Helvetica Neue"/>
                <a:cs typeface="Helvetica Neue"/>
              </a:defRPr>
            </a:pPr>
            <a:r>
              <a:rPr sz="2100" b="1">
                <a:solidFill>
                  <a:srgbClr val="45D9A0"/>
                </a:solidFill>
                <a:latin typeface="Helvetica Neue"/>
                <a:ea typeface="Helvetica Neue"/>
                <a:cs typeface="Helvetica Neue"/>
              </a:rPr>
              <a:t>Kết thúc nội dung chính. Tiếp theo: live demo.</a:t>
            </a:r>
          </a:p>
        </p:txBody>
      </p:sp>
    </p:spTree>
    <p:extLst>
      <p:ext uri="{BB962C8B-B14F-4D97-AF65-F5344CB8AC3E}">
        <p14:creationId xmlns:p14="http://schemas.microsoft.com/office/powerpoint/2010/main" val="595824234"/>
      </p:ext>
    </p:extLst>
  </p:cSld>
</p:sld>
</file>

<file path=ppt/slides/slide15.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A15712C-2742-4EB7-A2C4-C92AB2BA7B53}"/>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14 · LIVE DEMO</a:t>
            </a:r>
          </a:p>
        </p:txBody>
      </p:sp>
      <p:sp>
        <p:nvSpPr>
          <p:cNvPr id="2" name="">
            <a:extLst xmlns:a="http://schemas.openxmlformats.org/drawingml/2006/main">
              <a:ext uri="{FF2B5EF4-FFF2-40B4-BE49-F238E27FC236}">
                <a16:creationId xmlns:a16="http://schemas.microsoft.com/office/drawing/2014/main" id="{E2502E18-F688-45F1-9D26-3DFAFE4F0913}"/>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Live demo hệ thống phân tích cảm xúc</a:t>
            </a:r>
          </a:p>
        </p:txBody>
      </p:sp>
      <p:sp>
        <p:nvSpPr>
          <p:cNvPr id="3" name="">
            <a:extLst xmlns:a="http://schemas.openxmlformats.org/drawingml/2006/main">
              <a:ext uri="{FF2B5EF4-FFF2-40B4-BE49-F238E27FC236}">
                <a16:creationId xmlns:a16="http://schemas.microsoft.com/office/drawing/2014/main" id="{EC13C0C8-BA75-431D-A55E-AA8EF191C459}"/>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E33A76E-4461-4517-A781-0AFB57FAE6B9}"/>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15 / 15</a:t>
            </a:r>
          </a:p>
        </p:txBody>
      </p:sp>
      <p:sp>
        <p:nvSpPr>
          <p:cNvPr id="5" name="">
            <a:extLst xmlns:a="http://schemas.openxmlformats.org/drawingml/2006/main">
              <a:ext uri="{FF2B5EF4-FFF2-40B4-BE49-F238E27FC236}">
                <a16:creationId xmlns:a16="http://schemas.microsoft.com/office/drawing/2014/main" id="{C661BA99-CB6B-41C3-BD3F-7FF700308E7A}"/>
              </a:ext>
            </a:extLst>
          </p:cNvPr>
          <p:cNvSpPr>
            <a:spLocks xmlns:a="http://schemas.openxmlformats.org/drawingml/2006/main" noGrp="1"/>
          </p:cNvSpPr>
          <p:nvPr/>
        </p:nvSpPr>
        <p:spPr>
          <a:xfrm xmlns:a="http://schemas.openxmlformats.org/drawingml/2006/main">
            <a:off x="704850" y="18669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NGƯỜI TRÌNH BÀY</a:t>
            </a:r>
          </a:p>
        </p:txBody>
      </p:sp>
      <p:sp>
        <p:nvSpPr>
          <p:cNvPr id="6" name="">
            <a:extLst xmlns:a="http://schemas.openxmlformats.org/drawingml/2006/main">
              <a:ext uri="{FF2B5EF4-FFF2-40B4-BE49-F238E27FC236}">
                <a16:creationId xmlns:a16="http://schemas.microsoft.com/office/drawing/2014/main" id="{638F318A-5DB9-4090-BD81-F34ABCB81E81}"/>
              </a:ext>
            </a:extLst>
          </p:cNvPr>
          <p:cNvSpPr>
            <a:spLocks xmlns:a="http://schemas.openxmlformats.org/drawingml/2006/main" noGrp="1"/>
          </p:cNvSpPr>
          <p:nvPr/>
        </p:nvSpPr>
        <p:spPr>
          <a:xfrm xmlns:a="http://schemas.openxmlformats.org/drawingml/2006/main">
            <a:off x="704850" y="2209800"/>
            <a:ext cx="4762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defRPr sz="2850" b="1">
                <a:solidFill>
                  <a:srgbClr val="45D9A0"/>
                </a:solidFill>
                <a:latin typeface="Helvetica Neue"/>
                <a:ea typeface="Helvetica Neue"/>
                <a:cs typeface="Helvetica Neue"/>
              </a:defRPr>
            </a:pPr>
            <a:r>
              <a:rPr sz="2850" b="1">
                <a:solidFill>
                  <a:srgbClr val="45D9A0"/>
                </a:solidFill>
                <a:latin typeface="Helvetica Neue"/>
                <a:ea typeface="Helvetica Neue"/>
                <a:cs typeface="Helvetica Neue"/>
              </a:rPr>
              <a:t>NGUYỄN DUY KHANG</a:t>
            </a:r>
          </a:p>
        </p:txBody>
      </p:sp>
      <p:sp>
        <p:nvSpPr>
          <p:cNvPr id="7" name="">
            <a:extLst xmlns:a="http://schemas.openxmlformats.org/drawingml/2006/main">
              <a:ext uri="{FF2B5EF4-FFF2-40B4-BE49-F238E27FC236}">
                <a16:creationId xmlns:a16="http://schemas.microsoft.com/office/drawing/2014/main" id="{7274BEB1-638E-40BB-80DB-F62D354051A8}"/>
              </a:ext>
            </a:extLst>
          </p:cNvPr>
          <p:cNvSpPr>
            <a:spLocks xmlns:a="http://schemas.openxmlformats.org/drawingml/2006/main" noGrp="1"/>
          </p:cNvSpPr>
          <p:nvPr/>
        </p:nvSpPr>
        <p:spPr>
          <a:xfrm xmlns:a="http://schemas.openxmlformats.org/drawingml/2006/main">
            <a:off x="704850" y="2952750"/>
            <a:ext cx="4572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725" b="0">
                <a:solidFill>
                  <a:srgbClr val="A7B3C4"/>
                </a:solidFill>
                <a:latin typeface="Helvetica Neue"/>
                <a:ea typeface="Helvetica Neue"/>
                <a:cs typeface="Helvetica Neue"/>
              </a:defRPr>
            </a:pPr>
            <a:r>
              <a:rPr sz="1725" b="0">
                <a:solidFill>
                  <a:srgbClr val="A7B3C4"/>
                </a:solidFill>
                <a:latin typeface="Helvetica Neue"/>
                <a:ea typeface="Helvetica Neue"/>
                <a:cs typeface="Helvetica Neue"/>
              </a:rPr>
              <a:t>Minh họa cách một review mới đi qua pipeline đã huấn luyện</a:t>
            </a:r>
          </a:p>
        </p:txBody>
      </p:sp>
      <p:sp>
        <p:nvSpPr>
          <p:cNvPr id="8" name="">
            <a:extLst xmlns:a="http://schemas.openxmlformats.org/drawingml/2006/main">
              <a:ext uri="{FF2B5EF4-FFF2-40B4-BE49-F238E27FC236}">
                <a16:creationId xmlns:a16="http://schemas.microsoft.com/office/drawing/2014/main" id="{583FE3D4-5456-485E-9E76-0B7CA3FB7F99}"/>
              </a:ext>
            </a:extLst>
          </p:cNvPr>
          <p:cNvSpPr>
            <a:spLocks xmlns:a="http://schemas.openxmlformats.org/drawingml/2006/main" noGrp="1"/>
          </p:cNvSpPr>
          <p:nvPr/>
        </p:nvSpPr>
        <p:spPr>
          <a:xfrm xmlns:a="http://schemas.openxmlformats.org/drawingml/2006/main">
            <a:off x="5857875" y="1714500"/>
            <a:ext cx="9525" cy="3429000"/>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F044697-FC5A-4C6A-B305-4D7400DB5B13}"/>
              </a:ext>
            </a:extLst>
          </p:cNvPr>
          <p:cNvSpPr>
            <a:spLocks xmlns:a="http://schemas.openxmlformats.org/drawingml/2006/main" noGrp="1"/>
          </p:cNvSpPr>
          <p:nvPr/>
        </p:nvSpPr>
        <p:spPr>
          <a:xfrm xmlns:a="http://schemas.openxmlformats.org/drawingml/2006/main">
            <a:off x="6334125" y="1733550"/>
            <a:ext cx="666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667"/>
          </a:bodyPr>
          <a:lstStyle xmlns:a="http://schemas.openxmlformats.org/drawingml/2006/main"/>
          <a:p xmlns:a="http://schemas.openxmlformats.org/drawingml/2006/main">
            <a:pPr algn="l">
              <a:defRPr sz="1800" b="1">
                <a:solidFill>
                  <a:srgbClr val="78A7FF"/>
                </a:solidFill>
                <a:latin typeface="Helvetica Neue"/>
                <a:ea typeface="Helvetica Neue"/>
                <a:cs typeface="Helvetica Neue"/>
              </a:defRPr>
            </a:pPr>
            <a:r>
              <a:rPr sz="1800" b="1">
                <a:solidFill>
                  <a:srgbClr val="78A7FF"/>
                </a:solidFill>
                <a:latin typeface="Helvetica Neue"/>
                <a:ea typeface="Helvetica Neue"/>
                <a:cs typeface="Helvetica Neue"/>
              </a:rPr>
              <a:t>01</a:t>
            </a:r>
          </a:p>
        </p:txBody>
      </p:sp>
      <p:sp>
        <p:nvSpPr>
          <p:cNvPr id="10" name="">
            <a:extLst xmlns:a="http://schemas.openxmlformats.org/drawingml/2006/main">
              <a:ext uri="{FF2B5EF4-FFF2-40B4-BE49-F238E27FC236}">
                <a16:creationId xmlns:a16="http://schemas.microsoft.com/office/drawing/2014/main" id="{F0BABBAC-7233-46B0-8D59-52B08A469B49}"/>
              </a:ext>
            </a:extLst>
          </p:cNvPr>
          <p:cNvSpPr>
            <a:spLocks xmlns:a="http://schemas.openxmlformats.org/drawingml/2006/main" noGrp="1"/>
          </p:cNvSpPr>
          <p:nvPr/>
        </p:nvSpPr>
        <p:spPr>
          <a:xfrm xmlns:a="http://schemas.openxmlformats.org/drawingml/2006/main">
            <a:off x="7143750" y="1733550"/>
            <a:ext cx="3714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778"/>
          </a:bodyPr>
          <a:lstStyle xmlns:a="http://schemas.openxmlformats.org/drawingml/2006/main"/>
          <a:p xmlns:a="http://schemas.openxmlformats.org/drawingml/2006/main">
            <a:pPr algn="l">
              <a:defRPr sz="1800" b="1">
                <a:solidFill>
                  <a:srgbClr val="F4F7FB"/>
                </a:solidFill>
                <a:latin typeface="Helvetica Neue"/>
                <a:ea typeface="Helvetica Neue"/>
                <a:cs typeface="Helvetica Neue"/>
              </a:defRPr>
            </a:pPr>
            <a:r>
              <a:rPr sz="1800" b="1">
                <a:solidFill>
                  <a:srgbClr val="F4F7FB"/>
                </a:solidFill>
                <a:latin typeface="Helvetica Neue"/>
                <a:ea typeface="Helvetica Neue"/>
                <a:cs typeface="Helvetica Neue"/>
              </a:rPr>
              <a:t>Nhập review mới</a:t>
            </a:r>
          </a:p>
        </p:txBody>
      </p:sp>
      <p:sp>
        <p:nvSpPr>
          <p:cNvPr id="11" name="">
            <a:extLst xmlns:a="http://schemas.openxmlformats.org/drawingml/2006/main">
              <a:ext uri="{FF2B5EF4-FFF2-40B4-BE49-F238E27FC236}">
                <a16:creationId xmlns:a16="http://schemas.microsoft.com/office/drawing/2014/main" id="{1F150731-FD58-4262-9514-CFB1F824DBB8}"/>
              </a:ext>
            </a:extLst>
          </p:cNvPr>
          <p:cNvSpPr>
            <a:spLocks xmlns:a="http://schemas.openxmlformats.org/drawingml/2006/main" noGrp="1"/>
          </p:cNvSpPr>
          <p:nvPr/>
        </p:nvSpPr>
        <p:spPr>
          <a:xfrm xmlns:a="http://schemas.openxmlformats.org/drawingml/2006/main">
            <a:off x="7143750" y="2095500"/>
            <a:ext cx="3905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8148"/>
          </a:bodyPr>
          <a:lstStyle xmlns:a="http://schemas.openxmlformats.org/drawingml/2006/main"/>
          <a:p xmlns:a="http://schemas.openxmlformats.org/drawingml/2006/main">
            <a:pPr algn="l">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Sử dụng một câu tiếng Việt chưa có trong dữ liệu huấn luyện</a:t>
            </a:r>
          </a:p>
        </p:txBody>
      </p:sp>
      <p:sp>
        <p:nvSpPr>
          <p:cNvPr id="12" name="">
            <a:extLst xmlns:a="http://schemas.openxmlformats.org/drawingml/2006/main">
              <a:ext uri="{FF2B5EF4-FFF2-40B4-BE49-F238E27FC236}">
                <a16:creationId xmlns:a16="http://schemas.microsoft.com/office/drawing/2014/main" id="{EB2080AB-3FF7-45CB-80A4-13C5EEFD9F50}"/>
              </a:ext>
            </a:extLst>
          </p:cNvPr>
          <p:cNvSpPr>
            <a:spLocks xmlns:a="http://schemas.openxmlformats.org/drawingml/2006/main" noGrp="1"/>
          </p:cNvSpPr>
          <p:nvPr/>
        </p:nvSpPr>
        <p:spPr>
          <a:xfrm xmlns:a="http://schemas.openxmlformats.org/drawingml/2006/main">
            <a:off x="6334125" y="2952750"/>
            <a:ext cx="666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667"/>
          </a:bodyPr>
          <a:lstStyle xmlns:a="http://schemas.openxmlformats.org/drawingml/2006/main"/>
          <a:p xmlns:a="http://schemas.openxmlformats.org/drawingml/2006/main">
            <a:pPr algn="l">
              <a:defRPr sz="1800" b="1">
                <a:solidFill>
                  <a:srgbClr val="45D9A0"/>
                </a:solidFill>
                <a:latin typeface="Helvetica Neue"/>
                <a:ea typeface="Helvetica Neue"/>
                <a:cs typeface="Helvetica Neue"/>
              </a:defRPr>
            </a:pPr>
            <a:r>
              <a:rPr sz="1800" b="1">
                <a:solidFill>
                  <a:srgbClr val="45D9A0"/>
                </a:solidFill>
                <a:latin typeface="Helvetica Neue"/>
                <a:ea typeface="Helvetica Neue"/>
                <a:cs typeface="Helvetica Neue"/>
              </a:rPr>
              <a:t>02</a:t>
            </a:r>
          </a:p>
        </p:txBody>
      </p:sp>
      <p:sp>
        <p:nvSpPr>
          <p:cNvPr id="13" name="">
            <a:extLst xmlns:a="http://schemas.openxmlformats.org/drawingml/2006/main">
              <a:ext uri="{FF2B5EF4-FFF2-40B4-BE49-F238E27FC236}">
                <a16:creationId xmlns:a16="http://schemas.microsoft.com/office/drawing/2014/main" id="{69B50FE4-56CE-48BB-973F-FA7526673443}"/>
              </a:ext>
            </a:extLst>
          </p:cNvPr>
          <p:cNvSpPr>
            <a:spLocks xmlns:a="http://schemas.openxmlformats.org/drawingml/2006/main" noGrp="1"/>
          </p:cNvSpPr>
          <p:nvPr/>
        </p:nvSpPr>
        <p:spPr>
          <a:xfrm xmlns:a="http://schemas.openxmlformats.org/drawingml/2006/main">
            <a:off x="7143750" y="2952750"/>
            <a:ext cx="3714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778"/>
          </a:bodyPr>
          <a:lstStyle xmlns:a="http://schemas.openxmlformats.org/drawingml/2006/main"/>
          <a:p xmlns:a="http://schemas.openxmlformats.org/drawingml/2006/main">
            <a:pPr algn="l">
              <a:defRPr sz="1800" b="1">
                <a:solidFill>
                  <a:srgbClr val="F4F7FB"/>
                </a:solidFill>
                <a:latin typeface="Helvetica Neue"/>
                <a:ea typeface="Helvetica Neue"/>
                <a:cs typeface="Helvetica Neue"/>
              </a:defRPr>
            </a:pPr>
            <a:r>
              <a:rPr sz="1800" b="1">
                <a:solidFill>
                  <a:srgbClr val="F4F7FB"/>
                </a:solidFill>
                <a:latin typeface="Helvetica Neue"/>
                <a:ea typeface="Helvetica Neue"/>
                <a:cs typeface="Helvetica Neue"/>
              </a:rPr>
              <a:t>Quan sát dự đoán</a:t>
            </a:r>
          </a:p>
        </p:txBody>
      </p:sp>
      <p:sp>
        <p:nvSpPr>
          <p:cNvPr id="14" name="">
            <a:extLst xmlns:a="http://schemas.openxmlformats.org/drawingml/2006/main">
              <a:ext uri="{FF2B5EF4-FFF2-40B4-BE49-F238E27FC236}">
                <a16:creationId xmlns:a16="http://schemas.microsoft.com/office/drawing/2014/main" id="{8634915B-2043-4A6B-A37E-E68D41D84F7D}"/>
              </a:ext>
            </a:extLst>
          </p:cNvPr>
          <p:cNvSpPr>
            <a:spLocks xmlns:a="http://schemas.openxmlformats.org/drawingml/2006/main" noGrp="1"/>
          </p:cNvSpPr>
          <p:nvPr/>
        </p:nvSpPr>
        <p:spPr>
          <a:xfrm xmlns:a="http://schemas.openxmlformats.org/drawingml/2006/main">
            <a:off x="7143750" y="3314700"/>
            <a:ext cx="3905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Đọc nhãn cảm xúc và xác suất của ba lớp</a:t>
            </a:r>
          </a:p>
        </p:txBody>
      </p:sp>
      <p:sp>
        <p:nvSpPr>
          <p:cNvPr id="15" name="">
            <a:extLst xmlns:a="http://schemas.openxmlformats.org/drawingml/2006/main">
              <a:ext uri="{FF2B5EF4-FFF2-40B4-BE49-F238E27FC236}">
                <a16:creationId xmlns:a16="http://schemas.microsoft.com/office/drawing/2014/main" id="{7890A6AE-665C-4996-9E6F-2CE12D8D82E9}"/>
              </a:ext>
            </a:extLst>
          </p:cNvPr>
          <p:cNvSpPr>
            <a:spLocks xmlns:a="http://schemas.openxmlformats.org/drawingml/2006/main" noGrp="1"/>
          </p:cNvSpPr>
          <p:nvPr/>
        </p:nvSpPr>
        <p:spPr>
          <a:xfrm xmlns:a="http://schemas.openxmlformats.org/drawingml/2006/main">
            <a:off x="6334125" y="4171950"/>
            <a:ext cx="666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667"/>
          </a:bodyPr>
          <a:lstStyle xmlns:a="http://schemas.openxmlformats.org/drawingml/2006/main"/>
          <a:p xmlns:a="http://schemas.openxmlformats.org/drawingml/2006/main">
            <a:pPr algn="l">
              <a:defRPr sz="1800" b="1">
                <a:solidFill>
                  <a:srgbClr val="F4D35E"/>
                </a:solidFill>
                <a:latin typeface="Helvetica Neue"/>
                <a:ea typeface="Helvetica Neue"/>
                <a:cs typeface="Helvetica Neue"/>
              </a:defRPr>
            </a:pPr>
            <a:r>
              <a:rPr sz="1800" b="1">
                <a:solidFill>
                  <a:srgbClr val="F4D35E"/>
                </a:solidFill>
                <a:latin typeface="Helvetica Neue"/>
                <a:ea typeface="Helvetica Neue"/>
                <a:cs typeface="Helvetica Neue"/>
              </a:rPr>
              <a:t>03</a:t>
            </a:r>
          </a:p>
        </p:txBody>
      </p:sp>
      <p:sp>
        <p:nvSpPr>
          <p:cNvPr id="16" name="">
            <a:extLst xmlns:a="http://schemas.openxmlformats.org/drawingml/2006/main">
              <a:ext uri="{FF2B5EF4-FFF2-40B4-BE49-F238E27FC236}">
                <a16:creationId xmlns:a16="http://schemas.microsoft.com/office/drawing/2014/main" id="{809D6831-FB8F-4192-A7A4-1BF9BD30C27F}"/>
              </a:ext>
            </a:extLst>
          </p:cNvPr>
          <p:cNvSpPr>
            <a:spLocks xmlns:a="http://schemas.openxmlformats.org/drawingml/2006/main" noGrp="1"/>
          </p:cNvSpPr>
          <p:nvPr/>
        </p:nvSpPr>
        <p:spPr>
          <a:xfrm xmlns:a="http://schemas.openxmlformats.org/drawingml/2006/main">
            <a:off x="7143750" y="4171950"/>
            <a:ext cx="3714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778"/>
          </a:bodyPr>
          <a:lstStyle xmlns:a="http://schemas.openxmlformats.org/drawingml/2006/main"/>
          <a:p xmlns:a="http://schemas.openxmlformats.org/drawingml/2006/main">
            <a:pPr algn="l">
              <a:defRPr sz="1800" b="1">
                <a:solidFill>
                  <a:srgbClr val="F4F7FB"/>
                </a:solidFill>
                <a:latin typeface="Helvetica Neue"/>
                <a:ea typeface="Helvetica Neue"/>
                <a:cs typeface="Helvetica Neue"/>
              </a:defRPr>
            </a:pPr>
            <a:r>
              <a:rPr sz="1800" b="1">
                <a:solidFill>
                  <a:srgbClr val="F4F7FB"/>
                </a:solidFill>
                <a:latin typeface="Helvetica Neue"/>
                <a:ea typeface="Helvetica Neue"/>
                <a:cs typeface="Helvetica Neue"/>
              </a:rPr>
              <a:t>Kiểm tra đầu vào</a:t>
            </a:r>
          </a:p>
        </p:txBody>
      </p:sp>
      <p:sp>
        <p:nvSpPr>
          <p:cNvPr id="17" name="">
            <a:extLst xmlns:a="http://schemas.openxmlformats.org/drawingml/2006/main">
              <a:ext uri="{FF2B5EF4-FFF2-40B4-BE49-F238E27FC236}">
                <a16:creationId xmlns:a16="http://schemas.microsoft.com/office/drawing/2014/main" id="{15C04EAE-75CF-493F-B11A-2FDE4FE34CA9}"/>
              </a:ext>
            </a:extLst>
          </p:cNvPr>
          <p:cNvSpPr>
            <a:spLocks xmlns:a="http://schemas.openxmlformats.org/drawingml/2006/main" noGrp="1"/>
          </p:cNvSpPr>
          <p:nvPr/>
        </p:nvSpPr>
        <p:spPr>
          <a:xfrm xmlns:a="http://schemas.openxmlformats.org/drawingml/2006/main">
            <a:off x="7143750" y="4533900"/>
            <a:ext cx="3905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8148"/>
          </a:bodyPr>
          <a:lstStyle xmlns:a="http://schemas.openxmlformats.org/drawingml/2006/main"/>
          <a:p xmlns:a="http://schemas.openxmlformats.org/drawingml/2006/main">
            <a:pPr algn="l">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Xem văn bản sau tiền xử lý và các token TF-IDF nổi bật</a:t>
            </a:r>
          </a:p>
        </p:txBody>
      </p:sp>
      <p:sp>
        <p:nvSpPr>
          <p:cNvPr id="18" name="">
            <a:extLst xmlns:a="http://schemas.openxmlformats.org/drawingml/2006/main">
              <a:ext uri="{FF2B5EF4-FFF2-40B4-BE49-F238E27FC236}">
                <a16:creationId xmlns:a16="http://schemas.microsoft.com/office/drawing/2014/main" id="{3DCF2161-5E9B-4CAA-B2E3-ADACB66E26CC}"/>
              </a:ext>
            </a:extLst>
          </p:cNvPr>
          <p:cNvSpPr>
            <a:spLocks xmlns:a="http://schemas.openxmlformats.org/drawingml/2006/main" noGrp="1"/>
          </p:cNvSpPr>
          <p:nvPr/>
        </p:nvSpPr>
        <p:spPr>
          <a:xfrm xmlns:a="http://schemas.openxmlformats.org/drawingml/2006/main">
            <a:off x="704850" y="5905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500" b="0">
                <a:solidFill>
                  <a:srgbClr val="45D9A0"/>
                </a:solidFill>
                <a:latin typeface="Helvetica Neue"/>
                <a:ea typeface="Helvetica Neue"/>
                <a:cs typeface="Helvetica Neue"/>
              </a:defRPr>
            </a:pPr>
            <a:r>
              <a:rPr sz="1500" b="0">
                <a:solidFill>
                  <a:srgbClr val="45D9A0"/>
                </a:solidFill>
                <a:latin typeface="Helvetica Neue"/>
                <a:ea typeface="Helvetica Neue"/>
                <a:cs typeface="Helvetica Neue"/>
              </a:rPr>
              <a:t>Sau trang này, nhóm chuyển sang ứng dụng Streamlit để thao tác trực tiếp.</a:t>
            </a:r>
          </a:p>
        </p:txBody>
      </p:sp>
    </p:spTree>
    <p:extLst>
      <p:ext uri="{BB962C8B-B14F-4D97-AF65-F5344CB8AC3E}">
        <p14:creationId xmlns:p14="http://schemas.microsoft.com/office/powerpoint/2010/main" val="24239035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2026-09-21T16:48:13.7430000Z</dcterms:created>
  <dcterms:modified xsi:type="dcterms:W3CDTF">2026-09-21T16:48:13.7430000Z</dcterms:modified>
</coreProperties>
</file>